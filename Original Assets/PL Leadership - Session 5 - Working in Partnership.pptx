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omments/modernComment_346_3E00D4D8.xml" ContentType="application/vnd.ms-powerpoint.comments+xml"/>
  <Override PartName="/ppt/comments/modernComment_34C_A86DA66C.xml" ContentType="application/vnd.ms-powerpoint.comments+xml"/>
  <Override PartName="/ppt/media/image2.svg" ContentType="image/svg+xml"/>
  <Override PartName="/ppt/media/image4.svg" ContentType="image/svg+xml"/>
  <Override PartName="/ppt/media/image6.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2"/>
  </p:notesMasterIdLst>
  <p:sldIdLst>
    <p:sldId id="825" r:id="rId5"/>
    <p:sldId id="838" r:id="rId6"/>
    <p:sldId id="837" r:id="rId7"/>
    <p:sldId id="844" r:id="rId8"/>
    <p:sldId id="855" r:id="rId29"/>
    <p:sldId id="856" r:id="rId30"/>
    <p:sldId id="267" r:id="rId9"/>
    <p:sldId id="849" r:id="rId10"/>
    <p:sldId id="845" r:id="rId11"/>
    <p:sldId id="846" r:id="rId12"/>
    <p:sldId id="842" r:id="rId13"/>
    <p:sldId id="850" r:id="rId14"/>
    <p:sldId id="851" r:id="rId15"/>
    <p:sldId id="852" r:id="rId16"/>
    <p:sldId id="853" r:id="rId17"/>
    <p:sldId id="572" r:id="rId18"/>
    <p:sldId id="847" r:id="rId19"/>
    <p:sldId id="358" r:id="rId20"/>
    <p:sldId id="854"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4DEC358-9AF5-9F80-E7CA-D932E5596AC8}" name="Alison Macrae" initials="AM" userId="S::amacrae@autismspectrum.org.au::6553da1e-2f05-4f27-a7df-76a06554bf9d" providerId="AD"/>
  <p188:author id="{7C3F8D6F-1DEE-6615-6CEF-2DFCB510BACA}" name="Nicole Torres" initials="NT" userId="S::ntorres@autismcrc.com.au::0026055d-e81a-4ac9-a7f9-7ac97c409d29"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97"/>
    <p:restoredTop sz="94678"/>
  </p:normalViewPr>
  <p:slideViewPr>
    <p:cSldViewPr snapToGrid="0">
      <p:cViewPr varScale="1">
        <p:scale>
          <a:sx n="117" d="100"/>
          <a:sy n="117" d="100"/>
        </p:scale>
        <p:origin x="48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microsoft.com/office/2016/11/relationships/changesInfo" Target="changesInfos/changesInfo1.xml"/><Relationship Id="rId28" Type="http://schemas.microsoft.com/office/2018/10/relationships/authors" Target="authors.xml"/><Relationship Id="rId29" Type="http://schemas.openxmlformats.org/officeDocument/2006/relationships/slide" Target="slides/slide5.xml"/><Relationship Id="rId30"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n Cousins" userId="S::jcousins@autismspectrum.org.au::e5107725-ce0a-4006-bfb3-3787c68d621c" providerId="AD" clId="Web-{00000000-0000-0000-0000-000000000000}"/>
    <pc:docChg chg="modSld">
      <pc:chgData name="Jen Cousins" userId="S::jcousins@autismspectrum.org.au::e5107725-ce0a-4006-bfb3-3787c68d621c" providerId="AD" clId="Web-{00000000-0000-0000-0000-000000000000}" dt="2026-08-25T01:14:04.942" v="11" actId="1076"/>
      <pc:docMkLst>
        <pc:docMk/>
      </pc:docMkLst>
      <pc:sldChg chg="addSp delSp modSp">
        <pc:chgData name="Jen Cousins" userId="S::jcousins@autismspectrum.org.au::e5107725-ce0a-4006-bfb3-3787c68d621c" providerId="AD" clId="Web-{00000000-0000-0000-0000-000000000000}" dt="2026-08-25T01:14:04.942" v="11" actId="1076"/>
        <pc:sldMkLst>
          <pc:docMk/>
          <pc:sldMk cId="3674033657" sldId="847"/>
        </pc:sldMkLst>
        <pc:spChg chg="mod">
          <ac:chgData name="Jen Cousins" userId="S::jcousins@autismspectrum.org.au::e5107725-ce0a-4006-bfb3-3787c68d621c" providerId="AD" clId="Web-{00000000-0000-0000-0000-000000000000}" dt="2026-08-25T01:14:04.942" v="11" actId="1076"/>
          <ac:spMkLst>
            <pc:docMk/>
            <pc:sldMk cId="3674033657" sldId="847"/>
            <ac:spMk id="2" creationId="{6BFC9AB3-31EC-27A9-8206-7C0BE658E8B7}"/>
          </ac:spMkLst>
        </pc:spChg>
        <pc:picChg chg="add mod ord">
          <ac:chgData name="Jen Cousins" userId="S::jcousins@autismspectrum.org.au::e5107725-ce0a-4006-bfb3-3787c68d621c" providerId="AD" clId="Web-{00000000-0000-0000-0000-000000000000}" dt="2026-08-25T01:13:48.894" v="9"/>
          <ac:picMkLst>
            <pc:docMk/>
            <pc:sldMk cId="3674033657" sldId="847"/>
            <ac:picMk id="4" creationId="{A5C575AF-C7D4-085E-94F7-3A72A52D6DAC}"/>
          </ac:picMkLst>
        </pc:picChg>
        <pc:picChg chg="add mod">
          <ac:chgData name="Jen Cousins" userId="S::jcousins@autismspectrum.org.au::e5107725-ce0a-4006-bfb3-3787c68d621c" providerId="AD" clId="Web-{00000000-0000-0000-0000-000000000000}" dt="2026-08-25T01:13:54.207" v="10"/>
          <ac:picMkLst>
            <pc:docMk/>
            <pc:sldMk cId="3674033657" sldId="847"/>
            <ac:picMk id="5" creationId="{C27A36B8-FF2A-0D74-971A-0E4E85BADCA9}"/>
          </ac:picMkLst>
        </pc:picChg>
      </pc:sldChg>
    </pc:docChg>
  </pc:docChgLst>
</pc:chgInfo>
</file>

<file path=ppt/comments/modernComment_34C_A86DA66C.xml><?xml version="1.0" encoding="utf-8"?>
<p188:cmLst xmlns:a="http://schemas.openxmlformats.org/drawingml/2006/main" xmlns:r="http://schemas.openxmlformats.org/officeDocument/2006/relationships" xmlns:p188="http://schemas.microsoft.com/office/powerpoint/2018/8/main">
  <p188:cm id="{C807BA1F-ACAC-4181-AB02-C252BC20F6B1}" authorId="{94DEC358-9AF5-9F80-E7CA-D932E5596AC8}" created="2026-08-14T00:28:52.242">
    <ac:txMkLst xmlns:ac="http://schemas.microsoft.com/office/drawing/2013/main/command">
      <pc:docMk xmlns:pc="http://schemas.microsoft.com/office/powerpoint/2013/main/command"/>
      <pc:sldMk xmlns:pc="http://schemas.microsoft.com/office/powerpoint/2013/main/command" cId="2825758316" sldId="844"/>
      <ac:spMk id="4" creationId="{E3FD5D71-F8F8-00AA-C427-EBCCF0660E1C}"/>
      <ac:txMk cp="125" len="18">
        <ac:context len="144" hash="841651859"/>
      </ac:txMk>
    </ac:txMkLst>
    <p188:pos x="2824455" y="3280648"/>
    <p188:txBody>
      <a:bodyPr/>
      <a:lstStyle/>
      <a:p>
        <a:r>
          <a:rPr lang="en-AU"/>
          <a:t>Added this one in as it lands well with all parties and shifts perpectives</a:t>
        </a:r>
      </a:p>
    </p188:txBody>
  </p188:cm>
</p188:cmLst>
</file>

<file path=ppt/comments/modernComment_346_3E00D4D8.xml><?xml version="1.0" encoding="utf-8"?>
<p188:cmLst xmlns:a="http://schemas.openxmlformats.org/drawingml/2006/main" xmlns:r="http://schemas.openxmlformats.org/officeDocument/2006/relationships" xmlns:p188="http://schemas.microsoft.com/office/powerpoint/2018/8/main">
  <p188:cm id="{9A2E3823-3A5D-4D7E-8175-8FFB0A015633}" authorId="{94DEC358-9AF5-9F80-E7CA-D932E5596AC8}" created="2026-08-14T00:36:04.317">
    <ac:txMkLst xmlns:ac="http://schemas.microsoft.com/office/drawing/2013/main/command">
      <pc:docMk xmlns:pc="http://schemas.microsoft.com/office/powerpoint/2013/main/command"/>
      <pc:sldMk xmlns:pc="http://schemas.microsoft.com/office/powerpoint/2013/main/command" cId="1040241880" sldId="838"/>
      <ac:spMk id="5" creationId="{05A4E05F-DA50-6B99-BED1-648587EBB414}"/>
      <ac:txMk cp="0" len="23">
        <ac:context len="24" hash="2699318344"/>
      </ac:txMk>
    </ac:txMkLst>
    <p188:pos x="5065408" y="428754"/>
    <p188:txBody>
      <a:bodyPr/>
      <a:lstStyle/>
      <a:p>
        <a:r>
          <a:rPr lang="en-AU"/>
          <a:t>As this session time is so limited we discussed that we could use it as an opportunity to see where all the partnerships converge and what skills are needed for success across all partnerships.</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0717EB-867A-43D8-909C-6209D0EC13B1}" type="datetimeFigureOut">
              <a:rPr lang="en-AU" smtClean="0"/>
              <a:t>25/9/2026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787F1C-BD57-478D-B104-476A213D31F6}" type="slidenum">
              <a:rPr lang="en-AU" smtClean="0"/>
              <a:t>‹#›</a:t>
            </a:fld>
            <a:endParaRPr lang="en-AU"/>
          </a:p>
        </p:txBody>
      </p:sp>
    </p:spTree>
    <p:extLst>
      <p:ext uri="{BB962C8B-B14F-4D97-AF65-F5344CB8AC3E}">
        <p14:creationId xmlns:p14="http://schemas.microsoft.com/office/powerpoint/2010/main" val="3948694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415D5-975D-AAB4-61E3-8C9E34FEE4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064F2A-E44E-4565-7BE3-523A659D3380}"/>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780E6984-A62A-9228-E4A6-3370605E1658}"/>
              </a:ext>
            </a:extLst>
          </p:cNvPr>
          <p:cNvSpPr>
            <a:spLocks noGrp="1"/>
          </p:cNvSpPr>
          <p:nvPr>
            <p:ph type="body" idx="1"/>
          </p:nvPr>
        </p:nvSpPr>
        <p:spPr/>
        <p:txBody>
          <a:bodyPr/>
          <a:lstStyle/>
          <a:p>
            <a:r>
              <a:t>SUGGESTED TIME: 1 min  ·  2:15 - 2:16</a:t>
            </a:r>
          </a:p>
          <a:p/>
          <a:p>
            <a:r>
              <a:t>PURPOSE</a:t>
            </a:r>
          </a:p>
          <a:p>
            <a:r>
              <a:t>Open the partnership session and connect it to the school-level design work.</a:t>
            </a:r>
          </a:p>
          <a:p/>
          <a:p>
            <a:r>
              <a:t>WHAT TO DO</a:t>
            </a:r>
          </a:p>
          <a:p>
            <a:r>
              <a:t>1. Name the shift from what the school can redesign to how home and school can understand and act together.</a:t>
            </a:r>
          </a:p>
          <a:p>
            <a:r>
              <a:t>2. Explain that leaders shape the routines in which contact, meetings, decisions and follow-up happen.</a:t>
            </a:r>
          </a:p>
          <a:p>
            <a:r>
              <a:t>3. Pick up the "I will share it with" line participants wrote on their Session 4 'My students' card, and the executive colleague they named on their Commit.</a:t>
            </a:r>
          </a:p>
          <a:p>
            <a:r>
              <a:t>4. Keep the student at the centre of the conversation.</a:t>
            </a:r>
          </a:p>
          <a:p>
            <a:r>
              <a:t>5. Acknowledge that participants may bring both productive and difficult partnership experiences, with families and within their own teams.</a:t>
            </a:r>
          </a:p>
          <a:p>
            <a:r>
              <a:t>6. Remind the room that sharing is voluntary and examples stay anonymised (initials or roles only).</a:t>
            </a:r>
          </a:p>
          <a:p/>
          <a:p>
            <a:r>
              <a:t>KEY MESSAGES</a:t>
            </a:r>
          </a:p>
          <a:p>
            <a:r>
              <a:t>• Partnership is part of understanding and support, not an additional task after decisions are made.</a:t>
            </a:r>
          </a:p>
          <a:p>
            <a:r>
              <a:t>• The student, family and school may each hold different parts of the picture.</a:t>
            </a:r>
          </a:p>
          <a:p>
            <a:r>
              <a:t>• Leaders set up the conditions in which partnership conversations happen.</a:t>
            </a:r>
          </a:p>
          <a:p/>
          <a:p>
            <a:r>
              <a:t>THREAD</a:t>
            </a:r>
          </a:p>
          <a:p>
            <a:r>
              <a:t>Picks up the Session 4 'My students' card ("I will share it with") and the Commit table ("Who on my executive I will share it with"), Participant Guide p. 21.</a:t>
            </a:r>
          </a:p>
        </p:txBody>
      </p:sp>
    </p:spTree>
    <p:extLst>
      <p:ext uri="{BB962C8B-B14F-4D97-AF65-F5344CB8AC3E}">
        <p14:creationId xmlns:p14="http://schemas.microsoft.com/office/powerpoint/2010/main" val="23527188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A0514-B7A9-244F-E9C3-6641E7CE1C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9229B0-DEB4-33F4-23E2-C94EB8AF4F36}"/>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624A3766-8288-AB86-A0F3-6B3E19660DC1}"/>
              </a:ext>
            </a:extLst>
          </p:cNvPr>
          <p:cNvSpPr>
            <a:spLocks noGrp="1"/>
          </p:cNvSpPr>
          <p:nvPr>
            <p:ph type="body" idx="1"/>
          </p:nvPr>
        </p:nvSpPr>
        <p:spPr/>
        <p:txBody>
          <a:bodyPr/>
          <a:lstStyle/>
          <a:p>
            <a:r>
              <a:t>SUGGESTED TIME: 3 min  ·  2:16 - 2:19  ·  Participant Guide p.22 - Session 5 summary</a:t>
            </a:r>
          </a:p>
          <a:p/>
          <a:p>
            <a:r>
              <a:t>PURPOSE</a:t>
            </a:r>
          </a:p>
          <a:p>
            <a:r>
              <a:t>Show where the partnerships around a student intersect, with the student at the centre of every one.</a:t>
            </a:r>
          </a:p>
          <a:p/>
          <a:p>
            <a:r>
              <a:t>WHAT TO DO</a:t>
            </a:r>
          </a:p>
          <a:p>
            <a:r>
              <a:t>1. Introduce the Venn: family, school staff and paraprofessionals, with the student at the centre.</a:t>
            </a:r>
          </a:p>
          <a:p>
            <a:r>
              <a:t>2. Explain that every partner brings unique knowledge, expertise and perspectives, and a different relationship with the student and with each other.</a:t>
            </a:r>
          </a:p>
          <a:p>
            <a:r>
              <a:t>3. Ask the group: What is the goal of these intersecting partnerships?</a:t>
            </a:r>
          </a:p>
          <a:p>
            <a:r>
              <a:t>4. Steer the discussion so the point is made that the student is at the centre of all partnerships.</a:t>
            </a:r>
          </a:p>
          <a:p>
            <a:r>
              <a:t>5. Link back where relevant: Autistic flourishing (Session 2), Autistic experience at school (Session 3), learning design and the continuum of support (Session 4).</a:t>
            </a:r>
          </a:p>
          <a:p>
            <a:r>
              <a:t>6. Ask who is missing from the picture and how the student's communication can be included.</a:t>
            </a:r>
          </a:p>
          <a:p>
            <a:r>
              <a:t>7. Ask leaders where their school's processes bring these partners together, and where their knowledge stays separate.</a:t>
            </a:r>
          </a:p>
          <a:p>
            <a:r>
              <a:t>8. Point participants to Where partnerships converge in the Participant Guide (p. 22).</a:t>
            </a:r>
          </a:p>
          <a:p/>
          <a:p>
            <a:r>
              <a:t>YOU MIGHT SAY</a:t>
            </a:r>
          </a:p>
          <a:p>
            <a:r>
              <a:t>What is the goal of these intersecting partnerships?</a:t>
            </a:r>
          </a:p>
          <a:p/>
          <a:p>
            <a:r>
              <a:t>KEY MESSAGES</a:t>
            </a:r>
          </a:p>
          <a:p>
            <a:r>
              <a:t>• Positive partnership keeps the student at the centre.</a:t>
            </a:r>
          </a:p>
          <a:p>
            <a:r>
              <a:t>• No single person holds the complete picture.</a:t>
            </a:r>
          </a:p>
          <a:p>
            <a:r>
              <a:t>• Every partner brings different knowledge and a different relationship with the student.</a:t>
            </a:r>
          </a:p>
          <a:p/>
          <a:p>
            <a:r>
              <a:t>KEEP IN MIND</a:t>
            </a:r>
          </a:p>
          <a:p>
            <a:r>
              <a:t>• Use the elements as discussion prompts rather than a complete definition.</a:t>
            </a:r>
          </a:p>
          <a:p/>
          <a:p>
            <a:r>
              <a:t>BACKGROUND</a:t>
            </a:r>
          </a:p>
          <a:p>
            <a:r>
              <a:t>With session time limited, this slide is a chance to see where all the partnerships converge and what is needed for success across all of them.</a:t>
            </a:r>
          </a:p>
          <a:p/>
          <a:p>
            <a:r>
              <a:t>THREAD</a:t>
            </a:r>
          </a:p>
          <a:p>
            <a:r>
              <a:t>Draws on Autistic flourishing (Session 2), Autistic experience at school (Session 3) and the Session 4 school change and continuum of support.</a:t>
            </a:r>
          </a:p>
        </p:txBody>
      </p:sp>
    </p:spTree>
    <p:extLst>
      <p:ext uri="{BB962C8B-B14F-4D97-AF65-F5344CB8AC3E}">
        <p14:creationId xmlns:p14="http://schemas.microsoft.com/office/powerpoint/2010/main" val="35603567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CE5DD-51EB-13D7-5DF1-F889E88BD4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874F24-86BD-4576-581B-BC41153FEE97}"/>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D643188E-3CDD-D9D9-6BC4-F2EC317559F4}"/>
              </a:ext>
            </a:extLst>
          </p:cNvPr>
          <p:cNvSpPr>
            <a:spLocks noGrp="1"/>
          </p:cNvSpPr>
          <p:nvPr>
            <p:ph type="body" idx="1"/>
          </p:nvPr>
        </p:nvSpPr>
        <p:spPr/>
        <p:txBody>
          <a:bodyPr/>
          <a:lstStyle/>
          <a:p>
            <a:r>
              <a:t>SUGGESTED TIME: 2 min  ·  2:19 - 2:21</a:t>
            </a:r>
          </a:p>
          <a:p/>
          <a:p>
            <a:r>
              <a:t>PURPOSE</a:t>
            </a:r>
          </a:p>
          <a:p>
            <a:r>
              <a:t>Make positive partnership concrete in school practice using the Family-School Partnerships Framework principles.</a:t>
            </a:r>
          </a:p>
          <a:p/>
          <a:p>
            <a:r>
              <a:t>WHAT TO DO</a:t>
            </a:r>
          </a:p>
          <a:p>
            <a:r>
              <a:t>1. Walk through the six Framework principles briefly.</a:t>
            </a:r>
          </a:p>
          <a:p>
            <a:r>
              <a:t>2. Draw attention to the last principle: partnerships need committed, collaborative and creative leadership.</a:t>
            </a:r>
          </a:p>
          <a:p>
            <a:r>
              <a:t>3. Position family knowledge and school knowledge as different, useful perspectives.</a:t>
            </a:r>
          </a:p>
          <a:p>
            <a:r>
              <a:t>4. Name what makes partnership visible in practice: a shared purpose, respectful listening, student voice and communication, clear accessible information, and agreed next steps, responsibilities and follow-up.</a:t>
            </a:r>
          </a:p>
          <a:p/>
          <a:p>
            <a:r>
              <a:t>KEY MESSAGES</a:t>
            </a:r>
          </a:p>
          <a:p>
            <a:r>
              <a:t>• The student, family and school may each see different parts of experience. Partnership helps these perspectives inform understanding, design, action and review from the beginning.</a:t>
            </a:r>
          </a:p>
          <a:p>
            <a:r>
              <a:t>• Listening, clarity and shared next steps can be observed in practice.</a:t>
            </a:r>
          </a:p>
          <a:p/>
          <a:p>
            <a:r>
              <a:t>KEEP IN MIND</a:t>
            </a:r>
          </a:p>
          <a:p>
            <a:r>
              <a:t>• Avoid implying that agreement is required before listening or respect are possible.</a:t>
            </a:r>
          </a:p>
          <a:p/>
          <a:p>
            <a:r>
              <a:t>RESOURCES</a:t>
            </a:r>
          </a:p>
          <a:p>
            <a:r>
              <a:t>Family-School Partnerships Framework - Department of Education, Australian Government - https://www.education.gov.au/supporting-family-school-community-partnerships-learning/family-school-partnerships/family-school-partnerships-framework</a:t>
            </a:r>
          </a:p>
        </p:txBody>
      </p:sp>
    </p:spTree>
    <p:extLst>
      <p:ext uri="{BB962C8B-B14F-4D97-AF65-F5344CB8AC3E}">
        <p14:creationId xmlns:p14="http://schemas.microsoft.com/office/powerpoint/2010/main" val="7711319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t>SUGGESTED TIME: 3 min  ·  2:21 - 2:24</a:t>
            </a:r>
          </a:p>
          <a:p/>
          <a:p>
            <a:r>
              <a:t>PURPOSE</a:t>
            </a:r>
          </a:p>
          <a:p>
            <a:r>
              <a:t>Name the collaboration principles that strong partnerships share, whoever is at the table.</a:t>
            </a:r>
          </a:p>
          <a:p/>
          <a:p>
            <a:r>
              <a:t>WHAT TO DO</a:t>
            </a:r>
          </a:p>
          <a:p>
            <a:r>
              <a:t>1. Introduce the importance of collaboration: for Autistic students there are multiple collaboration points across multiple partnerships.</a:t>
            </a:r>
          </a:p>
          <a:p>
            <a:r>
              <a:t>2. Explain that the key collaboration skills are the same across all groups, and are vital for strong partnerships. They apply to leaders working with staff as well as with families.</a:t>
            </a:r>
          </a:p>
          <a:p>
            <a:r>
              <a:t>3. Ask the group: What are some of the key principles for effective collaboration to occur?</a:t>
            </a:r>
          </a:p>
          <a:p>
            <a:r>
              <a:t>4. Build the discussion to cover: shared goals, shared values, mutual trust and respect, consulting on decision-making, seeing other perspectives, inviting curiosity, centring student voice, assuming good intent.</a:t>
            </a:r>
          </a:p>
          <a:p>
            <a:r>
              <a:t>5. If the cards are set to appear on click, reveal them once the room has contributed.</a:t>
            </a:r>
          </a:p>
          <a:p/>
          <a:p>
            <a:r>
              <a:t>YOU MIGHT SAY</a:t>
            </a:r>
          </a:p>
          <a:p>
            <a:r>
              <a:t>What are some of the key principles for effective collaboration to occur?</a:t>
            </a:r>
          </a:p>
          <a:p>
            <a:r>
              <a:t>How could we work together for better learning outcomes?</a:t>
            </a:r>
          </a:p>
          <a:p/>
          <a:p>
            <a:r>
              <a:t>KEY MESSAGES</a:t>
            </a:r>
          </a:p>
          <a:p>
            <a:r>
              <a:t>• The collaboration skills needed are the same across every partnership around the student.</a:t>
            </a:r>
          </a:p>
          <a:p/>
          <a:p>
            <a:r>
              <a:t>BACKGROUND</a:t>
            </a:r>
          </a:p>
          <a:p>
            <a:r>
              <a:t>This slide was added by the team because it works well with all parties and helps shift perspectives.</a:t>
            </a:r>
          </a:p>
        </p:txBody>
      </p:sp>
    </p:spTree>
    <p:extLst>
      <p:ext uri="{BB962C8B-B14F-4D97-AF65-F5344CB8AC3E}">
        <p14:creationId xmlns:p14="http://schemas.microsoft.com/office/powerpoint/2010/main" val="1259099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3 min  ·  2:31 - 2:34</a:t>
            </a:r>
          </a:p>
          <a:p/>
          <a:p>
            <a:r>
              <a:t>PURPOSE</a:t>
            </a:r>
          </a:p>
          <a:p>
            <a:r>
              <a:t>Help participants notice how agendas, language, authority and decision-making shape consultation.</a:t>
            </a:r>
          </a:p>
          <a:p/>
          <a:p>
            <a:r>
              <a:t>WHAT TO DO</a:t>
            </a:r>
          </a:p>
          <a:p>
            <a:r>
              <a:t>1. Introduce the seesaw: school, home and the student.</a:t>
            </a:r>
          </a:p>
          <a:p>
            <a:r>
              <a:t>2. Name where power can sit: socio-economic status, historical and cultural experiences of education, speaking English or another language, understanding of school systems and curriculum, and perceptions of the importance of school.</a:t>
            </a:r>
          </a:p>
          <a:p>
            <a:r>
              <a:t>3. Ask the power questions below to examine practice, not to blame individual participants.</a:t>
            </a:r>
          </a:p>
          <a:p>
            <a:r>
              <a:t>4. Invite leaders to identify where school language, timing or process may create a barrier, and where the same barrier keeps coming up across families.</a:t>
            </a:r>
          </a:p>
          <a:p/>
          <a:p>
            <a:r>
              <a:t>YOU MIGHT SAY</a:t>
            </a:r>
          </a:p>
          <a:p>
            <a:r>
              <a:t>Who sets the agenda?</a:t>
            </a:r>
          </a:p>
          <a:p>
            <a:r>
              <a:t>Whose knowledge is heard?</a:t>
            </a:r>
          </a:p>
          <a:p>
            <a:r>
              <a:t>Who can make decisions?</a:t>
            </a:r>
          </a:p>
          <a:p>
            <a:r>
              <a:t>Is the student included in a way that works for them?</a:t>
            </a:r>
          </a:p>
          <a:p>
            <a:r>
              <a:t>What could the school change about the process?</a:t>
            </a:r>
          </a:p>
          <a:p>
            <a:r>
              <a:t>Where could leadership change a barrier that keeps coming up?</a:t>
            </a:r>
          </a:p>
          <a:p/>
          <a:p>
            <a:r>
              <a:t>KEY MESSAGES</a:t>
            </a:r>
          </a:p>
          <a:p>
            <a:r>
              <a:t>• Power is present in meeting structures, language and decision pathways.</a:t>
            </a:r>
          </a:p>
          <a:p>
            <a:r>
              <a:t>• Leaders can change a process when it repeatedly creates a barrier.</a:t>
            </a:r>
          </a:p>
          <a:p/>
          <a:p>
            <a:r>
              <a:t>KEEP IN MIND</a:t>
            </a:r>
          </a:p>
          <a:p>
            <a:r>
              <a:t>• Avoid describing a family as difficult, disengaged or unrealistic without examining the context and process.</a:t>
            </a:r>
          </a:p>
          <a:p/>
          <a:p>
            <a:r>
              <a:t>THREAD</a:t>
            </a:r>
          </a:p>
          <a:p>
            <a:r>
              <a:t>Follows Repairing trust (slide 6): families who arrive expecting a difficult meeting are often responding to how power has worked in earlier meetings.</a:t>
            </a:r>
          </a:p>
        </p:txBody>
      </p:sp>
      <p:sp>
        <p:nvSpPr>
          <p:cNvPr id="5" name="Date Placeholder 4"/>
          <p:cNvSpPr>
            <a:spLocks noGrp="1"/>
          </p:cNvSpPr>
          <p:nvPr>
            <p:ph type="dt" idx="11"/>
          </p:nvPr>
        </p:nvSpPr>
        <p:spPr/>
        <p:txBody>
          <a:bodyPr/>
          <a:lstStyle/>
          <a:p>
            <a:endParaRPr lang="en-AU"/>
          </a:p>
        </p:txBody>
      </p:sp>
    </p:spTree>
    <p:extLst>
      <p:ext uri="{BB962C8B-B14F-4D97-AF65-F5344CB8AC3E}">
        <p14:creationId xmlns:p14="http://schemas.microsoft.com/office/powerpoint/2010/main" val="39796363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SUGGESTED TIME: 6 min  ·  2:34 - 2:40  ·  Participant Guide p.23 - Power dynamics</a:t>
            </a:r>
          </a:p>
          <a:p/>
          <a:p>
            <a:r>
              <a:t>PURPOSE</a:t>
            </a:r>
          </a:p>
          <a:p>
            <a:r>
              <a:t>Prompt educators to reflect on perceived and real power imbalances in the home-school relationship.</a:t>
            </a:r>
          </a:p>
          <a:p/>
          <a:p>
            <a:r>
              <a:t>WHAT TO DO</a:t>
            </a:r>
          </a:p>
          <a:p>
            <a:r>
              <a:t>1. Make sure every participant has Post-it notes and a pen.</a:t>
            </a:r>
          </a:p>
          <a:p>
            <a:r>
              <a:t>2. Direct participants to the three instructions on the slide.</a:t>
            </a:r>
          </a:p>
          <a:p>
            <a:r>
              <a:t>3. Choose a sharing option that suits the room (see steps).</a:t>
            </a:r>
          </a:p>
          <a:p>
            <a:r>
              <a:t>4. Support tables to look for solutions rather than place blame, and to think about school processes as well as individual meetings.</a:t>
            </a:r>
          </a:p>
          <a:p>
            <a:r>
              <a:t>5. Take feedback from a few participants at the end.</a:t>
            </a:r>
          </a:p>
          <a:p/>
          <a:p>
            <a:r>
              <a:t>KEY MESSAGES</a:t>
            </a:r>
          </a:p>
          <a:p>
            <a:r>
              <a:t>• Power can be structural, historical, cultural, conscious and unconscious.</a:t>
            </a:r>
          </a:p>
          <a:p>
            <a:r>
              <a:t>• Status can be perceived as an imbalanced power dynamic, regardless of intent.</a:t>
            </a:r>
          </a:p>
          <a:p/>
          <a:p>
            <a:r>
              <a:t>ACTIVITY: Post-it note reflection  ·  table groups  ·  6 minutes</a:t>
            </a:r>
          </a:p>
          <a:p>
            <a:r>
              <a:t>Prompt: Where do power imbalances sit in the home-school relationship, and how could you address them?</a:t>
            </a:r>
          </a:p>
          <a:p>
            <a:r>
              <a:t>1. On one Post-it, write an example of an imbalance in power dynamics from a home perspective.</a:t>
            </a:r>
          </a:p>
          <a:p>
            <a:r>
              <a:t>2. On a second, write an example from a school perspective.</a:t>
            </a:r>
          </a:p>
          <a:p>
            <a:r>
              <a:t>3. On a third, write how you could address these imbalances.</a:t>
            </a:r>
          </a:p>
          <a:p>
            <a:r>
              <a:t>4. Option 1: share Post-it notes with your table.</a:t>
            </a:r>
          </a:p>
          <a:p>
            <a:r>
              <a:t>5. Option 2 (movement break): take your Post-it notes to another person in the room to share.</a:t>
            </a:r>
          </a:p>
          <a:p>
            <a:r>
              <a:t>6. Option 3: place Post-it notes on butcher's paper on the wall under Home, School and Solutions.</a:t>
            </a:r>
          </a:p>
          <a:p>
            <a:r>
              <a:t>Bring the room back:</a:t>
            </a:r>
          </a:p>
          <a:p>
            <a:r>
              <a:t>• Who sets the agenda?</a:t>
            </a:r>
          </a:p>
          <a:p>
            <a:r>
              <a:t>• Whose knowledge is heard?</a:t>
            </a:r>
          </a:p>
          <a:p>
            <a:r>
              <a:t>• Who can make decisions?</a:t>
            </a:r>
          </a:p>
          <a:p>
            <a:r>
              <a:t>• What could the school change about the process?</a:t>
            </a:r>
          </a:p>
          <a:p>
            <a:r>
              <a:t>• Which of these solutions would need a leadership decision?</a:t>
            </a:r>
          </a:p>
          <a:p>
            <a:r>
              <a:t>Close: Ask participants to keep one process change for their conversation plan.</a:t>
            </a:r>
          </a:p>
          <a:p/>
          <a:p>
            <a:r>
              <a:t>KEEP IN MIND</a:t>
            </a:r>
          </a:p>
          <a:p>
            <a:r>
              <a:t>• This may be challenging for some participants, who may have found themselves in positions of power or lack of power at different times in their career. Guide individuals to seek solutions and not place blame.</a:t>
            </a:r>
          </a:p>
          <a:p/>
          <a:p>
            <a:r>
              <a:t>BACKGROUND</a:t>
            </a:r>
          </a:p>
          <a:p>
            <a:r>
              <a:t>Educators are immersed in the culture of education, including a shared understanding of acronyms (e.g. NAPLAN, NCCD, IEP) which families may not be able to access as easily. Some people will purposely and naturally endow teachers with higher status, which can be a cultural or personal attitude. External providers and professionals can also affect the power dynamic between those working with and supporting Autistic students.</a:t>
            </a:r>
          </a:p>
          <a:p/>
          <a:p>
            <a:r>
              <a:t>THREAD</a:t>
            </a:r>
          </a:p>
          <a:p>
            <a:r>
              <a:t>The process change chosen here carries into the bridge reflection (slide 19) and the Session 6 conversation plan.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t>SUGGESTED TIME: 5 min  ·  2:40 - 2:45  ·  Participant Guide p.23 - Student voice</a:t>
            </a:r>
          </a:p>
          <a:p/>
          <a:p>
            <a:r>
              <a:t>PURPOSE</a:t>
            </a:r>
          </a:p>
          <a:p>
            <a:r>
              <a:t>Show what happens when a student is not listened to or consulted.</a:t>
            </a:r>
          </a:p>
          <a:p/>
          <a:p>
            <a:r>
              <a:t>WHAT TO DO</a:t>
            </a:r>
          </a:p>
          <a:p>
            <a:r>
              <a:t>1. Introduce the video as an example of a student who is not listened to or consulted.</a:t>
            </a:r>
          </a:p>
          <a:p>
            <a:r>
              <a:t>2. Ask participants, while watching, to pay attention to what decisions were made and who made them.</a:t>
            </a:r>
          </a:p>
          <a:p>
            <a:r>
              <a:t>3. Play the video.</a:t>
            </a:r>
          </a:p>
          <a:p>
            <a:r>
              <a:t>4. Ask the group: What impact did those decisions have on Adon?</a:t>
            </a:r>
          </a:p>
          <a:p>
            <a:r>
              <a:t>5. Connect to the students participants have in mind: how are their preferences asked and heard, and where does the school record them?</a:t>
            </a:r>
          </a:p>
          <a:p/>
          <a:p>
            <a:r>
              <a:t>YOU MIGHT SAY</a:t>
            </a:r>
          </a:p>
          <a:p>
            <a:r>
              <a:t>While watching, pay attention to what decisions were made and who made them.</a:t>
            </a:r>
          </a:p>
          <a:p>
            <a:r>
              <a:t>What impact did those decisions have on Adon?</a:t>
            </a:r>
          </a:p>
          <a:p/>
          <a:p>
            <a:r>
              <a:t>KEY MESSAGES</a:t>
            </a:r>
          </a:p>
          <a:p>
            <a:r>
              <a:t>• Students should have a say in decisions about them, at their level and in the way they communicate.</a:t>
            </a:r>
          </a:p>
          <a:p>
            <a:r>
              <a:t>• Even young children can show preferences: choices offered visually, reactions observed and honoured.</a:t>
            </a:r>
          </a:p>
          <a:p>
            <a:r>
              <a:t>• Ask students in a way that works for them: what helps? what's hard? what should teachers know?</a:t>
            </a:r>
          </a:p>
          <a:p>
            <a:r>
              <a:t>• Record their answers in their own words, so the student's view is part of the record.</a:t>
            </a:r>
          </a:p>
          <a:p>
            <a:r>
              <a:t>• This is an early step in building self-advocacy.</a:t>
            </a:r>
          </a:p>
        </p:txBody>
      </p:sp>
    </p:spTree>
    <p:extLst>
      <p:ext uri="{BB962C8B-B14F-4D97-AF65-F5344CB8AC3E}">
        <p14:creationId xmlns:p14="http://schemas.microsoft.com/office/powerpoint/2010/main" val="18410382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8A0A0-7380-C08E-2D70-17F76DB5B5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B16B5E-5CF6-7FE6-0FB0-2A2E1DB43E80}"/>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E19B43A1-D97B-9EC2-E9E7-26DF67432322}"/>
              </a:ext>
            </a:extLst>
          </p:cNvPr>
          <p:cNvSpPr>
            <a:spLocks noGrp="1"/>
          </p:cNvSpPr>
          <p:nvPr>
            <p:ph type="body" idx="1"/>
          </p:nvPr>
        </p:nvSpPr>
        <p:spPr/>
        <p:txBody>
          <a:bodyPr/>
          <a:lstStyle/>
          <a:p>
            <a:r>
              <a:t>SUGGESTED TIME: 8 min  ·  2:45 - 2:53  ·  Participant Guide p.24 - Partnership activity</a:t>
            </a:r>
          </a:p>
          <a:p/>
          <a:p>
            <a:r>
              <a:t>PURPOSE</a:t>
            </a:r>
          </a:p>
          <a:p>
            <a:r>
              <a:t>Compare what each partner brings and the challenges they may face, and find what they share.</a:t>
            </a:r>
          </a:p>
          <a:p/>
          <a:p>
            <a:r>
              <a:t>WHAT TO DO</a:t>
            </a:r>
          </a:p>
          <a:p>
            <a:r>
              <a:t>1. Make sure each table has the Partnership activity grid in the Participant Guide (p. 24).</a:t>
            </a:r>
          </a:p>
          <a:p>
            <a:r>
              <a:t>2. Ask table groups to record what each partner brings and what challenges they might face: student, parents and carers, teachers, paraprofessionals.</a:t>
            </a:r>
          </a:p>
          <a:p>
            <a:r>
              <a:t>3. Ask tables to compare: what do all four have in common?</a:t>
            </a:r>
          </a:p>
          <a:p>
            <a:r>
              <a:t>4. Take thoughts on similarities and differences, list the commonalities, and ask what would make the partnership more successful.</a:t>
            </a:r>
          </a:p>
          <a:p/>
          <a:p>
            <a:r>
              <a:t>KEY MESSAGES</a:t>
            </a:r>
          </a:p>
          <a:p>
            <a:r>
              <a:t>• Understanding the challenges and strengths of each partner can help build trust and confidence in the relationship.</a:t>
            </a:r>
          </a:p>
          <a:p>
            <a:r>
              <a:t>• There are similarities and differences between what each partner brings to the partnership.</a:t>
            </a:r>
          </a:p>
          <a:p>
            <a:r>
              <a:t>• Everyone has the student at the centre and student voice is included.</a:t>
            </a:r>
          </a:p>
          <a:p>
            <a:r>
              <a:t>• At the heart of all interactions there should be an assumption of good intent regarding the outcomes for the student.</a:t>
            </a:r>
          </a:p>
          <a:p/>
          <a:p>
            <a:r>
              <a:t>ACTIVITY: Table group partnership grid  ·  table groups  ·  8 minutes</a:t>
            </a:r>
          </a:p>
          <a:p>
            <a:r>
              <a:t>Prompt: For each partner: what do they bring, and what challenges might they face?</a:t>
            </a:r>
          </a:p>
          <a:p>
            <a:r>
              <a:t>1. Work through the four partners: student, parents and carers, teachers, paraprofessionals.</a:t>
            </a:r>
          </a:p>
          <a:p>
            <a:r>
              <a:t>2. For each, note what they bring and what challenges they might face.</a:t>
            </a:r>
          </a:p>
          <a:p>
            <a:r>
              <a:t>3. Compare: what do all four have in common?</a:t>
            </a:r>
          </a:p>
          <a:p>
            <a:r>
              <a:t>Bring the room back:</a:t>
            </a:r>
          </a:p>
          <a:p>
            <a:r>
              <a:t>• What are the similarities and differences across the four partners?</a:t>
            </a:r>
          </a:p>
          <a:p>
            <a:r>
              <a:t>• What would make the partnership more successful?</a:t>
            </a:r>
          </a:p>
          <a:p>
            <a:r>
              <a:t>Close: List the commonalities the room names and link them to the collaboration principles on slide 4.</a:t>
            </a:r>
          </a:p>
        </p:txBody>
      </p:sp>
    </p:spTree>
    <p:extLst>
      <p:ext uri="{BB962C8B-B14F-4D97-AF65-F5344CB8AC3E}">
        <p14:creationId xmlns:p14="http://schemas.microsoft.com/office/powerpoint/2010/main" val="24192698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23862-DA1D-B1A1-9895-FC9A71AF85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38FBF-1361-F969-DC98-01A54DC72E4E}"/>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C941276F-589B-898A-F5FE-D4D7F4EC37DB}"/>
              </a:ext>
            </a:extLst>
          </p:cNvPr>
          <p:cNvSpPr>
            <a:spLocks noGrp="1"/>
          </p:cNvSpPr>
          <p:nvPr>
            <p:ph type="body" idx="1"/>
          </p:nvPr>
        </p:nvSpPr>
        <p:spPr/>
        <p:txBody>
          <a:bodyPr/>
          <a:lstStyle/>
          <a:p>
            <a:r>
              <a:t>SUGGESTED TIME: 6 min  ·  2:53 - 2:59  ·  Participant Guide p.24 - What works?</a:t>
            </a:r>
          </a:p>
          <a:p/>
          <a:p>
            <a:r>
              <a:t>PURPOSE</a:t>
            </a:r>
          </a:p>
          <a:p>
            <a:r>
              <a:t>Draw on relationships with families that already work, and name the moves that work for everyone at the table.</a:t>
            </a:r>
          </a:p>
          <a:p/>
          <a:p>
            <a:r>
              <a:t>WHAT TO DO</a:t>
            </a:r>
          </a:p>
          <a:p>
            <a:r>
              <a:t>1. Ask participants, in their school groups, to think of a family they have or have had a good relationship with.</a:t>
            </a:r>
          </a:p>
          <a:p>
            <a:r>
              <a:t>2. Discuss the prompts on the slide.</a:t>
            </a:r>
          </a:p>
          <a:p>
            <a:r>
              <a:t>3. Ask groups to feed back some of the key ideas to the whole room.</a:t>
            </a:r>
          </a:p>
          <a:p>
            <a:r>
              <a:t>4. Point to the list of what works for everyone at the table, and add the educator side of each move.</a:t>
            </a:r>
          </a:p>
          <a:p/>
          <a:p>
            <a:r>
              <a:t>YOU MIGHT SAY</a:t>
            </a:r>
          </a:p>
          <a:p>
            <a:r>
              <a:t>How did you establish this? What does it look like? Why does it work?</a:t>
            </a:r>
          </a:p>
          <a:p/>
          <a:p>
            <a:r>
              <a:t>KEY MESSAGES</a:t>
            </a:r>
          </a:p>
          <a:p>
            <a:r>
              <a:t>• Send the agenda before the meeting, so families know what to expect.</a:t>
            </a:r>
          </a:p>
          <a:p>
            <a:r>
              <a:t>• Welcome a support person. This is normal and allowed, and it can change the dynamic of the meeting.</a:t>
            </a:r>
          </a:p>
          <a:p>
            <a:r>
              <a:t>• Open with a strength; share notes or minutes.</a:t>
            </a:r>
          </a:p>
          <a:p>
            <a:r>
              <a:t>• Follow up in writing ('as we agreed...'), so everyone is clear on what was agreed.</a:t>
            </a:r>
          </a:p>
          <a:p>
            <a:r>
              <a:t>• If it went wrong: acknowledge it, offer a reset, and make the next meeting fairer.</a:t>
            </a:r>
          </a:p>
          <a:p/>
          <a:p>
            <a:r>
              <a:t>ACTIVITY: School group reflection  ·  small groups  ·  6 minutes</a:t>
            </a:r>
          </a:p>
          <a:p>
            <a:r>
              <a:t>Prompt: Think of a family you have a good relationship with. How did you establish this? What does it look like? Why does it work?</a:t>
            </a:r>
          </a:p>
          <a:p>
            <a:r>
              <a:t>1. Think of a family you have or have had a good relationship with.</a:t>
            </a:r>
          </a:p>
          <a:p>
            <a:r>
              <a:t>2. Discuss the three prompts in your school group.</a:t>
            </a:r>
          </a:p>
          <a:p>
            <a:r>
              <a:t>3. Keep examples anonymised.</a:t>
            </a:r>
          </a:p>
          <a:p>
            <a:r>
              <a:t>Bring the room back:</a:t>
            </a:r>
          </a:p>
          <a:p>
            <a:r>
              <a:t>• What key ideas came up in your group?</a:t>
            </a:r>
          </a:p>
          <a:p>
            <a:r>
              <a:t>Close: Connect the ideas shared to the list of what works for everyone at the table.</a:t>
            </a:r>
          </a:p>
          <a:p/>
          <a:p>
            <a:r>
              <a:t>BACKGROUND</a:t>
            </a:r>
          </a:p>
          <a:p>
            <a:r>
              <a:t>Parent and family engagement in learning happens when schools and educators support families, understanding and leveraging how they interact with their child's learning, and supporting them to do that in equal partnership with the school. Parents and families need to know how important their continued support for learning is, and that as the experts in their child they are an extremely valuable resource. Educators have a vital role to play here (Barker &amp; Harris, 2020).</a:t>
            </a:r>
          </a:p>
          <a:p/>
          <a:p>
            <a:r>
              <a:t>RESOURCES</a:t>
            </a:r>
          </a:p>
          <a:p>
            <a:r>
              <a:t>Barker, B., &amp; Harris, D. (2020). Parent and Family Engagement: An Implementation Guide for School Communities. Canberra: ARACY</a:t>
            </a:r>
          </a:p>
          <a:p>
            <a:r>
              <a:t>Tett, L. &amp; Macleod, G. (2020) Enacting home-school partnerships: the roles of headteachers, family-learning practitioners and parents, Cambridge Journal of Education, 50:4, 451-468 https://doi.org/10.1080/0305764X.2020.1722062</a:t>
            </a:r>
          </a:p>
        </p:txBody>
      </p:sp>
    </p:spTree>
    <p:extLst>
      <p:ext uri="{BB962C8B-B14F-4D97-AF65-F5344CB8AC3E}">
        <p14:creationId xmlns:p14="http://schemas.microsoft.com/office/powerpoint/2010/main" val="30177016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SUGGESTED TIME: 2 min  ·  2:59 - 3:01</a:t>
            </a:r>
          </a:p>
          <a:p/>
          <a:p>
            <a:r>
              <a:t>PURPOSE</a:t>
            </a:r>
          </a:p>
          <a:p>
            <a:r>
              <a:t>Emphasise listening before solving, and making room for questions, uncertainty and different priorities.</a:t>
            </a:r>
          </a:p>
          <a:p/>
          <a:p>
            <a:r>
              <a:t>WHAT TO DO</a:t>
            </a:r>
          </a:p>
          <a:p>
            <a:r>
              <a:t>1. Read the six practices briefly.</a:t>
            </a:r>
          </a:p>
          <a:p>
            <a:r>
              <a:t>2. Emphasise listening before solving and making room for questions, uncertainty and different priorities.</a:t>
            </a:r>
          </a:p>
          <a:p>
            <a:r>
              <a:t>3. Invite leaders to identify where school language, timing or process may create a barrier.</a:t>
            </a:r>
          </a:p>
          <a:p>
            <a:r>
              <a:t>4. Make the key point: environment-first thinking applies to meetings too. Where the same barrier comes up for many families, it is a process the school can change.</a:t>
            </a:r>
          </a:p>
          <a:p/>
          <a:p>
            <a:r>
              <a:t>YOU MIGHT SAY</a:t>
            </a:r>
          </a:p>
          <a:p>
            <a:r>
              <a:t>What could the school change about the process?</a:t>
            </a:r>
          </a:p>
          <a:p/>
          <a:p>
            <a:r>
              <a:t>KEY MESSAGES</a:t>
            </a:r>
          </a:p>
          <a:p>
            <a:r>
              <a:t>• Power is present in meeting structures, language and decision pathways.</a:t>
            </a:r>
          </a:p>
          <a:p>
            <a:r>
              <a:t>• Meeting families where they are begins with listening and clarity.</a:t>
            </a:r>
          </a:p>
          <a:p>
            <a:r>
              <a:t>• Environment-first thinking also applies to consultation processes.</a:t>
            </a:r>
          </a:p>
          <a:p/>
          <a:p>
            <a:r>
              <a:t>KEEP IN MIND</a:t>
            </a:r>
          </a:p>
          <a:p>
            <a:r>
              <a:t>• Avoid judging a family's pace, response or choices.</a:t>
            </a:r>
          </a:p>
          <a:p>
            <a:r>
              <a:t>• Avoid describing a family as difficult, disengaged or unrealistic without examining the context and process.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SUGGESTED TIME: 3 min  ·  3:01 - 3:04  ·  Participant Guide p.25 - Consultation checklist</a:t>
            </a:r>
          </a:p>
          <a:p/>
          <a:p>
            <a:r>
              <a:t>PURPOSE</a:t>
            </a:r>
          </a:p>
          <a:p>
            <a:r>
              <a:t>Introduce consultation literacy: asking, listening and following up, with families and students and with the school's own staff.</a:t>
            </a:r>
          </a:p>
          <a:p/>
          <a:p>
            <a:r>
              <a:t>WHAT TO DO</a:t>
            </a:r>
          </a:p>
          <a:p>
            <a:r>
              <a:t>1. Walk through what useful consultation includes.</a:t>
            </a:r>
          </a:p>
          <a:p>
            <a:r>
              <a:t>2. Frame the list as a check participants can use before and after a meeting.</a:t>
            </a:r>
          </a:p>
          <a:p>
            <a:r>
              <a:t>3. Make the point: ask, listen, and follow up.</a:t>
            </a:r>
          </a:p>
          <a:p>
            <a:r>
              <a:t>4. Turn the list towards the school's own staff: leaders can consult their staff in the same way they ask staff to consult families.</a:t>
            </a:r>
          </a:p>
          <a:p>
            <a:r>
              <a:t>5. Explain that support staff often have the closest hour-by-hour picture of a student's day. Ask: How does what they notice reach decisions in your school?</a:t>
            </a:r>
          </a:p>
          <a:p>
            <a:r>
              <a:t>6. Ask: Have teachers been asked where the timetable and routines are hardest for students?</a:t>
            </a:r>
          </a:p>
          <a:p>
            <a:r>
              <a:t>7. Offer three questions from the team's leadership materials that a leadership team can put to staff: What evidence do we expect? What enables consistent adjustments? What is our unique responsibility?</a:t>
            </a:r>
          </a:p>
          <a:p>
            <a:r>
              <a:t>8. Follow up with staff as you would with families: tell them what was heard and what changed.</a:t>
            </a:r>
          </a:p>
          <a:p/>
          <a:p>
            <a:r>
              <a:t>YOU MIGHT SAY</a:t>
            </a:r>
          </a:p>
          <a:p>
            <a:r>
              <a:t>How does what support staff notice reach decisions in your school?</a:t>
            </a:r>
          </a:p>
          <a:p/>
          <a:p>
            <a:r>
              <a:t>KEY MESSAGES</a:t>
            </a:r>
          </a:p>
          <a:p>
            <a:r>
              <a:t>• Ask, listen, and follow up.</a:t>
            </a:r>
          </a:p>
          <a:p>
            <a:r>
              <a:t>• Tools should support consultation rather than replace listening and student voice.</a:t>
            </a:r>
          </a:p>
          <a:p>
            <a:r>
              <a:t>• Leaders can consult staff the same way they ask staff to consult families.</a:t>
            </a:r>
          </a:p>
          <a:p>
            <a:r>
              <a:t>• Staff who are consulted well are better placed to consult families and students well.</a:t>
            </a:r>
          </a:p>
          <a:p/>
          <a:p>
            <a:r>
              <a:t>KEEP IN MIND</a:t>
            </a:r>
          </a:p>
          <a:p>
            <a:r>
              <a:t>• Keep the staff discussion about processes and roles. Do not name or blame staff.</a:t>
            </a:r>
          </a:p>
          <a:p/>
          <a:p>
            <a:r>
              <a:t>BACKGROUND</a:t>
            </a:r>
          </a:p>
          <a:p>
            <a:r>
              <a:t>Support staff often hold the closest hour-by-hour picture of a student's day in the school, and teachers know where the timetable and routines are hardest. Consulting them uses the same checklist as consulting families: a clear purpose, open questions, more than one way to contribute, accurate recording and an agreed action with follow-up. How leaders consult staff shapes how staff consult families and students.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SUGGESTED TIME: 2 min  ·  3:04 - 3:06</a:t>
            </a:r>
          </a:p>
          <a:p/>
          <a:p>
            <a:r>
              <a:t>PURPOSE</a:t>
            </a:r>
          </a:p>
          <a:p>
            <a:r>
              <a:t>Give practical ways to consult students and families so every voice can be heard.</a:t>
            </a:r>
          </a:p>
          <a:p/>
          <a:p>
            <a:r>
              <a:t>WHAT TO DO</a:t>
            </a:r>
          </a:p>
          <a:p>
            <a:r>
              <a:t>1. Take the two columns in turn: with students, then with families.</a:t>
            </a:r>
          </a:p>
          <a:p>
            <a:r>
              <a:t>2. With students: presume competence, provide communication supports, offer choices, allow time, and act on what students tell us.</a:t>
            </a:r>
          </a:p>
          <a:p>
            <a:r>
              <a:t>3. With families: start with the student's strengths, interests and what works well, and listen to families' knowledge of their child without making assumptions.</a:t>
            </a:r>
          </a:p>
          <a:p>
            <a:r>
              <a:t>4. Ask participants to pick one practice from each column that the school could build into its usual meeting processes.</a:t>
            </a:r>
          </a:p>
          <a:p/>
          <a:p>
            <a:r>
              <a:t>KEY MESSAGES</a:t>
            </a:r>
          </a:p>
          <a:p>
            <a:r>
              <a:t>• Listen, adapt, give choices, and make it easy for every student to have a voice.</a:t>
            </a:r>
          </a:p>
          <a:p>
            <a:r>
              <a:t>• Ensure trusted supporters assist communication without replacing the student's voice.</a:t>
            </a:r>
          </a:p>
          <a:p>
            <a:r>
              <a:t>• Use plain language and explain educational terms clearly.</a:t>
            </a:r>
          </a:p>
          <a:p>
            <a:r>
              <a:t>• Focus on the student's needs and goals, not just their diagnosis.</a:t>
            </a:r>
          </a:p>
          <a:p>
            <a:r>
              <a:t>• Recognise that some parents will be neurodivergent themselves.</a:t>
            </a:r>
          </a:p>
          <a:p/>
          <a:p>
            <a:r>
              <a:t>BACKGROUND</a:t>
            </a:r>
          </a:p>
          <a:p>
            <a:r>
              <a:t>Student consultation: provide multiple communication options (AAC, visuals, writing, drawing, video, symbols); prepare students in advance with questions, agendas and meeting information; use supported decision-making with simple choices and extra processing time; create sensory-friendly environments; recognise that behaviour is communication and can indicate preferences; build on strengths, interests and preferences; use accessible, strengths-based questions. Family consultation: be respectful of different cultures, experiences and family perspectives; use real examples from school to discuss supports and adjustments; check everyone has the same understanding; agree clear next steps and how progress will be reviewed; keep communication open and ongoing.</a:t>
            </a:r>
          </a:p>
          <a:p/>
          <a:p>
            <a:r>
              <a:t>THREAD</a:t>
            </a:r>
          </a:p>
          <a:p>
            <a:r>
              <a:t>Picks up the continuum of support and NCCD from Session 4.</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SUGGESTED TIME: 2 min  ·  3:06 - 3:08</a:t>
            </a:r>
          </a:p>
          <a:p/>
          <a:p>
            <a:r>
              <a:t>PURPOSE</a:t>
            </a:r>
          </a:p>
          <a:p>
            <a:r>
              <a:t>Introduce meltdown, shutdown and School Can't within partnership discussion, without blame.</a:t>
            </a:r>
          </a:p>
          <a:p/>
          <a:p>
            <a:r>
              <a:t>WHAT TO DO</a:t>
            </a:r>
          </a:p>
          <a:p>
            <a:r>
              <a:t>1. Introduce the three terms without presenting them as wilful behaviour.</a:t>
            </a:r>
          </a:p>
          <a:p>
            <a:r>
              <a:t>2. Connect discussion to accumulated demands, what may not be visible, and what home and school can learn from each other.</a:t>
            </a:r>
          </a:p>
          <a:p>
            <a:r>
              <a:t>3. Ask what information, listening and environmental change would help the team respond more safely and usefully.</a:t>
            </a:r>
          </a:p>
          <a:p>
            <a:r>
              <a:t>4. Ask leaders whether relevant staff know the school's local wellbeing, safety and support pathways.</a:t>
            </a:r>
          </a:p>
          <a:p>
            <a:r>
              <a:t>5. Point to the focus line: safety, what preceded the situation, what supports recovery and what can change in the environment, task or response.</a:t>
            </a:r>
          </a:p>
          <a:p/>
          <a:p>
            <a:r>
              <a:t>KEY MESSAGES</a:t>
            </a:r>
          </a:p>
          <a:p>
            <a:r>
              <a:t>• Capacity should be discussed without blame.</a:t>
            </a:r>
          </a:p>
          <a:p>
            <a:r>
              <a:t>• Home and school may observe different parts of the student's experience.</a:t>
            </a:r>
          </a:p>
          <a:p>
            <a:r>
              <a:t>• Use non-blaming language and the workshop safety guidance.</a:t>
            </a:r>
          </a:p>
          <a:p>
            <a:r>
              <a:t>• Leaders are responsible for making local response pathways clear to staff.</a:t>
            </a:r>
          </a:p>
          <a:p/>
          <a:p>
            <a:r>
              <a:t>KEEP IN MIND</a:t>
            </a:r>
          </a:p>
          <a:p>
            <a:r>
              <a:t>• Do not frame meltdown, shutdown or School Can't as wilful misbehaviour or a failure of parenting.</a:t>
            </a:r>
          </a:p>
          <a:p>
            <a:r>
              <a:t>• Do not offer clinical, diagnostic, legal or crisis guidance beyond the material.</a:t>
            </a:r>
          </a:p>
          <a:p/>
          <a:p>
            <a:r>
              <a:t>THREAD</a:t>
            </a:r>
          </a:p>
          <a:p>
            <a:r>
              <a:t>Builds on capacity and accumulated demands from Sessions 2 and 3.</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t>SUGGESTED TIME: 1 min  ·  3:08 - 3:09</a:t>
            </a:r>
          </a:p>
          <a:p/>
          <a:p>
            <a:r>
              <a:t>PURPOSE</a:t>
            </a:r>
          </a:p>
          <a:p>
            <a:r>
              <a:t>Demonstrate the Partnership tools and explain how they are used.</a:t>
            </a:r>
          </a:p>
          <a:p/>
          <a:p>
            <a:r>
              <a:t>WHAT TO DO</a:t>
            </a:r>
          </a:p>
          <a:p>
            <a:r>
              <a:t>1. Show the Partnership tools and explain how each is used.</a:t>
            </a:r>
          </a:p>
          <a:p>
            <a:r>
              <a:t>2. Frame the tools as supports for consultation, not replacements for listening.</a:t>
            </a:r>
          </a:p>
          <a:p>
            <a:r>
              <a:t>3. Ask how each tool would fit the school's existing meeting, decision and review processes.</a:t>
            </a:r>
          </a:p>
          <a:p/>
          <a:p>
            <a:r>
              <a:t>KEY MESSAGES</a:t>
            </a:r>
          </a:p>
          <a:p>
            <a:r>
              <a:t>• Tools should support consultation rather than replace listening and student voice.</a:t>
            </a:r>
          </a:p>
        </p:txBody>
      </p:sp>
      <p:sp>
        <p:nvSpPr>
          <p:cNvPr id="4" name="Date Placeholder 3"/>
          <p:cNvSpPr>
            <a:spLocks noGrp="1"/>
          </p:cNvSpPr>
          <p:nvPr>
            <p:ph type="dt" idx="10"/>
          </p:nvPr>
        </p:nvSpPr>
        <p:spPr/>
        <p:txBody>
          <a:bodyPr/>
          <a:lstStyle/>
          <a:p>
            <a:endParaRPr lang="en-AU"/>
          </a:p>
        </p:txBody>
      </p:sp>
    </p:spTree>
    <p:extLst>
      <p:ext uri="{BB962C8B-B14F-4D97-AF65-F5344CB8AC3E}">
        <p14:creationId xmlns:p14="http://schemas.microsoft.com/office/powerpoint/2010/main" val="6173675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SUGGESTED TIME: 1 min  ·  3:09 - 3:10</a:t>
            </a:r>
          </a:p>
          <a:p/>
          <a:p>
            <a:r>
              <a:t>PURPOSE</a:t>
            </a:r>
          </a:p>
          <a:p>
            <a:r>
              <a:t>Introduce the NCCD Meetings Tool Kit and direct participants to official NCCD information.</a:t>
            </a:r>
          </a:p>
          <a:p/>
          <a:p>
            <a:r>
              <a:t>WHAT TO DO</a:t>
            </a:r>
          </a:p>
          <a:p>
            <a:r>
              <a:t>1. Explain how the Tool Kit makes the meeting purpose, consultation process, possible adjustments, evidence and next steps clear.</a:t>
            </a:r>
          </a:p>
          <a:p>
            <a:r>
              <a:t>2. Remind participants to follow the processes used in their school or system.</a:t>
            </a:r>
          </a:p>
          <a:p>
            <a:r>
              <a:t>3. Ask leaders to check who in their school uses the Tool Kit, who makes decisions, how student and family knowledge is included, and what is recorded.</a:t>
            </a:r>
          </a:p>
          <a:p>
            <a:r>
              <a:t>4. Emphasise explaining responsibilities and follow-up to families.</a:t>
            </a:r>
          </a:p>
          <a:p>
            <a:r>
              <a:t>5. Direct participants to official NCCD information.</a:t>
            </a:r>
          </a:p>
          <a:p/>
          <a:p>
            <a:r>
              <a:t>KEY MESSAGES</a:t>
            </a:r>
          </a:p>
          <a:p>
            <a:r>
              <a:t>• NCCD information must be current and official.</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 min  ·  3:10 - 3:11</a:t>
            </a:r>
          </a:p>
          <a:p/>
          <a:p>
            <a:r>
              <a:t>PURPOSE</a:t>
            </a:r>
          </a:p>
          <a:p>
            <a:r>
              <a:t>Introduce the support pathways included in the workshop.</a:t>
            </a:r>
          </a:p>
          <a:p/>
          <a:p>
            <a:r>
              <a:t>WHAT TO DO</a:t>
            </a:r>
          </a:p>
          <a:p>
            <a:r>
              <a:t>1. Briefly introduce the Positive Partnerships support options and other supports on the slide.</a:t>
            </a:r>
          </a:p>
          <a:p>
            <a:r>
              <a:t>2. Point participants to Participant Guide p. 30 for resources.</a:t>
            </a:r>
          </a:p>
          <a:p/>
          <a:p>
            <a:r>
              <a:t>KEY MESSAGES</a:t>
            </a:r>
          </a:p>
          <a:p>
            <a:r>
              <a:t>• Introduce the Positive Partnerships support options included with the workshop.</a:t>
            </a:r>
          </a:p>
          <a:p/>
          <a:p>
            <a:r>
              <a:t>KEEP IN MIND</a:t>
            </a:r>
          </a:p>
          <a:p>
            <a:r>
              <a:t>• Check phone numbers and services are current before delivery.</a:t>
            </a:r>
          </a:p>
        </p:txBody>
      </p:sp>
      <p:sp>
        <p:nvSpPr>
          <p:cNvPr id="4" name="Slide Number Placeholder 3"/>
          <p:cNvSpPr>
            <a:spLocks noGrp="1"/>
          </p:cNvSpPr>
          <p:nvPr>
            <p:ph type="sldNum" sz="quarter" idx="10"/>
          </p:nvPr>
        </p:nvSpPr>
        <p:spPr/>
        <p:txBody>
          <a:bodyPr/>
          <a:lstStyle/>
          <a:p>
            <a:pPr defTabSz="966338">
              <a:defRPr/>
            </a:pPr>
            <a:fld id="{548C6345-C4B0-4EAE-A3B4-FCAC51D578EF}" type="slidenum">
              <a:rPr lang="en-AU">
                <a:solidFill>
                  <a:prstClr val="black"/>
                </a:solidFill>
                <a:latin typeface="Calibri" panose="020F0502020204030204"/>
              </a:rPr>
              <a:pPr defTabSz="966338">
                <a:defRPr/>
              </a:pPr>
              <a:t>16</a:t>
            </a:fld>
            <a:endParaRPr lang="en-AU">
              <a:solidFill>
                <a:prstClr val="black"/>
              </a:solidFill>
              <a:latin typeface="Calibri" panose="020F0502020204030204"/>
            </a:endParaRPr>
          </a:p>
        </p:txBody>
      </p:sp>
    </p:spTree>
    <p:extLst>
      <p:ext uri="{BB962C8B-B14F-4D97-AF65-F5344CB8AC3E}">
        <p14:creationId xmlns:p14="http://schemas.microsoft.com/office/powerpoint/2010/main" val="13845769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SUGGESTED TIME: 4 min  ·  3:11 - 3:15  ·  Participant Guide p.25 - Bridge to the next family conversation</a:t>
            </a:r>
          </a:p>
          <a:p/>
          <a:p>
            <a:r>
              <a:t>PURPOSE</a:t>
            </a:r>
          </a:p>
          <a:p>
            <a:r>
              <a:t>Identify the question and shared purpose participants will take into the Session 6 conversation plan.</a:t>
            </a:r>
          </a:p>
          <a:p/>
          <a:p>
            <a:r>
              <a:t>WHAT TO DO</a:t>
            </a:r>
          </a:p>
          <a:p>
            <a:r>
              <a:t>1. Ask participants to return to the students they have in mind and their Session 4 school change.</a:t>
            </a:r>
          </a:p>
          <a:p>
            <a:r>
              <a:t>2. Invite them to work through the prompts on the slide privately.</a:t>
            </a:r>
          </a:p>
          <a:p>
            <a:r>
              <a:t>3. Keep the focus on preparation rather than scripting what the family should say.</a:t>
            </a:r>
          </a:p>
          <a:p>
            <a:r>
              <a:t>4. Ask participants to carry one process change from the power reflection into the plan.</a:t>
            </a:r>
          </a:p>
          <a:p>
            <a:r>
              <a:t>5. Preview the closing session on belonging, capacity, joy and practical next steps.</a:t>
            </a:r>
          </a:p>
          <a:p/>
          <a:p>
            <a:r>
              <a:t>YOU MIGHT SAY</a:t>
            </a:r>
          </a:p>
          <a:p>
            <a:r>
              <a:t>Keep these notes for your conversation plan in Session 6.</a:t>
            </a:r>
          </a:p>
          <a:p/>
          <a:p>
            <a:r>
              <a:t>KEY MESSAGES</a:t>
            </a:r>
          </a:p>
          <a:p>
            <a:r>
              <a:t>• Prepare for one purposeful conversation.</a:t>
            </a:r>
          </a:p>
          <a:p/>
          <a:p>
            <a:r>
              <a:t>ACTIVITY: Private bridge reflection  ·  on your own  ·  4 minutes</a:t>
            </a:r>
          </a:p>
          <a:p>
            <a:r>
              <a:t>Prompt: Prepare for one purposeful conversation.</a:t>
            </a:r>
          </a:p>
          <a:p>
            <a:r>
              <a:t>1. What needs to be understood?</a:t>
            </a:r>
          </a:p>
          <a:p>
            <a:r>
              <a:t>2. What question will open the conversation?</a:t>
            </a:r>
          </a:p>
          <a:p>
            <a:r>
              <a:t>3. How will the student's voice be included?</a:t>
            </a:r>
          </a:p>
          <a:p>
            <a:r>
              <a:t>4. What can be decided together?</a:t>
            </a:r>
          </a:p>
          <a:p>
            <a:r>
              <a:t>5. How and when will the school follow up?</a:t>
            </a:r>
          </a:p>
          <a:p>
            <a:r>
              <a:t>Close: Keep these notes available for the family-conversation plan in Session 6.</a:t>
            </a:r>
          </a:p>
          <a:p/>
          <a:p>
            <a:r>
              <a:t>THREAD</a:t>
            </a:r>
          </a:p>
          <a:p>
            <a:r>
              <a:t>Connects to the Session 4 'My students' card ("I will share it with") and the conversation plan in Session 6 (Participant Guide p. 28).</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4 min  ·  2:24 - 2:28  ·  Participant Guide p.22 - Session 5 summary (Family engagement by design)</a:t>
            </a:r>
          </a:p>
          <a:p/>
          <a:p>
            <a:r>
              <a:t>PURPOSE</a:t>
            </a:r>
          </a:p>
          <a:p>
            <a:r>
              <a:t>Show how a school can build the basics of family engagement into its routines, so the quality of partnership does not depend on which teacher a family has.</a:t>
            </a:r>
          </a:p>
          <a:p/>
          <a:p>
            <a:r>
              <a:t>WHAT TO DO</a:t>
            </a:r>
          </a:p>
          <a:p>
            <a:r>
              <a:t>1. Read the opening line: families should not depend on which teacher they happen to get.</a:t>
            </a:r>
          </a:p>
          <a:p>
            <a:r>
              <a:t>2. Explain that in many schools, how well a family is included depends on individual staff. Leaders can set some basics that every family can expect.</a:t>
            </a:r>
          </a:p>
          <a:p>
            <a:r>
              <a:t>3. Walk through the four cards.</a:t>
            </a:r>
          </a:p>
          <a:p>
            <a:r>
              <a:t>4. First contact: make the first contact each term a positive one, so the first call or message home about a student is not about a problem.</a:t>
            </a:r>
          </a:p>
          <a:p>
            <a:r>
              <a:t>5. Meeting protocols: shape them with families. For example, the agenda is sent ahead, a support person is welcome, there is time for questions, and a short written summary follows.</a:t>
            </a:r>
          </a:p>
          <a:p>
            <a:r>
              <a:t>6. Communication that lasts: routines that keep going when staff change, such as agreed contact channels, a record of each family's communication preferences, and a handover when a teacher or case manager changes.</a:t>
            </a:r>
          </a:p>
          <a:p>
            <a:r>
              <a:t>7. Access: interpreters, different meeting formats (in person, phone or online) and flexible times.</a:t>
            </a:r>
          </a:p>
          <a:p>
            <a:r>
              <a:t>8. Ask: Which of these does your school already do reliably? Which ones depend on particular staff?</a:t>
            </a:r>
          </a:p>
          <a:p>
            <a:r>
              <a:t>9. Point to the last line: ask families whether they feel heard, and act on what they tell you. This could be one question at the end of a meeting, a follow-up call, or an item in a family survey. Tell families what changed as a result.</a:t>
            </a:r>
          </a:p>
          <a:p/>
          <a:p>
            <a:r>
              <a:t>YOU MIGHT SAY</a:t>
            </a:r>
          </a:p>
          <a:p>
            <a:r>
              <a:t>Which of these does your school already do reliably? Which ones depend on particular staff?</a:t>
            </a:r>
          </a:p>
          <a:p/>
          <a:p>
            <a:r>
              <a:t>KEY MESSAGES</a:t>
            </a:r>
          </a:p>
          <a:p>
            <a:r>
              <a:t>• Family engagement can be part of a school's systems, as well as its individual relationships.</a:t>
            </a:r>
          </a:p>
          <a:p>
            <a:r>
              <a:t>• First contact, meeting design, communication and follow-up are leadership concerns.</a:t>
            </a:r>
          </a:p>
          <a:p>
            <a:r>
              <a:t>• Access (interpreters, formats and timing) is part of making partnership fair for every family.</a:t>
            </a:r>
          </a:p>
          <a:p>
            <a:r>
              <a:t>• Asking families whether they feel heard is a practical way to check the system is working.</a:t>
            </a:r>
          </a:p>
          <a:p/>
          <a:p>
            <a:r>
              <a:t>KEEP IN MIND</a:t>
            </a:r>
          </a:p>
          <a:p>
            <a:r>
              <a:t>• Keep examples structural (norms, protocols, routines), rather than stories of one staff member doing it well or badly.</a:t>
            </a:r>
          </a:p>
          <a:p>
            <a:r>
              <a:t>• Do not name or blame staff. Where something depends on one person, treat that as a gap in the process.</a:t>
            </a:r>
          </a:p>
          <a:p/>
          <a:p>
            <a:r>
              <a:t>BACKGROUND</a:t>
            </a:r>
          </a:p>
          <a:p>
            <a:r>
              <a:t>Family engagement can be designed at school level: first-contact norms, meeting protocols that families help shape, and communication routines that continue when staff change. Interpreter access, meeting formats and flexible timing affect which families can take part. Schools can also check how it is working by asking families whether they feel heard.</a:t>
            </a:r>
          </a:p>
          <a:p/>
          <a:p>
            <a:r>
              <a:t>THREAD</a:t>
            </a:r>
          </a:p>
          <a:p>
            <a:r>
              <a:t>A family-engagement routine can sit in the Session 4 School change sheet, under "This year: what we will build" or "The strategic plan: what makes it last".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3 min  ·  2:28 - 2:31  ·  Participant Guide p.22 - Session 5 summary (Repairing trust)</a:t>
            </a:r>
          </a:p>
          <a:p/>
          <a:p>
            <a:r>
              <a:t>PURPOSE</a:t>
            </a:r>
          </a:p>
          <a:p>
            <a:r>
              <a:t>Explore how leaders can help reset a relationship with a family when trust has broken down.</a:t>
            </a:r>
          </a:p>
          <a:p/>
          <a:p>
            <a:r>
              <a:t>WHAT TO DO</a:t>
            </a:r>
          </a:p>
          <a:p>
            <a:r>
              <a:t>1. Read the opening line: when a relationship with a family has broken down, leaders can often help reset it. A teacher cannot always do this alone.</a:t>
            </a:r>
          </a:p>
          <a:p>
            <a:r>
              <a:t>2. Earlier experiences: explain that many families carry difficult experiences with schools over several years, not just with this teacher. Some arrive at a meeting expecting a difficult conversation before anything is said.</a:t>
            </a:r>
          </a:p>
          <a:p>
            <a:r>
              <a:t>3. Acknowledge: say plainly what went wrong, without defending the process.</a:t>
            </a:r>
          </a:p>
          <a:p>
            <a:r>
              <a:t>4. Listen first: hear the family's account before offering solutions.</a:t>
            </a:r>
          </a:p>
          <a:p>
            <a:r>
              <a:t>5. Agree a fresh start: a clear next step, who is responsible, and a follow-up date. Then follow through.</a:t>
            </a:r>
          </a:p>
          <a:p>
            <a:r>
              <a:t>6. Ask the group to think privately: What can a school acknowledge? What can it clarify? What can it change within its authority? What follow-through is possible?</a:t>
            </a:r>
          </a:p>
          <a:p>
            <a:r>
              <a:t>7. Point to the last line: repairing trust with families is part of a leader's role.</a:t>
            </a:r>
          </a:p>
          <a:p/>
          <a:p>
            <a:r>
              <a:t>YOU MIGHT SAY</a:t>
            </a:r>
          </a:p>
          <a:p>
            <a:r>
              <a:t>What can a school acknowledge, clarify, change and follow through?</a:t>
            </a:r>
          </a:p>
          <a:p/>
          <a:p>
            <a:r>
              <a:t>KEY MESSAGES</a:t>
            </a:r>
          </a:p>
          <a:p>
            <a:r>
              <a:t>• Trust repair depends on listening, acknowledgement and reliable follow-through.</a:t>
            </a:r>
          </a:p>
          <a:p>
            <a:r>
              <a:t>• Trust is mostly built in routine communication, so the basics on the previous slide help prevent breakdowns.</a:t>
            </a:r>
          </a:p>
          <a:p>
            <a:r>
              <a:t>• Trust repair cannot promise a particular outcome. It can promise a clear next step and a follow-up.</a:t>
            </a:r>
          </a:p>
          <a:p/>
          <a:p>
            <a:r>
              <a:t>KEEP IN MIND</a:t>
            </a:r>
          </a:p>
          <a:p>
            <a:r>
              <a:t>• Do not ask participants to describe a current dispute or invite the group to solve an identifiable case.</a:t>
            </a:r>
          </a:p>
          <a:p>
            <a:r>
              <a:t>• Some participants will have had hard encounters with families. Acknowledge that partnership works both ways, while keeping the focus on what the school can change.</a:t>
            </a:r>
          </a:p>
          <a:p>
            <a:r>
              <a:t>• Follow local complaints and escalation processes; this slide does not replace them.</a:t>
            </a:r>
          </a:p>
          <a:p/>
          <a:p>
            <a:r>
              <a:t>THREAD</a:t>
            </a:r>
          </a:p>
          <a:p>
            <a:r>
              <a:t>Builds on Family engagement by design (slide 5) and leads into power dynamics (slides 7 - 8).</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1D28A-B3EE-B2F8-2D9F-E38956BB4C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091FFC2E-1ACE-62A5-4072-FDF6F0EA09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704599CF-C943-D7C4-7811-263721D4555C}"/>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5" name="Footer Placeholder 4">
            <a:extLst>
              <a:ext uri="{FF2B5EF4-FFF2-40B4-BE49-F238E27FC236}">
                <a16:creationId xmlns:a16="http://schemas.microsoft.com/office/drawing/2014/main" id="{1EEF46FB-5BFF-6413-8DC9-C662D210F6D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93AE1BB-D8CC-E9DD-8F6F-D88C38DE89A5}"/>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12959101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E3CB4-060A-C51F-2EC8-354B364A60F0}"/>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43379BE2-E71C-D173-20F7-3DC235E13D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0F0FBE1-DEF4-01E6-B192-F54120AB1425}"/>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5" name="Footer Placeholder 4">
            <a:extLst>
              <a:ext uri="{FF2B5EF4-FFF2-40B4-BE49-F238E27FC236}">
                <a16:creationId xmlns:a16="http://schemas.microsoft.com/office/drawing/2014/main" id="{63D19024-81F6-B24D-2524-4A38F3C7340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67EF9EC-1F2C-3CE9-DEFE-2FF7BA77C9D1}"/>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4365733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AB6A3-2485-D4A0-889B-2A92728386D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5E0D3F2C-BD31-4AAE-2D0A-9FDF485296D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81D3BE7-495A-45AB-B509-EF0F34943E9B}"/>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5" name="Footer Placeholder 4">
            <a:extLst>
              <a:ext uri="{FF2B5EF4-FFF2-40B4-BE49-F238E27FC236}">
                <a16:creationId xmlns:a16="http://schemas.microsoft.com/office/drawing/2014/main" id="{40B1C35D-E99A-E291-987B-AF21274B258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0857903-8C9F-BACD-61B4-225B4ACBFE16}"/>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24931378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50A35-C5D0-A8D3-1ED0-DBF6C7038B53}"/>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50B0E58A-4B8D-2F6C-6CED-E77C340B9E9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731D8A72-9F1F-7780-A02A-6480C7F096D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65D4972C-A7FC-EEBF-EB80-07E12A45D2D0}"/>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6" name="Footer Placeholder 5">
            <a:extLst>
              <a:ext uri="{FF2B5EF4-FFF2-40B4-BE49-F238E27FC236}">
                <a16:creationId xmlns:a16="http://schemas.microsoft.com/office/drawing/2014/main" id="{B2E53512-D333-F27C-FA62-2D6D626AD1CC}"/>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2E326B4B-35FD-594C-461D-73FB077E727C}"/>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2149526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8FB18-6446-C345-2715-2FCD4BBD208B}"/>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CD51CA7F-8671-00FB-2759-AE7473DA2FD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5592E17-C65A-E73A-04CA-7B10C867F42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212DC5BF-9F4A-A4A9-2DCD-D39C08A7EE1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520E987-78C7-89E8-B39B-214F536731A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35BB3663-DCDB-9D47-2A05-8C8A1751BD15}"/>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8" name="Footer Placeholder 7">
            <a:extLst>
              <a:ext uri="{FF2B5EF4-FFF2-40B4-BE49-F238E27FC236}">
                <a16:creationId xmlns:a16="http://schemas.microsoft.com/office/drawing/2014/main" id="{9A1E0899-2FB9-D5F8-C7D9-6A64DF55DCD1}"/>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31B0A265-38DC-25F3-63F7-264C7CBC5749}"/>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11963312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5A0DD-9672-EA32-8499-5F359273C84D}"/>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77A619D4-673B-7869-BDA8-90EF6AE1A4FC}"/>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4" name="Footer Placeholder 3">
            <a:extLst>
              <a:ext uri="{FF2B5EF4-FFF2-40B4-BE49-F238E27FC236}">
                <a16:creationId xmlns:a16="http://schemas.microsoft.com/office/drawing/2014/main" id="{3DC3F31B-821F-4600-8E2D-5409A083DDD2}"/>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999563D0-06DF-DDC6-6DE6-F286B2AD4396}"/>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4911071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8C158A0-525F-DBD6-072B-A32480F33201}"/>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3" name="Footer Placeholder 2">
            <a:extLst>
              <a:ext uri="{FF2B5EF4-FFF2-40B4-BE49-F238E27FC236}">
                <a16:creationId xmlns:a16="http://schemas.microsoft.com/office/drawing/2014/main" id="{EC38CD13-2E9D-DA86-8592-84CB918BBA01}"/>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91326335-F22B-E001-C43D-596FB3594366}"/>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7939347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8F21E-74D4-6662-046B-D00B43AFFA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EE6EBDC0-FB04-159F-A56E-FCD49D6E2A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C14CC297-D38C-33F2-3923-309BA88C81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45D466-15C2-9CF9-49C4-908884E657CA}"/>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6" name="Footer Placeholder 5">
            <a:extLst>
              <a:ext uri="{FF2B5EF4-FFF2-40B4-BE49-F238E27FC236}">
                <a16:creationId xmlns:a16="http://schemas.microsoft.com/office/drawing/2014/main" id="{E51A267D-366B-4133-F6AE-178CB1C41310}"/>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D9CE10DC-6374-4602-A4F6-08445FF5D481}"/>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831698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0875E-4B02-5185-26A1-8AA35D4581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8A93C0B0-4CE7-414A-A922-9910F4AE40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0A186429-E09E-E274-D9B2-B9FF7D73DC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2BDFA4-C431-D3D2-E11D-6B0825CAC2E6}"/>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6" name="Footer Placeholder 5">
            <a:extLst>
              <a:ext uri="{FF2B5EF4-FFF2-40B4-BE49-F238E27FC236}">
                <a16:creationId xmlns:a16="http://schemas.microsoft.com/office/drawing/2014/main" id="{D68A784D-C53A-7D39-41EB-A5FAB54CAA0A}"/>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79DF602B-2F43-D06E-EEA1-A5842078DF46}"/>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24469654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BFF24-BA52-E356-2969-BBEC613C5B37}"/>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5FE647FD-F15F-0F7E-6331-911A43B458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F229ABCC-425E-F40B-430F-6DBE435D59CB}"/>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5" name="Footer Placeholder 4">
            <a:extLst>
              <a:ext uri="{FF2B5EF4-FFF2-40B4-BE49-F238E27FC236}">
                <a16:creationId xmlns:a16="http://schemas.microsoft.com/office/drawing/2014/main" id="{66ADAE07-2F6D-543D-8ADD-06E28BD16A3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6E3D450-00E6-5570-3748-99DB1FFF86AE}"/>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10784309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977934-68A4-5202-087B-135726E7E48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10513942-979E-AFC8-F6F0-1B745E88E91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ADD712E-6F85-5F6F-2C74-2CEEBD8D63A8}"/>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5" name="Footer Placeholder 4">
            <a:extLst>
              <a:ext uri="{FF2B5EF4-FFF2-40B4-BE49-F238E27FC236}">
                <a16:creationId xmlns:a16="http://schemas.microsoft.com/office/drawing/2014/main" id="{8B04549D-D6FE-6A64-0BA2-1D595DEB189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B8DA3E06-3B8D-A569-B398-19316245599C}"/>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38806237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F2001-A193-4D5D-A091-B92800E3CAF8}"/>
              </a:ext>
            </a:extLst>
          </p:cNvPr>
          <p:cNvSpPr>
            <a:spLocks noGrp="1"/>
          </p:cNvSpPr>
          <p:nvPr>
            <p:ph type="title"/>
          </p:nvPr>
        </p:nvSpPr>
        <p:spPr>
          <a:xfrm>
            <a:off x="695326" y="555852"/>
            <a:ext cx="10801350" cy="523220"/>
          </a:xfrm>
        </p:spPr>
        <p:txBody>
          <a:bodyPr/>
          <a:lstStyle>
            <a:lvl1pPr>
              <a:defRPr sz="4000"/>
            </a:lvl1pPr>
          </a:lstStyle>
          <a:p>
            <a:r>
              <a:rPr lang="en-US"/>
              <a:t>Click to edit Master title style</a:t>
            </a:r>
            <a:endParaRPr lang="en-AU"/>
          </a:p>
        </p:txBody>
      </p:sp>
    </p:spTree>
    <p:extLst>
      <p:ext uri="{BB962C8B-B14F-4D97-AF65-F5344CB8AC3E}">
        <p14:creationId xmlns:p14="http://schemas.microsoft.com/office/powerpoint/2010/main" val="2105043567"/>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A2D69F-858A-1B9A-29B7-9C2FE4AA8D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A8B2ED96-8E16-D26A-34FC-9612F0C054B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04CBCBF3-792B-3F72-232C-3BB15CC787F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5BF074C-1775-4CF3-9CFA-95D3818C63E7}" type="datetimeFigureOut">
              <a:rPr lang="en-AU" smtClean="0"/>
              <a:t>25/9/2026</a:t>
            </a:fld>
            <a:endParaRPr lang="en-AU"/>
          </a:p>
        </p:txBody>
      </p:sp>
      <p:sp>
        <p:nvSpPr>
          <p:cNvPr id="5" name="Footer Placeholder 4">
            <a:extLst>
              <a:ext uri="{FF2B5EF4-FFF2-40B4-BE49-F238E27FC236}">
                <a16:creationId xmlns:a16="http://schemas.microsoft.com/office/drawing/2014/main" id="{B22C0ED6-9CA2-5575-50F9-C6F846B015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FD4396C1-8D9B-39FF-FBFF-EAB2040EDBB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BAFDF43-DACD-40EF-801D-14F8956C6332}" type="slidenum">
              <a:rPr lang="en-AU" smtClean="0"/>
              <a:t>‹#›</a:t>
            </a:fld>
            <a:endParaRPr lang="en-AU"/>
          </a:p>
        </p:txBody>
      </p:sp>
    </p:spTree>
    <p:extLst>
      <p:ext uri="{BB962C8B-B14F-4D97-AF65-F5344CB8AC3E}">
        <p14:creationId xmlns:p14="http://schemas.microsoft.com/office/powerpoint/2010/main" val="16849307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Layout" Target="../slideLayouts/slideLayout7.xml"/><Relationship Id="rId3" Type="http://schemas.openxmlformats.org/officeDocument/2006/relationships/notesSlide" Target="../notesSlides/notesSlide1.xml"/><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microsoft.com/office/2018/10/relationships/comments" Target="../comments/modernComment_346_3E00D4D8.xml"/><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microsoft.com/office/2018/10/relationships/comments" Target="../comments/modernComment_34C_A86DA66C.xml"/><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7.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7.xml"/><Relationship Id="rId3" Type="http://schemas.openxmlformats.org/officeDocument/2006/relationships/notesSlide" Target="../notesSlides/notesSlide5.xml"/><Relationship Id="rId4" Type="http://schemas.openxmlformats.org/officeDocument/2006/relationships/image" Target="../media/image5.png"/><Relationship Id="rId5" Type="http://schemas.openxmlformats.org/officeDocument/2006/relationships/image" Target="../media/image6.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tags" Target="../tags/tag3.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slideLayout" Target="../slideLayouts/slideLayout12.xml"/><Relationship Id="rId5" Type="http://schemas.openxmlformats.org/officeDocument/2006/relationships/notesSlide" Target="../notesSlides/notesSlide7.xml"/><Relationship Id="rId6" Type="http://schemas.openxmlformats.org/officeDocument/2006/relationships/image" Target="../media/image7.svg"/><Relationship Id="rId7"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9.jpeg"/><Relationship Id="rId4" Type="http://schemas.openxmlformats.org/officeDocument/2006/relationships/image" Target="../media/image2.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0.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2.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Layout" Target="../slideLayouts/slideLayout1.xml"/><Relationship Id="rId3" Type="http://schemas.openxmlformats.org/officeDocument/2006/relationships/notesSlide" Target="../notesSlides/notesSlide16.xml"/><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jpeg"/><Relationship Id="rId8"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CD1B9-A570-DB32-424F-E4936D559176}"/>
            </a:ext>
          </a:extLst>
        </p:cNvPr>
        <p:cNvGrpSpPr/>
        <p:nvPr/>
      </p:nvGrpSpPr>
      <p:grpSpPr>
        <a:xfrm>
          <a:off x="0" y="0"/>
          <a:ext cx="0" cy="0"/>
          <a:chOff x="0" y="0"/>
          <a:chExt cx="0" cy="0"/>
        </a:xfrm>
      </p:grpSpPr>
      <p:sp>
        <p:nvSpPr>
          <p:cNvPr id="13" name="Oval 12"/>
          <p:cNvSpPr/>
          <p:nvPr/>
        </p:nvSpPr>
        <p:spPr>
          <a:xfrm>
            <a:off x="8549640" y="4663440"/>
            <a:ext cx="4873752" cy="4873752"/>
          </a:xfrm>
          <a:prstGeom prst="ellipse">
            <a:avLst/>
          </a:prstGeom>
          <a:solidFill>
            <a:srgbClr val="EDE8F8"/>
          </a:solidFill>
          <a:ln>
            <a:noFill/>
          </a:ln>
        </p:spPr>
        <p:txBody>
          <a:bodyPr rtlCol="0" anchor="ctr"/>
          <a:lstStyle/>
          <a:p>
            <a:pPr algn="ctr"/>
            <a:endParaRPr/>
          </a:p>
        </p:txBody>
      </p:sp>
      <p:pic>
        <p:nvPicPr>
          <p:cNvPr id="4" name="Picture 3">
            <a:extLst>
              <a:ext uri="{FF2B5EF4-FFF2-40B4-BE49-F238E27FC236}">
                <a16:creationId xmlns:a16="http://schemas.microsoft.com/office/drawing/2014/main" id="{FE5D2DEF-3A6F-22DF-DC11-FD415D02042D}"/>
              </a:ext>
            </a:extLst>
          </p:cNvPr>
          <p:cNvPicPr>
            <a:picLocks noChangeAspect="1"/>
          </p:cNvPicPr>
          <p:nvPr/>
        </p:nvPicPr>
        <p:blipFill>
          <a:blip r:embed="rId4">
            <a:extLst>
              <a:ext uri="{28A0092B-C50C-407E-A947-70E740481C1C}">
                <a14:useLocalDpi xmlns:a14="http://schemas.microsoft.com/office/drawing/2010/main" val="0"/>
              </a:ext>
            </a:extLst>
          </a:blip>
          <a:srcRect l="8535" r="8535"/>
          <a:stretch>
            <a:fillRect/>
          </a:stretch>
        </p:blipFill>
        <p:spPr>
          <a:xfrm>
            <a:off x="0" y="0"/>
            <a:ext cx="6766560" cy="6858000"/>
          </a:xfrm>
          <a:prstGeom prst="rect">
            <a:avLst/>
          </a:prstGeom>
          <a:scene3d>
            <a:camera prst="orthographicFront">
              <a:rot lat="0" lon="10800000" rev="0"/>
            </a:camera>
            <a:lightRig rig="threePt" dir="t"/>
          </a:scene3d>
        </p:spPr>
      </p:pic>
      <p:sp>
        <p:nvSpPr>
          <p:cNvPr id="12" name="Title 3">
            <a:extLst>
              <a:ext uri="{FF2B5EF4-FFF2-40B4-BE49-F238E27FC236}">
                <a16:creationId xmlns:a16="http://schemas.microsoft.com/office/drawing/2014/main" id="{1F7B0FA0-9D53-70A9-352A-BBC0EC34F991}"/>
              </a:ext>
            </a:extLst>
          </p:cNvPr>
          <p:cNvSpPr txBox="1">
            <a:spLocks/>
          </p:cNvSpPr>
          <p:nvPr/>
        </p:nvSpPr>
        <p:spPr>
          <a:xfrm>
            <a:off x="7269480" y="1097280"/>
            <a:ext cx="4297680" cy="4206240"/>
          </a:xfrm>
          <a:prstGeom prst="rect">
            <a:avLst/>
          </a:prstGeom>
          <a:solidFill>
            <a:schemeClr val="bg1"/>
          </a:solidFill>
        </p:spPr>
        <p:txBody>
          <a:bodyPr vert="horz" wrap="square" lIns="0" tIns="0" rIns="0" bIns="0" rtlCol="0" anchor="ctr">
            <a:noAutofit/>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indent="0" algn="l">
              <a:lnSpc>
                <a:spcPct val="100000"/>
              </a:lnSpc>
              <a:spcBef>
                <a:spcPts val="0"/>
              </a:spcBef>
              <a:buNone/>
            </a:pPr>
            <a:r>
              <a:rPr lang="en-AU" sz="1600" b="1" dirty="0">
                <a:solidFill>
                  <a:srgbClr val="584099"/>
                </a:solidFill>
                <a:latin typeface="Arial"/>
                <a:ea typeface="Arial"/>
                <a:cs typeface="Arial"/>
              </a:rPr>
              <a:t>School Leadership · Session 5</a:t>
            </a:r>
          </a:p>
          <a:p>
            <a:pPr marL="0" indent="0" algn="l">
              <a:lnSpc>
                <a:spcPct val="95000"/>
              </a:lnSpc>
              <a:spcBef>
                <a:spcPts val="1000"/>
              </a:spcBef>
              <a:buNone/>
            </a:pPr>
            <a:r>
              <a:rPr lang="en-AU" sz="3600" b="0" dirty="0">
                <a:solidFill>
                  <a:srgbClr val="584099"/>
                </a:solidFill>
                <a:latin typeface="Arial Black"/>
                <a:ea typeface="Arial Black"/>
                <a:cs typeface="Arial Black"/>
              </a:rPr>
              <a:t>Working in Partnership</a:t>
            </a:r>
          </a:p>
        </p:txBody>
      </p:sp>
    </p:spTree>
    <p:custDataLst>
      <p:tags r:id="rId1"/>
    </p:custDataLst>
    <p:extLst>
      <p:ext uri="{BB962C8B-B14F-4D97-AF65-F5344CB8AC3E}">
        <p14:creationId xmlns:p14="http://schemas.microsoft.com/office/powerpoint/2010/main" val="2715102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382F8-452B-88C6-A84D-650D7D2C348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5A4E05F-DA50-6B99-BED1-648587EBB414}"/>
              </a:ext>
            </a:extLst>
          </p:cNvPr>
          <p:cNvSpPr>
            <a:spLocks noGrp="1"/>
          </p:cNvSpPr>
          <p:nvPr>
            <p:ph type="title"/>
          </p:nvPr>
        </p:nvSpPr>
        <p:spPr>
          <a:xfrm>
            <a:off x="685800" y="457200"/>
            <a:ext cx="10789920" cy="777240"/>
          </a:xfrm>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Working in partnership</a:t>
            </a:r>
          </a:p>
        </p:txBody>
      </p:sp>
      <p:sp>
        <p:nvSpPr>
          <p:cNvPr id="6" name="Oval 5"/>
          <p:cNvSpPr/>
          <p:nvPr/>
        </p:nvSpPr>
        <p:spPr>
          <a:xfrm>
            <a:off x="1097280" y="1737360"/>
            <a:ext cx="3200400" cy="3200400"/>
          </a:xfrm>
          <a:prstGeom prst="ellipse">
            <a:avLst/>
          </a:prstGeom>
          <a:solidFill>
            <a:srgbClr val="C9BCE0">
              <a:alpha val="45000"/>
            </a:srgbClr>
          </a:solidFill>
          <a:ln w="19050">
            <a:solidFill>
              <a:srgbClr val="584099"/>
            </a:solidFill>
          </a:ln>
        </p:spPr>
        <p:txBody>
          <a:bodyPr rtlCol="0" anchor="ctr"/>
          <a:lstStyle/>
          <a:p>
            <a:pPr algn="ctr"/>
            <a:endParaRPr/>
          </a:p>
        </p:txBody>
      </p:sp>
      <p:sp>
        <p:nvSpPr>
          <p:cNvPr id="7" name="TextBox 6"/>
          <p:cNvSpPr txBox="1"/>
          <p:nvPr/>
        </p:nvSpPr>
        <p:spPr>
          <a:xfrm>
            <a:off x="1234440" y="2971800"/>
            <a:ext cx="2377440" cy="411480"/>
          </a:xfrm>
          <a:prstGeom prst="rect">
            <a:avLst/>
          </a:prstGeom>
          <a:noFill/>
        </p:spPr>
        <p:txBody>
          <a:bodyPr wrap="square" lIns="0" tIns="0" rIns="0" bIns="0" anchor="ctr">
            <a:noAutofit/>
          </a:bodyPr>
          <a:lstStyle/>
          <a:p>
            <a:pPr marL="0" indent="0" algn="ctr">
              <a:lnSpc>
                <a:spcPct val="100000"/>
              </a:lnSpc>
              <a:spcBef>
                <a:spcPts val="0"/>
              </a:spcBef>
              <a:buNone/>
            </a:pPr>
            <a:r>
              <a:rPr lang="en-AU" sz="1700" b="1">
                <a:solidFill>
                  <a:srgbClr val="3D2A6B"/>
                </a:solidFill>
                <a:latin typeface="Arial"/>
                <a:ea typeface="Arial"/>
                <a:cs typeface="Arial"/>
              </a:rPr>
              <a:t>Family</a:t>
            </a:r>
          </a:p>
        </p:txBody>
      </p:sp>
      <p:sp>
        <p:nvSpPr>
          <p:cNvPr id="8" name="Oval 7"/>
          <p:cNvSpPr/>
          <p:nvPr/>
        </p:nvSpPr>
        <p:spPr>
          <a:xfrm>
            <a:off x="2834640" y="1737360"/>
            <a:ext cx="3200400" cy="3200400"/>
          </a:xfrm>
          <a:prstGeom prst="ellipse">
            <a:avLst/>
          </a:prstGeom>
          <a:solidFill>
            <a:srgbClr val="C9BCE0">
              <a:alpha val="45000"/>
            </a:srgbClr>
          </a:solidFill>
          <a:ln w="19050">
            <a:solidFill>
              <a:srgbClr val="584099"/>
            </a:solidFill>
          </a:ln>
        </p:spPr>
        <p:txBody>
          <a:bodyPr rtlCol="0" anchor="ctr"/>
          <a:lstStyle/>
          <a:p>
            <a:pPr algn="ctr"/>
            <a:endParaRPr/>
          </a:p>
        </p:txBody>
      </p:sp>
      <p:sp>
        <p:nvSpPr>
          <p:cNvPr id="9" name="TextBox 8"/>
          <p:cNvSpPr txBox="1"/>
          <p:nvPr/>
        </p:nvSpPr>
        <p:spPr>
          <a:xfrm>
            <a:off x="3611880" y="2971800"/>
            <a:ext cx="2377440" cy="411480"/>
          </a:xfrm>
          <a:prstGeom prst="rect">
            <a:avLst/>
          </a:prstGeom>
          <a:noFill/>
        </p:spPr>
        <p:txBody>
          <a:bodyPr wrap="square" lIns="0" tIns="0" rIns="0" bIns="0" anchor="ctr">
            <a:noAutofit/>
          </a:bodyPr>
          <a:lstStyle/>
          <a:p>
            <a:pPr marL="0" indent="0" algn="ctr">
              <a:lnSpc>
                <a:spcPct val="100000"/>
              </a:lnSpc>
              <a:spcBef>
                <a:spcPts val="0"/>
              </a:spcBef>
              <a:buNone/>
            </a:pPr>
            <a:r>
              <a:rPr lang="en-AU" sz="1700" b="1">
                <a:solidFill>
                  <a:srgbClr val="3D2A6B"/>
                </a:solidFill>
                <a:latin typeface="Arial"/>
                <a:ea typeface="Arial"/>
                <a:cs typeface="Arial"/>
              </a:rPr>
              <a:t>School staff</a:t>
            </a:r>
          </a:p>
        </p:txBody>
      </p:sp>
      <p:sp>
        <p:nvSpPr>
          <p:cNvPr id="10" name="Oval 9"/>
          <p:cNvSpPr/>
          <p:nvPr/>
        </p:nvSpPr>
        <p:spPr>
          <a:xfrm>
            <a:off x="1965960" y="3154680"/>
            <a:ext cx="3200400" cy="3200400"/>
          </a:xfrm>
          <a:prstGeom prst="ellipse">
            <a:avLst/>
          </a:prstGeom>
          <a:solidFill>
            <a:srgbClr val="C9BCE0">
              <a:alpha val="45000"/>
            </a:srgbClr>
          </a:solidFill>
          <a:ln w="19050">
            <a:solidFill>
              <a:srgbClr val="584099"/>
            </a:solidFill>
          </a:ln>
        </p:spPr>
        <p:txBody>
          <a:bodyPr rtlCol="0" anchor="ctr"/>
          <a:lstStyle/>
          <a:p>
            <a:pPr algn="ctr"/>
            <a:endParaRPr/>
          </a:p>
        </p:txBody>
      </p:sp>
      <p:sp>
        <p:nvSpPr>
          <p:cNvPr id="11" name="TextBox 10"/>
          <p:cNvSpPr txBox="1"/>
          <p:nvPr/>
        </p:nvSpPr>
        <p:spPr>
          <a:xfrm>
            <a:off x="2377440" y="5303520"/>
            <a:ext cx="2377440" cy="411480"/>
          </a:xfrm>
          <a:prstGeom prst="rect">
            <a:avLst/>
          </a:prstGeom>
          <a:noFill/>
        </p:spPr>
        <p:txBody>
          <a:bodyPr wrap="square" lIns="0" tIns="0" rIns="0" bIns="0" anchor="ctr">
            <a:noAutofit/>
          </a:bodyPr>
          <a:lstStyle/>
          <a:p>
            <a:pPr marL="0" indent="0" algn="ctr">
              <a:lnSpc>
                <a:spcPct val="100000"/>
              </a:lnSpc>
              <a:spcBef>
                <a:spcPts val="0"/>
              </a:spcBef>
              <a:buNone/>
            </a:pPr>
            <a:r>
              <a:rPr lang="en-AU" sz="1700" b="1">
                <a:solidFill>
                  <a:srgbClr val="3D2A6B"/>
                </a:solidFill>
                <a:latin typeface="Arial"/>
                <a:ea typeface="Arial"/>
                <a:cs typeface="Arial"/>
              </a:rPr>
              <a:t>Paraprofessionals</a:t>
            </a:r>
          </a:p>
        </p:txBody>
      </p:sp>
      <p:sp>
        <p:nvSpPr>
          <p:cNvPr id="12" name="Oval 11"/>
          <p:cNvSpPr/>
          <p:nvPr/>
        </p:nvSpPr>
        <p:spPr>
          <a:xfrm>
            <a:off x="2890311" y="3337560"/>
            <a:ext cx="1316736" cy="640080"/>
          </a:xfrm>
          <a:prstGeom prst="ellipse">
            <a:avLst/>
          </a:prstGeom>
          <a:solidFill>
            <a:srgbClr val="584099"/>
          </a:solidFill>
          <a:ln>
            <a:noFill/>
          </a:ln>
        </p:spPr>
        <p:txBody>
          <a:bodyPr rtlCol="0" anchor="ctr"/>
          <a:lstStyle/>
          <a:p>
            <a:pPr algn="ctr"/>
            <a:endParaRPr/>
          </a:p>
        </p:txBody>
      </p:sp>
      <p:sp>
        <p:nvSpPr>
          <p:cNvPr id="14" name="Rounded Rectangle 13"/>
          <p:cNvSpPr/>
          <p:nvPr/>
        </p:nvSpPr>
        <p:spPr>
          <a:xfrm>
            <a:off x="6949440" y="1920240"/>
            <a:ext cx="4556455" cy="3291840"/>
          </a:xfrm>
          <a:prstGeom prst="roundRect">
            <a:avLst>
              <a:gd name="adj" fmla="val 8000"/>
            </a:avLst>
          </a:prstGeom>
          <a:solidFill>
            <a:srgbClr val="F3F0FA"/>
          </a:solidFill>
          <a:ln>
            <a:noFill/>
          </a:ln>
        </p:spPr>
        <p:txBody>
          <a:bodyPr rtlCol="0" anchor="ctr"/>
          <a:lstStyle/>
          <a:p>
            <a:pPr algn="ctr"/>
            <a:endParaRPr/>
          </a:p>
        </p:txBody>
      </p:sp>
      <p:pic>
        <p:nvPicPr>
          <p:cNvPr id="15" name="Discussion icon" descr="Speech bubbles"/>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69480" y="2240280"/>
            <a:ext cx="658368" cy="658368"/>
          </a:xfrm>
          <a:prstGeom prst="rect">
            <a:avLst/>
          </a:prstGeom>
        </p:spPr>
      </p:pic>
      <p:sp>
        <p:nvSpPr>
          <p:cNvPr id="16" name="TextBox 15"/>
          <p:cNvSpPr txBox="1"/>
          <p:nvPr/>
        </p:nvSpPr>
        <p:spPr>
          <a:xfrm>
            <a:off x="7269480" y="3017520"/>
            <a:ext cx="3931920" cy="2011680"/>
          </a:xfrm>
          <a:prstGeom prst="rect">
            <a:avLst/>
          </a:prstGeom>
          <a:noFill/>
        </p:spPr>
        <p:txBody>
          <a:bodyPr wrap="square" lIns="0" tIns="0" rIns="0" bIns="0" anchor="t">
            <a:noAutofit/>
          </a:bodyPr>
          <a:lstStyle/>
          <a:p>
            <a:pPr marL="0" indent="0" algn="l">
              <a:lnSpc>
                <a:spcPct val="105000"/>
              </a:lnSpc>
              <a:spcBef>
                <a:spcPts val="0"/>
              </a:spcBef>
              <a:buNone/>
            </a:pPr>
            <a:r>
              <a:rPr lang="en-AU" sz="2200" b="1">
                <a:solidFill>
                  <a:srgbClr val="3D2A6B"/>
                </a:solidFill>
                <a:latin typeface="Arial"/>
                <a:ea typeface="Arial"/>
                <a:cs typeface="Arial"/>
              </a:rPr>
              <a:t>What is the goal of these intersecting partnerships?</a:t>
            </a:r>
          </a:p>
          <a:p>
            <a:pPr marL="0" indent="0" algn="l">
              <a:lnSpc>
                <a:spcPct val="100000"/>
              </a:lnSpc>
              <a:spcBef>
                <a:spcPts val="1200"/>
              </a:spcBef>
              <a:buNone/>
            </a:pPr>
            <a:r>
              <a:rPr lang="en-AU" sz="1600" b="0">
                <a:solidFill>
                  <a:srgbClr val="2D2440"/>
                </a:solidFill>
                <a:latin typeface="Arial"/>
                <a:ea typeface="Arial"/>
                <a:cs typeface="Arial"/>
              </a:rPr>
              <a:t>Every partner brings different knowledge and a different relationship with the student.</a:t>
            </a:r>
          </a:p>
          <a:p>
            <a:pPr marL="0" indent="0" algn="l">
              <a:lnSpc>
                <a:spcPct val="100000"/>
              </a:lnSpc>
              <a:spcBef>
                <a:spcPts val="1200"/>
              </a:spcBef>
              <a:buNone/>
            </a:pPr>
            <a:r>
              <a:rPr lang="en-AU" sz="1600" b="1">
                <a:solidFill>
                  <a:srgbClr val="584099"/>
                </a:solidFill>
                <a:latin typeface="Arial"/>
                <a:ea typeface="Arial"/>
                <a:cs typeface="Arial"/>
              </a:rPr>
              <a:t>The student is at the centre of every partnership.</a:t>
            </a:r>
          </a:p>
        </p:txBody>
      </p:sp>
      <p:sp>
        <p:nvSpPr>
          <p:cNvPr id="2" name="TextBox 1">
            <a:extLst>
              <a:ext uri="{FF2B5EF4-FFF2-40B4-BE49-F238E27FC236}">
                <a16:creationId xmlns:a16="http://schemas.microsoft.com/office/drawing/2014/main" id="{C758B936-5435-16D0-6819-E05EF9A278A0}"/>
              </a:ext>
            </a:extLst>
          </p:cNvPr>
          <p:cNvSpPr txBox="1"/>
          <p:nvPr/>
        </p:nvSpPr>
        <p:spPr>
          <a:xfrm>
            <a:off x="2743200" y="3322768"/>
            <a:ext cx="1645920" cy="640080"/>
          </a:xfrm>
          <a:prstGeom prst="rect">
            <a:avLst/>
          </a:prstGeom>
          <a:noFill/>
        </p:spPr>
        <p:txBody>
          <a:bodyPr wrap="square" lIns="0" tIns="0" rIns="0" bIns="0" anchor="ctr">
            <a:noAutofit/>
          </a:bodyPr>
          <a:lstStyle/>
          <a:p>
            <a:pPr marL="0" indent="0" algn="ctr">
              <a:lnSpc>
                <a:spcPct val="100000"/>
              </a:lnSpc>
              <a:spcBef>
                <a:spcPts val="0"/>
              </a:spcBef>
              <a:buNone/>
            </a:pPr>
            <a:r>
              <a:rPr lang="en-AU" sz="1700" b="0">
                <a:solidFill>
                  <a:srgbClr val="FFFFFF"/>
                </a:solidFill>
                <a:latin typeface="Arial Black"/>
                <a:ea typeface="Arial Black"/>
                <a:cs typeface="Arial Black"/>
              </a:rPr>
              <a:t>Student</a:t>
            </a:r>
          </a:p>
        </p:txBody>
      </p:sp>
    </p:spTree>
    <p:extLst>
      <p:ext uri="{BB962C8B-B14F-4D97-AF65-F5344CB8AC3E}">
        <p14:creationId xmlns:p14="http://schemas.microsoft.com/office/powerpoint/2010/main" val="1040241880"/>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72A71-DB4E-97BC-3132-9E28665CA63F}"/>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EB504D76-083F-2200-C970-1C646DB25B35}"/>
              </a:ext>
            </a:extLst>
          </p:cNvPr>
          <p:cNvSpPr txBox="1"/>
          <p:nvPr/>
        </p:nvSpPr>
        <p:spPr>
          <a:xfrm>
            <a:off x="685800" y="457200"/>
            <a:ext cx="5445106" cy="1188720"/>
          </a:xfrm>
          <a:prstGeom prst="rect">
            <a:avLst/>
          </a:prstGeom>
          <a:solidFill>
            <a:schemeClr val="bg1"/>
          </a:solidFill>
        </p:spPr>
        <p:txBody>
          <a:bodyPr wrap="square" lIns="0" tIns="0" rIns="0" bIns="0" rtlCol="0" anchor="t">
            <a:noAutofit/>
          </a:bodyPr>
          <a:lstStyle/>
          <a:p>
            <a:pPr marL="0" indent="0" algn="l">
              <a:lnSpc>
                <a:spcPct val="95000"/>
              </a:lnSpc>
              <a:spcBef>
                <a:spcPts val="0"/>
              </a:spcBef>
              <a:buNone/>
            </a:pPr>
            <a:r>
              <a:rPr lang="en-AU" sz="3000" b="0">
                <a:solidFill>
                  <a:srgbClr val="584099"/>
                </a:solidFill>
                <a:latin typeface="Arial Black"/>
                <a:ea typeface="Arial Black"/>
                <a:cs typeface="Arial Black"/>
              </a:rPr>
              <a:t>Building a home-school partnership</a:t>
            </a:r>
          </a:p>
        </p:txBody>
      </p:sp>
      <p:pic>
        <p:nvPicPr>
          <p:cNvPr id="7" name="Picture 6">
            <a:extLst>
              <a:ext uri="{FF2B5EF4-FFF2-40B4-BE49-F238E27FC236}">
                <a16:creationId xmlns:a16="http://schemas.microsoft.com/office/drawing/2014/main" id="{5C0225A2-F084-EEFE-AA8A-46A192737F61}"/>
              </a:ext>
            </a:extLst>
          </p:cNvPr>
          <p:cNvPicPr>
            <a:picLocks noChangeAspect="1"/>
          </p:cNvPicPr>
          <p:nvPr/>
        </p:nvPicPr>
        <p:blipFill>
          <a:blip r:embed="rId3">
            <a:extLst>
              <a:ext uri="{28A0092B-C50C-407E-A947-70E740481C1C}">
                <a14:useLocalDpi xmlns:a14="http://schemas.microsoft.com/office/drawing/2010/main" val="0"/>
              </a:ext>
            </a:extLst>
          </a:blip>
          <a:srcRect l="3919" r="29143"/>
          <a:stretch>
            <a:fillRect/>
          </a:stretch>
        </p:blipFill>
        <p:spPr>
          <a:xfrm>
            <a:off x="6405226" y="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9" name="Rounded Rectangle 8"/>
          <p:cNvSpPr/>
          <p:nvPr/>
        </p:nvSpPr>
        <p:spPr>
          <a:xfrm>
            <a:off x="685800" y="1783080"/>
            <a:ext cx="5353666" cy="603504"/>
          </a:xfrm>
          <a:prstGeom prst="roundRect">
            <a:avLst>
              <a:gd name="adj" fmla="val 25000"/>
            </a:avLst>
          </a:prstGeom>
          <a:solidFill>
            <a:srgbClr val="F3F0FA"/>
          </a:solidFill>
          <a:ln>
            <a:noFill/>
          </a:ln>
        </p:spPr>
        <p:txBody>
          <a:bodyPr rtlCol="0" anchor="ctr"/>
          <a:lstStyle/>
          <a:p>
            <a:pPr algn="ctr"/>
            <a:endParaRPr/>
          </a:p>
        </p:txBody>
      </p:sp>
      <p:sp>
        <p:nvSpPr>
          <p:cNvPr id="10" name="TextBox 9"/>
          <p:cNvSpPr txBox="1"/>
          <p:nvPr/>
        </p:nvSpPr>
        <p:spPr>
          <a:xfrm>
            <a:off x="960120" y="1783080"/>
            <a:ext cx="4896466" cy="603504"/>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Parents and families are the first and continuing educators of their children</a:t>
            </a:r>
          </a:p>
        </p:txBody>
      </p:sp>
      <p:sp>
        <p:nvSpPr>
          <p:cNvPr id="11" name="Rounded Rectangle 10"/>
          <p:cNvSpPr/>
          <p:nvPr/>
        </p:nvSpPr>
        <p:spPr>
          <a:xfrm>
            <a:off x="685800" y="2478024"/>
            <a:ext cx="5353666" cy="603504"/>
          </a:xfrm>
          <a:prstGeom prst="roundRect">
            <a:avLst>
              <a:gd name="adj" fmla="val 25000"/>
            </a:avLst>
          </a:prstGeom>
          <a:solidFill>
            <a:srgbClr val="F3F0FA"/>
          </a:solidFill>
          <a:ln>
            <a:noFill/>
          </a:ln>
        </p:spPr>
        <p:txBody>
          <a:bodyPr rtlCol="0" anchor="ctr"/>
          <a:lstStyle/>
          <a:p>
            <a:pPr algn="ctr"/>
            <a:endParaRPr/>
          </a:p>
        </p:txBody>
      </p:sp>
      <p:sp>
        <p:nvSpPr>
          <p:cNvPr id="12" name="TextBox 11"/>
          <p:cNvSpPr txBox="1"/>
          <p:nvPr/>
        </p:nvSpPr>
        <p:spPr>
          <a:xfrm>
            <a:off x="960120" y="2478024"/>
            <a:ext cx="4896466" cy="603504"/>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Learning is lifelong and occurs in multiple settings</a:t>
            </a:r>
          </a:p>
        </p:txBody>
      </p:sp>
      <p:sp>
        <p:nvSpPr>
          <p:cNvPr id="13" name="Rounded Rectangle 12"/>
          <p:cNvSpPr/>
          <p:nvPr/>
        </p:nvSpPr>
        <p:spPr>
          <a:xfrm>
            <a:off x="685800" y="3172968"/>
            <a:ext cx="5353666" cy="603504"/>
          </a:xfrm>
          <a:prstGeom prst="roundRect">
            <a:avLst>
              <a:gd name="adj" fmla="val 25000"/>
            </a:avLst>
          </a:prstGeom>
          <a:solidFill>
            <a:srgbClr val="F3F0FA"/>
          </a:solidFill>
          <a:ln>
            <a:noFill/>
          </a:ln>
        </p:spPr>
        <p:txBody>
          <a:bodyPr rtlCol="0" anchor="ctr"/>
          <a:lstStyle/>
          <a:p>
            <a:pPr algn="ctr"/>
            <a:endParaRPr/>
          </a:p>
        </p:txBody>
      </p:sp>
      <p:sp>
        <p:nvSpPr>
          <p:cNvPr id="14" name="TextBox 13"/>
          <p:cNvSpPr txBox="1"/>
          <p:nvPr/>
        </p:nvSpPr>
        <p:spPr>
          <a:xfrm>
            <a:off x="960120" y="3172968"/>
            <a:ext cx="4896466" cy="603504"/>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Partnerships, schools and school communities flourish when the diversity and strengths of families are valued and leveraged</a:t>
            </a:r>
          </a:p>
        </p:txBody>
      </p:sp>
      <p:sp>
        <p:nvSpPr>
          <p:cNvPr id="15" name="Rounded Rectangle 14"/>
          <p:cNvSpPr/>
          <p:nvPr/>
        </p:nvSpPr>
        <p:spPr>
          <a:xfrm>
            <a:off x="685800" y="3867912"/>
            <a:ext cx="5353666" cy="603504"/>
          </a:xfrm>
          <a:prstGeom prst="roundRect">
            <a:avLst>
              <a:gd name="adj" fmla="val 25000"/>
            </a:avLst>
          </a:prstGeom>
          <a:solidFill>
            <a:srgbClr val="F3F0FA"/>
          </a:solidFill>
          <a:ln>
            <a:noFill/>
          </a:ln>
        </p:spPr>
        <p:txBody>
          <a:bodyPr rtlCol="0" anchor="ctr"/>
          <a:lstStyle/>
          <a:p>
            <a:pPr algn="ctr"/>
            <a:endParaRPr/>
          </a:p>
        </p:txBody>
      </p:sp>
      <p:sp>
        <p:nvSpPr>
          <p:cNvPr id="16" name="TextBox 15"/>
          <p:cNvSpPr txBox="1"/>
          <p:nvPr/>
        </p:nvSpPr>
        <p:spPr>
          <a:xfrm>
            <a:off x="960120" y="3867912"/>
            <a:ext cx="4896466" cy="603504"/>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Community engagement expands responsibility and resources</a:t>
            </a:r>
          </a:p>
        </p:txBody>
      </p:sp>
      <p:sp>
        <p:nvSpPr>
          <p:cNvPr id="17" name="Rounded Rectangle 16"/>
          <p:cNvSpPr/>
          <p:nvPr/>
        </p:nvSpPr>
        <p:spPr>
          <a:xfrm>
            <a:off x="685800" y="4562856"/>
            <a:ext cx="5353666" cy="603504"/>
          </a:xfrm>
          <a:prstGeom prst="roundRect">
            <a:avLst>
              <a:gd name="adj" fmla="val 25000"/>
            </a:avLst>
          </a:prstGeom>
          <a:solidFill>
            <a:srgbClr val="F3F0FA"/>
          </a:solidFill>
          <a:ln>
            <a:noFill/>
          </a:ln>
        </p:spPr>
        <p:txBody>
          <a:bodyPr rtlCol="0" anchor="ctr"/>
          <a:lstStyle/>
          <a:p>
            <a:pPr algn="ctr"/>
            <a:endParaRPr/>
          </a:p>
        </p:txBody>
      </p:sp>
      <p:sp>
        <p:nvSpPr>
          <p:cNvPr id="18" name="TextBox 17"/>
          <p:cNvSpPr txBox="1"/>
          <p:nvPr/>
        </p:nvSpPr>
        <p:spPr>
          <a:xfrm>
            <a:off x="960120" y="4562856"/>
            <a:ext cx="4896466" cy="603504"/>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Partnerships grow from mutual trust, respect and responsibility</a:t>
            </a:r>
          </a:p>
        </p:txBody>
      </p:sp>
      <p:sp>
        <p:nvSpPr>
          <p:cNvPr id="19" name="Rounded Rectangle 18"/>
          <p:cNvSpPr/>
          <p:nvPr/>
        </p:nvSpPr>
        <p:spPr>
          <a:xfrm>
            <a:off x="685800" y="5257800"/>
            <a:ext cx="5353666" cy="603504"/>
          </a:xfrm>
          <a:prstGeom prst="roundRect">
            <a:avLst>
              <a:gd name="adj" fmla="val 25000"/>
            </a:avLst>
          </a:prstGeom>
          <a:solidFill>
            <a:srgbClr val="F3F0FA"/>
          </a:solidFill>
          <a:ln>
            <a:noFill/>
          </a:ln>
        </p:spPr>
        <p:txBody>
          <a:bodyPr rtlCol="0" anchor="ctr"/>
          <a:lstStyle/>
          <a:p>
            <a:pPr algn="ctr"/>
            <a:endParaRPr/>
          </a:p>
        </p:txBody>
      </p:sp>
      <p:sp>
        <p:nvSpPr>
          <p:cNvPr id="20" name="TextBox 19"/>
          <p:cNvSpPr txBox="1"/>
          <p:nvPr/>
        </p:nvSpPr>
        <p:spPr>
          <a:xfrm>
            <a:off x="960120" y="5257800"/>
            <a:ext cx="4896466" cy="603504"/>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Partnerships need committed, collaborative and creative leadership</a:t>
            </a:r>
          </a:p>
        </p:txBody>
      </p:sp>
      <p:sp>
        <p:nvSpPr>
          <p:cNvPr id="21" name="TextBox 20"/>
          <p:cNvSpPr txBox="1"/>
          <p:nvPr/>
        </p:nvSpPr>
        <p:spPr>
          <a:xfrm>
            <a:off x="685800" y="5998464"/>
            <a:ext cx="5353666" cy="365760"/>
          </a:xfrm>
          <a:prstGeom prst="rect">
            <a:avLst/>
          </a:prstGeom>
          <a:noFill/>
        </p:spPr>
        <p:txBody>
          <a:bodyPr wrap="square" lIns="0" tIns="0" rIns="0" bIns="0" anchor="t">
            <a:noAutofit/>
          </a:bodyPr>
          <a:lstStyle/>
          <a:p>
            <a:pPr marL="0" indent="0" algn="l">
              <a:lnSpc>
                <a:spcPct val="100000"/>
              </a:lnSpc>
              <a:spcBef>
                <a:spcPts val="0"/>
              </a:spcBef>
              <a:buNone/>
            </a:pPr>
            <a:r>
              <a:rPr lang="en-AU" sz="1100" b="0">
                <a:solidFill>
                  <a:srgbClr val="5B5670"/>
                </a:solidFill>
                <a:latin typeface="Arial"/>
                <a:ea typeface="Arial"/>
                <a:cs typeface="Arial"/>
              </a:rPr>
              <a:t>Family-School Partnerships Framework, Department of Education, 2020</a:t>
            </a:r>
          </a:p>
        </p:txBody>
      </p:sp>
    </p:spTree>
    <p:extLst>
      <p:ext uri="{BB962C8B-B14F-4D97-AF65-F5344CB8AC3E}">
        <p14:creationId xmlns:p14="http://schemas.microsoft.com/office/powerpoint/2010/main" val="589710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9244D-510C-C6BB-761F-A461E115D58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67876DD-2B34-7063-87FE-E7FB353BEA9D}"/>
              </a:ext>
            </a:extLst>
          </p:cNvPr>
          <p:cNvSpPr>
            <a:spLocks noGrp="1"/>
          </p:cNvSpPr>
          <p:nvPr>
            <p:ph type="title"/>
          </p:nvPr>
        </p:nvSpPr>
        <p:spPr>
          <a:xfrm>
            <a:off x="685800" y="457200"/>
            <a:ext cx="10789920" cy="777240"/>
          </a:xfrm>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What is effective collaboration?</a:t>
            </a:r>
          </a:p>
        </p:txBody>
      </p:sp>
      <p:pic>
        <p:nvPicPr>
          <p:cNvPr id="3" name="Graphic 2" descr="Open hand with plant with solid fill">
            <a:extLst>
              <a:ext uri="{FF2B5EF4-FFF2-40B4-BE49-F238E27FC236}">
                <a16:creationId xmlns:a16="http://schemas.microsoft.com/office/drawing/2014/main" id="{3100122F-92D3-EF73-C7AD-7DFAAD7A4BF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32808" y="2148840"/>
            <a:ext cx="2926080" cy="2926080"/>
          </a:xfrm>
          <a:prstGeom prst="rect">
            <a:avLst/>
          </a:prstGeom>
        </p:spPr>
      </p:pic>
      <p:sp>
        <p:nvSpPr>
          <p:cNvPr id="23" name="Rounded Rectangle 22"/>
          <p:cNvSpPr/>
          <p:nvPr/>
        </p:nvSpPr>
        <p:spPr>
          <a:xfrm>
            <a:off x="685800" y="1737360"/>
            <a:ext cx="3931920" cy="731520"/>
          </a:xfrm>
          <a:prstGeom prst="roundRect">
            <a:avLst>
              <a:gd name="adj" fmla="val 25000"/>
            </a:avLst>
          </a:prstGeom>
          <a:solidFill>
            <a:srgbClr val="F3F0FA"/>
          </a:solidFill>
          <a:ln>
            <a:noFill/>
          </a:ln>
        </p:spPr>
        <p:txBody>
          <a:bodyPr rtlCol="0" anchor="ctr"/>
          <a:lstStyle/>
          <a:p>
            <a:pPr algn="ctr"/>
            <a:endParaRPr/>
          </a:p>
        </p:txBody>
      </p:sp>
      <p:sp>
        <p:nvSpPr>
          <p:cNvPr id="24" name="TextBox 23"/>
          <p:cNvSpPr txBox="1"/>
          <p:nvPr/>
        </p:nvSpPr>
        <p:spPr>
          <a:xfrm>
            <a:off x="960120" y="1737360"/>
            <a:ext cx="3383280" cy="7315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Shared goals</a:t>
            </a:r>
          </a:p>
        </p:txBody>
      </p:sp>
      <p:sp>
        <p:nvSpPr>
          <p:cNvPr id="25" name="Rounded Rectangle 24"/>
          <p:cNvSpPr/>
          <p:nvPr/>
        </p:nvSpPr>
        <p:spPr>
          <a:xfrm>
            <a:off x="685800" y="2624328"/>
            <a:ext cx="3931920" cy="731520"/>
          </a:xfrm>
          <a:prstGeom prst="roundRect">
            <a:avLst>
              <a:gd name="adj" fmla="val 25000"/>
            </a:avLst>
          </a:prstGeom>
          <a:solidFill>
            <a:srgbClr val="F3F0FA"/>
          </a:solidFill>
          <a:ln>
            <a:noFill/>
          </a:ln>
        </p:spPr>
        <p:txBody>
          <a:bodyPr rtlCol="0" anchor="ctr"/>
          <a:lstStyle/>
          <a:p>
            <a:pPr algn="ctr"/>
            <a:endParaRPr/>
          </a:p>
        </p:txBody>
      </p:sp>
      <p:sp>
        <p:nvSpPr>
          <p:cNvPr id="26" name="TextBox 25"/>
          <p:cNvSpPr txBox="1"/>
          <p:nvPr/>
        </p:nvSpPr>
        <p:spPr>
          <a:xfrm>
            <a:off x="960120" y="2624328"/>
            <a:ext cx="3383280" cy="7315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Shared values</a:t>
            </a:r>
          </a:p>
        </p:txBody>
      </p:sp>
      <p:sp>
        <p:nvSpPr>
          <p:cNvPr id="27" name="Rounded Rectangle 26"/>
          <p:cNvSpPr/>
          <p:nvPr/>
        </p:nvSpPr>
        <p:spPr>
          <a:xfrm>
            <a:off x="685800" y="3511296"/>
            <a:ext cx="3931920" cy="731520"/>
          </a:xfrm>
          <a:prstGeom prst="roundRect">
            <a:avLst>
              <a:gd name="adj" fmla="val 25000"/>
            </a:avLst>
          </a:prstGeom>
          <a:solidFill>
            <a:srgbClr val="F3F0FA"/>
          </a:solidFill>
          <a:ln>
            <a:noFill/>
          </a:ln>
        </p:spPr>
        <p:txBody>
          <a:bodyPr rtlCol="0" anchor="ctr"/>
          <a:lstStyle/>
          <a:p>
            <a:pPr algn="ctr"/>
            <a:endParaRPr/>
          </a:p>
        </p:txBody>
      </p:sp>
      <p:sp>
        <p:nvSpPr>
          <p:cNvPr id="28" name="TextBox 27"/>
          <p:cNvSpPr txBox="1"/>
          <p:nvPr/>
        </p:nvSpPr>
        <p:spPr>
          <a:xfrm>
            <a:off x="960120" y="3511296"/>
            <a:ext cx="3383280" cy="7315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Mutual trust and respect</a:t>
            </a:r>
          </a:p>
        </p:txBody>
      </p:sp>
      <p:sp>
        <p:nvSpPr>
          <p:cNvPr id="29" name="Rounded Rectangle 28"/>
          <p:cNvSpPr/>
          <p:nvPr/>
        </p:nvSpPr>
        <p:spPr>
          <a:xfrm>
            <a:off x="685800" y="4398264"/>
            <a:ext cx="3931920" cy="731520"/>
          </a:xfrm>
          <a:prstGeom prst="roundRect">
            <a:avLst>
              <a:gd name="adj" fmla="val 25000"/>
            </a:avLst>
          </a:prstGeom>
          <a:solidFill>
            <a:srgbClr val="F3F0FA"/>
          </a:solidFill>
          <a:ln>
            <a:noFill/>
          </a:ln>
        </p:spPr>
        <p:txBody>
          <a:bodyPr rtlCol="0" anchor="ctr"/>
          <a:lstStyle/>
          <a:p>
            <a:pPr algn="ctr"/>
            <a:endParaRPr/>
          </a:p>
        </p:txBody>
      </p:sp>
      <p:sp>
        <p:nvSpPr>
          <p:cNvPr id="30" name="TextBox 29"/>
          <p:cNvSpPr txBox="1"/>
          <p:nvPr/>
        </p:nvSpPr>
        <p:spPr>
          <a:xfrm>
            <a:off x="960120" y="4398264"/>
            <a:ext cx="3383280" cy="7315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Consult on decision-making</a:t>
            </a:r>
          </a:p>
        </p:txBody>
      </p:sp>
      <p:sp>
        <p:nvSpPr>
          <p:cNvPr id="31" name="Rounded Rectangle 30"/>
          <p:cNvSpPr/>
          <p:nvPr/>
        </p:nvSpPr>
        <p:spPr>
          <a:xfrm>
            <a:off x="7573975" y="1737360"/>
            <a:ext cx="3931920" cy="731520"/>
          </a:xfrm>
          <a:prstGeom prst="roundRect">
            <a:avLst>
              <a:gd name="adj" fmla="val 25000"/>
            </a:avLst>
          </a:prstGeom>
          <a:solidFill>
            <a:srgbClr val="F3F0FA"/>
          </a:solidFill>
          <a:ln>
            <a:noFill/>
          </a:ln>
        </p:spPr>
        <p:txBody>
          <a:bodyPr rtlCol="0" anchor="ctr"/>
          <a:lstStyle/>
          <a:p>
            <a:pPr algn="ctr"/>
            <a:endParaRPr/>
          </a:p>
        </p:txBody>
      </p:sp>
      <p:sp>
        <p:nvSpPr>
          <p:cNvPr id="32" name="TextBox 31"/>
          <p:cNvSpPr txBox="1"/>
          <p:nvPr/>
        </p:nvSpPr>
        <p:spPr>
          <a:xfrm>
            <a:off x="7848295" y="1737360"/>
            <a:ext cx="3383280" cy="7315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Seeing other perspectives</a:t>
            </a:r>
          </a:p>
        </p:txBody>
      </p:sp>
      <p:sp>
        <p:nvSpPr>
          <p:cNvPr id="33" name="Rounded Rectangle 32"/>
          <p:cNvSpPr/>
          <p:nvPr/>
        </p:nvSpPr>
        <p:spPr>
          <a:xfrm>
            <a:off x="7573975" y="2624328"/>
            <a:ext cx="3931920" cy="914400"/>
          </a:xfrm>
          <a:prstGeom prst="roundRect">
            <a:avLst>
              <a:gd name="adj" fmla="val 25000"/>
            </a:avLst>
          </a:prstGeom>
          <a:solidFill>
            <a:srgbClr val="F3F0FA"/>
          </a:solidFill>
          <a:ln>
            <a:noFill/>
          </a:ln>
        </p:spPr>
        <p:txBody>
          <a:bodyPr rtlCol="0" anchor="ctr"/>
          <a:lstStyle/>
          <a:p>
            <a:pPr algn="ctr"/>
            <a:endParaRPr/>
          </a:p>
        </p:txBody>
      </p:sp>
      <p:sp>
        <p:nvSpPr>
          <p:cNvPr id="34" name="TextBox 33"/>
          <p:cNvSpPr txBox="1"/>
          <p:nvPr/>
        </p:nvSpPr>
        <p:spPr>
          <a:xfrm>
            <a:off x="7848295" y="2624328"/>
            <a:ext cx="3383280" cy="914400"/>
          </a:xfrm>
          <a:prstGeom prst="rect">
            <a:avLst/>
          </a:prstGeom>
          <a:noFill/>
        </p:spPr>
        <p:txBody>
          <a:bodyPr wrap="square" lIns="0" tIns="0" rIns="0" bIns="0" anchor="ctr">
            <a:noAutofit/>
          </a:bodyPr>
          <a:lstStyle/>
          <a:p>
            <a:pPr marL="0" indent="0" algn="l">
              <a:lnSpc>
                <a:spcPct val="100000"/>
              </a:lnSpc>
              <a:spcBef>
                <a:spcPts val="0"/>
              </a:spcBef>
              <a:buNone/>
            </a:pPr>
            <a:r>
              <a:rPr lang="en-AU" sz="1700" b="1">
                <a:solidFill>
                  <a:srgbClr val="3D2A6B"/>
                </a:solidFill>
                <a:latin typeface="Arial"/>
                <a:ea typeface="Arial"/>
                <a:cs typeface="Arial"/>
              </a:rPr>
              <a:t>Invite curiosity: How could we work together for better learning outcomes?</a:t>
            </a:r>
          </a:p>
        </p:txBody>
      </p:sp>
      <p:sp>
        <p:nvSpPr>
          <p:cNvPr id="35" name="Rounded Rectangle 34"/>
          <p:cNvSpPr/>
          <p:nvPr/>
        </p:nvSpPr>
        <p:spPr>
          <a:xfrm>
            <a:off x="7573975" y="3694176"/>
            <a:ext cx="3931920" cy="731520"/>
          </a:xfrm>
          <a:prstGeom prst="roundRect">
            <a:avLst>
              <a:gd name="adj" fmla="val 25000"/>
            </a:avLst>
          </a:prstGeom>
          <a:solidFill>
            <a:srgbClr val="F3F0FA"/>
          </a:solidFill>
          <a:ln>
            <a:noFill/>
          </a:ln>
        </p:spPr>
        <p:txBody>
          <a:bodyPr rtlCol="0" anchor="ctr"/>
          <a:lstStyle/>
          <a:p>
            <a:pPr algn="ctr"/>
            <a:endParaRPr/>
          </a:p>
        </p:txBody>
      </p:sp>
      <p:sp>
        <p:nvSpPr>
          <p:cNvPr id="36" name="TextBox 35"/>
          <p:cNvSpPr txBox="1"/>
          <p:nvPr/>
        </p:nvSpPr>
        <p:spPr>
          <a:xfrm>
            <a:off x="7848295" y="3694176"/>
            <a:ext cx="3383280" cy="7315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Centring student voice</a:t>
            </a:r>
          </a:p>
        </p:txBody>
      </p:sp>
      <p:sp>
        <p:nvSpPr>
          <p:cNvPr id="37" name="Rounded Rectangle 36"/>
          <p:cNvSpPr/>
          <p:nvPr/>
        </p:nvSpPr>
        <p:spPr>
          <a:xfrm>
            <a:off x="7573975" y="4581144"/>
            <a:ext cx="3931920" cy="731520"/>
          </a:xfrm>
          <a:prstGeom prst="roundRect">
            <a:avLst>
              <a:gd name="adj" fmla="val 25000"/>
            </a:avLst>
          </a:prstGeom>
          <a:solidFill>
            <a:srgbClr val="F3F0FA"/>
          </a:solidFill>
          <a:ln>
            <a:noFill/>
          </a:ln>
        </p:spPr>
        <p:txBody>
          <a:bodyPr rtlCol="0" anchor="ctr"/>
          <a:lstStyle/>
          <a:p>
            <a:pPr algn="ctr"/>
            <a:endParaRPr/>
          </a:p>
        </p:txBody>
      </p:sp>
      <p:sp>
        <p:nvSpPr>
          <p:cNvPr id="38" name="TextBox 37"/>
          <p:cNvSpPr txBox="1"/>
          <p:nvPr/>
        </p:nvSpPr>
        <p:spPr>
          <a:xfrm>
            <a:off x="7848295" y="4581144"/>
            <a:ext cx="3383280" cy="7315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Assume good intent</a:t>
            </a:r>
          </a:p>
        </p:txBody>
      </p:sp>
    </p:spTree>
    <p:extLst>
      <p:ext uri="{BB962C8B-B14F-4D97-AF65-F5344CB8AC3E}">
        <p14:creationId xmlns:p14="http://schemas.microsoft.com/office/powerpoint/2010/main" val="2825758316"/>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Oval 2"/>
          <p:cNvSpPr/>
          <p:nvPr/>
        </p:nvSpPr>
        <p:spPr>
          <a:xfrm>
            <a:off x="8549640" y="3840480"/>
            <a:ext cx="4873752" cy="4873752"/>
          </a:xfrm>
          <a:prstGeom prst="ellipse">
            <a:avLst/>
          </a:prstGeom>
          <a:solidFill>
            <a:srgbClr val="EDE8F8"/>
          </a:solidFill>
          <a:ln>
            <a:noFill/>
          </a:ln>
        </p:spPr>
        <p:txBody>
          <a:bodyPr rtlCol="0" anchor="ctr"/>
          <a:lstStyle/>
          <a:p>
            <a:pPr algn="ctr"/>
          </a:p>
        </p:txBody>
      </p:sp>
      <p:sp>
        <p:nvSpPr>
          <p:cNvPr id="2" name="Title"/>
          <p:cNvSpPr txBox="1"/>
          <p:nvPr/>
        </p:nvSpPr>
        <p:spPr>
          <a:xfrm>
            <a:off x="685800" y="457200"/>
            <a:ext cx="10789920" cy="777240"/>
          </a:xfrm>
          <a:prstGeom prst="rect">
            <a:avLst/>
          </a:prstGeom>
          <a:noFill/>
        </p:spPr>
        <p:txBody>
          <a:bodyPr wrap="square" lIns="0" rIns="0" tIns="0" bIns="0" anchor="t">
            <a:noAutofit/>
          </a:bodyPr>
          <a:lstStyle/>
          <a:p>
            <a:pPr algn="l" marL="0" indent="0">
              <a:lnSpc>
                <a:spcPct val="95000"/>
              </a:lnSpc>
              <a:spcBef>
                <a:spcPts val="0"/>
              </a:spcBef>
              <a:buNone/>
            </a:pPr>
            <a:r>
              <a:rPr lang="en-AU" sz="3600" b="0">
                <a:solidFill>
                  <a:srgbClr val="584099"/>
                </a:solidFill>
                <a:latin typeface="Arial Black"/>
                <a:ea typeface="Arial Black"/>
                <a:cs typeface="Arial Black"/>
              </a:rPr>
              <a:t>Family engagement by design</a:t>
            </a:r>
          </a:p>
        </p:txBody>
      </p:sp>
      <p:sp>
        <p:nvSpPr>
          <p:cNvPr id="4" name="TextBox 3"/>
          <p:cNvSpPr txBox="1"/>
          <p:nvPr/>
        </p:nvSpPr>
        <p:spPr>
          <a:xfrm>
            <a:off x="685800" y="1325880"/>
            <a:ext cx="10789920" cy="54864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3D2A6B"/>
                </a:solidFill>
                <a:latin typeface="Arial"/>
                <a:ea typeface="Arial"/>
                <a:cs typeface="Arial"/>
              </a:rPr>
              <a:t>Families should not depend on which teacher they happen to get.</a:t>
            </a:r>
          </a:p>
        </p:txBody>
      </p:sp>
      <p:sp>
        <p:nvSpPr>
          <p:cNvPr id="5" name="Rounded Rectangle 4"/>
          <p:cNvSpPr/>
          <p:nvPr/>
        </p:nvSpPr>
        <p:spPr>
          <a:xfrm>
            <a:off x="685800" y="2103120"/>
            <a:ext cx="2554148" cy="2651760"/>
          </a:xfrm>
          <a:prstGeom prst="roundRect">
            <a:avLst>
              <a:gd name="adj" fmla="val 10000"/>
            </a:avLst>
          </a:prstGeom>
          <a:solidFill>
            <a:srgbClr val="F3F0FA"/>
          </a:solidFill>
          <a:ln>
            <a:noFill/>
          </a:ln>
        </p:spPr>
        <p:txBody>
          <a:bodyPr rtlCol="0" anchor="ctr"/>
          <a:lstStyle/>
          <a:p>
            <a:pPr algn="ctr"/>
          </a:p>
        </p:txBody>
      </p:sp>
      <p:sp>
        <p:nvSpPr>
          <p:cNvPr id="6" name="TextBox 5"/>
          <p:cNvSpPr txBox="1"/>
          <p:nvPr/>
        </p:nvSpPr>
        <p:spPr>
          <a:xfrm>
            <a:off x="960120" y="2377440"/>
            <a:ext cx="2005508" cy="219456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First contact</a:t>
            </a:r>
          </a:p>
          <a:p>
            <a:pPr algn="l" marL="0" indent="0">
              <a:lnSpc>
                <a:spcPct val="100000"/>
              </a:lnSpc>
              <a:spcBef>
                <a:spcPts val="800"/>
              </a:spcBef>
              <a:buNone/>
            </a:pPr>
            <a:r>
              <a:rPr lang="en-AU" sz="1600" b="0">
                <a:solidFill>
                  <a:srgbClr val="3D2A6B"/>
                </a:solidFill>
                <a:latin typeface="Arial"/>
                <a:ea typeface="Arial"/>
                <a:cs typeface="Arial"/>
              </a:rPr>
              <a:t>Make the first contact each term a positive one.</a:t>
            </a:r>
          </a:p>
        </p:txBody>
      </p:sp>
      <p:sp>
        <p:nvSpPr>
          <p:cNvPr id="7" name="Rounded Rectangle 6"/>
          <p:cNvSpPr/>
          <p:nvPr/>
        </p:nvSpPr>
        <p:spPr>
          <a:xfrm>
            <a:off x="3441116" y="2103120"/>
            <a:ext cx="2554148" cy="2651760"/>
          </a:xfrm>
          <a:prstGeom prst="roundRect">
            <a:avLst>
              <a:gd name="adj" fmla="val 10000"/>
            </a:avLst>
          </a:prstGeom>
          <a:solidFill>
            <a:srgbClr val="F3F0FA"/>
          </a:solidFill>
          <a:ln>
            <a:noFill/>
          </a:ln>
        </p:spPr>
        <p:txBody>
          <a:bodyPr rtlCol="0" anchor="ctr"/>
          <a:lstStyle/>
          <a:p>
            <a:pPr algn="ctr"/>
          </a:p>
        </p:txBody>
      </p:sp>
      <p:sp>
        <p:nvSpPr>
          <p:cNvPr id="8" name="TextBox 7"/>
          <p:cNvSpPr txBox="1"/>
          <p:nvPr/>
        </p:nvSpPr>
        <p:spPr>
          <a:xfrm>
            <a:off x="3715436" y="2377440"/>
            <a:ext cx="2005508" cy="219456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Meeting protocols</a:t>
            </a:r>
          </a:p>
          <a:p>
            <a:pPr algn="l" marL="0" indent="0">
              <a:lnSpc>
                <a:spcPct val="100000"/>
              </a:lnSpc>
              <a:spcBef>
                <a:spcPts val="800"/>
              </a:spcBef>
              <a:buNone/>
            </a:pPr>
            <a:r>
              <a:rPr lang="en-AU" sz="1600" b="0">
                <a:solidFill>
                  <a:srgbClr val="3D2A6B"/>
                </a:solidFill>
                <a:latin typeface="Arial"/>
                <a:ea typeface="Arial"/>
                <a:cs typeface="Arial"/>
              </a:rPr>
              <a:t>Shaped with families, so meetings work for them.</a:t>
            </a:r>
          </a:p>
        </p:txBody>
      </p:sp>
      <p:sp>
        <p:nvSpPr>
          <p:cNvPr id="9" name="Rounded Rectangle 8"/>
          <p:cNvSpPr/>
          <p:nvPr/>
        </p:nvSpPr>
        <p:spPr>
          <a:xfrm>
            <a:off x="6196432" y="2103120"/>
            <a:ext cx="2554148" cy="2651760"/>
          </a:xfrm>
          <a:prstGeom prst="roundRect">
            <a:avLst>
              <a:gd name="adj" fmla="val 10000"/>
            </a:avLst>
          </a:prstGeom>
          <a:solidFill>
            <a:srgbClr val="F3F0FA"/>
          </a:solidFill>
          <a:ln>
            <a:noFill/>
          </a:ln>
        </p:spPr>
        <p:txBody>
          <a:bodyPr rtlCol="0" anchor="ctr"/>
          <a:lstStyle/>
          <a:p>
            <a:pPr algn="ctr"/>
          </a:p>
        </p:txBody>
      </p:sp>
      <p:sp>
        <p:nvSpPr>
          <p:cNvPr id="10" name="TextBox 9"/>
          <p:cNvSpPr txBox="1"/>
          <p:nvPr/>
        </p:nvSpPr>
        <p:spPr>
          <a:xfrm>
            <a:off x="6470752" y="2377440"/>
            <a:ext cx="2005508" cy="219456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Communication that lasts</a:t>
            </a:r>
          </a:p>
          <a:p>
            <a:pPr algn="l" marL="0" indent="0">
              <a:lnSpc>
                <a:spcPct val="100000"/>
              </a:lnSpc>
              <a:spcBef>
                <a:spcPts val="800"/>
              </a:spcBef>
              <a:buNone/>
            </a:pPr>
            <a:r>
              <a:rPr lang="en-AU" sz="1600" b="0">
                <a:solidFill>
                  <a:srgbClr val="3D2A6B"/>
                </a:solidFill>
                <a:latin typeface="Arial"/>
                <a:ea typeface="Arial"/>
                <a:cs typeface="Arial"/>
              </a:rPr>
              <a:t>Routines that keep going when staff change.</a:t>
            </a:r>
          </a:p>
        </p:txBody>
      </p:sp>
      <p:sp>
        <p:nvSpPr>
          <p:cNvPr id="11" name="Rounded Rectangle 10"/>
          <p:cNvSpPr/>
          <p:nvPr/>
        </p:nvSpPr>
        <p:spPr>
          <a:xfrm>
            <a:off x="8951747" y="2103120"/>
            <a:ext cx="2554148" cy="2651760"/>
          </a:xfrm>
          <a:prstGeom prst="roundRect">
            <a:avLst>
              <a:gd name="adj" fmla="val 10000"/>
            </a:avLst>
          </a:prstGeom>
          <a:solidFill>
            <a:srgbClr val="F3F0FA"/>
          </a:solidFill>
          <a:ln>
            <a:noFill/>
          </a:ln>
        </p:spPr>
        <p:txBody>
          <a:bodyPr rtlCol="0" anchor="ctr"/>
          <a:lstStyle/>
          <a:p>
            <a:pPr algn="ctr"/>
          </a:p>
        </p:txBody>
      </p:sp>
      <p:sp>
        <p:nvSpPr>
          <p:cNvPr id="12" name="TextBox 11"/>
          <p:cNvSpPr txBox="1"/>
          <p:nvPr/>
        </p:nvSpPr>
        <p:spPr>
          <a:xfrm>
            <a:off x="9226067" y="2377440"/>
            <a:ext cx="2005508" cy="219456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Access</a:t>
            </a:r>
          </a:p>
          <a:p>
            <a:pPr algn="l" marL="0" indent="0">
              <a:lnSpc>
                <a:spcPct val="100000"/>
              </a:lnSpc>
              <a:spcBef>
                <a:spcPts val="800"/>
              </a:spcBef>
              <a:buNone/>
            </a:pPr>
            <a:r>
              <a:rPr lang="en-AU" sz="1600" b="0">
                <a:solidFill>
                  <a:srgbClr val="3D2A6B"/>
                </a:solidFill>
                <a:latin typeface="Arial"/>
                <a:ea typeface="Arial"/>
                <a:cs typeface="Arial"/>
              </a:rPr>
              <a:t>Interpreters, different meeting formats and flexible times.</a:t>
            </a:r>
          </a:p>
        </p:txBody>
      </p:sp>
      <p:sp>
        <p:nvSpPr>
          <p:cNvPr id="13" name="Rounded Rectangle 12"/>
          <p:cNvSpPr/>
          <p:nvPr/>
        </p:nvSpPr>
        <p:spPr>
          <a:xfrm>
            <a:off x="685800" y="5257800"/>
            <a:ext cx="10820095" cy="566928"/>
          </a:xfrm>
          <a:prstGeom prst="roundRect">
            <a:avLst>
              <a:gd name="adj" fmla="val 50000"/>
            </a:avLst>
          </a:prstGeom>
          <a:solidFill>
            <a:srgbClr val="FFFFFF"/>
          </a:solidFill>
          <a:ln w="19050">
            <a:solidFill>
              <a:srgbClr val="584099"/>
            </a:solidFill>
          </a:ln>
        </p:spPr>
        <p:txBody>
          <a:bodyPr rtlCol="0" anchor="ctr"/>
          <a:lstStyle/>
          <a:p>
            <a:pPr algn="ctr"/>
          </a:p>
        </p:txBody>
      </p:sp>
      <p:sp>
        <p:nvSpPr>
          <p:cNvPr id="14" name="TextBox 13"/>
          <p:cNvSpPr txBox="1"/>
          <p:nvPr/>
        </p:nvSpPr>
        <p:spPr>
          <a:xfrm>
            <a:off x="960120" y="5257800"/>
            <a:ext cx="10271455" cy="566928"/>
          </a:xfrm>
          <a:prstGeom prst="rect">
            <a:avLst/>
          </a:prstGeom>
          <a:noFill/>
        </p:spPr>
        <p:txBody>
          <a:bodyPr wrap="square" lIns="0" rIns="0" tIns="0" bIns="0" anchor="ctr">
            <a:noAutofit/>
          </a:bodyPr>
          <a:lstStyle/>
          <a:p>
            <a:pPr algn="ctr" marL="0" indent="0">
              <a:lnSpc>
                <a:spcPct val="100000"/>
              </a:lnSpc>
              <a:spcBef>
                <a:spcPts val="0"/>
              </a:spcBef>
              <a:buNone/>
            </a:pPr>
            <a:r>
              <a:rPr lang="en-AU" sz="1800" b="1">
                <a:solidFill>
                  <a:srgbClr val="584099"/>
                </a:solidFill>
                <a:latin typeface="Arial"/>
                <a:ea typeface="Arial"/>
                <a:cs typeface="Arial"/>
              </a:rPr>
              <a:t>Ask families whether they feel heard, and act on what they tell you.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Oval 2"/>
          <p:cNvSpPr/>
          <p:nvPr/>
        </p:nvSpPr>
        <p:spPr>
          <a:xfrm>
            <a:off x="8549640" y="3840480"/>
            <a:ext cx="4873752" cy="4873752"/>
          </a:xfrm>
          <a:prstGeom prst="ellipse">
            <a:avLst/>
          </a:prstGeom>
          <a:solidFill>
            <a:srgbClr val="EDE8F8"/>
          </a:solidFill>
          <a:ln>
            <a:noFill/>
          </a:ln>
        </p:spPr>
        <p:txBody>
          <a:bodyPr rtlCol="0" anchor="ctr"/>
          <a:lstStyle/>
          <a:p>
            <a:pPr algn="ctr"/>
          </a:p>
        </p:txBody>
      </p:sp>
      <p:sp>
        <p:nvSpPr>
          <p:cNvPr id="2" name="Title"/>
          <p:cNvSpPr txBox="1"/>
          <p:nvPr/>
        </p:nvSpPr>
        <p:spPr>
          <a:xfrm>
            <a:off x="685800" y="457200"/>
            <a:ext cx="10789920" cy="777240"/>
          </a:xfrm>
          <a:prstGeom prst="rect">
            <a:avLst/>
          </a:prstGeom>
          <a:noFill/>
        </p:spPr>
        <p:txBody>
          <a:bodyPr wrap="square" lIns="0" rIns="0" tIns="0" bIns="0" anchor="t">
            <a:noAutofit/>
          </a:bodyPr>
          <a:lstStyle/>
          <a:p>
            <a:pPr algn="l" marL="0" indent="0">
              <a:lnSpc>
                <a:spcPct val="95000"/>
              </a:lnSpc>
              <a:spcBef>
                <a:spcPts val="0"/>
              </a:spcBef>
              <a:buNone/>
            </a:pPr>
            <a:r>
              <a:rPr lang="en-AU" sz="3600" b="0">
                <a:solidFill>
                  <a:srgbClr val="584099"/>
                </a:solidFill>
                <a:latin typeface="Arial Black"/>
                <a:ea typeface="Arial Black"/>
                <a:cs typeface="Arial Black"/>
              </a:rPr>
              <a:t>Repairing trust</a:t>
            </a:r>
          </a:p>
        </p:txBody>
      </p:sp>
      <p:sp>
        <p:nvSpPr>
          <p:cNvPr id="4" name="TextBox 3"/>
          <p:cNvSpPr txBox="1"/>
          <p:nvPr/>
        </p:nvSpPr>
        <p:spPr>
          <a:xfrm>
            <a:off x="685800" y="1325880"/>
            <a:ext cx="10789920" cy="54864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3D2A6B"/>
                </a:solidFill>
                <a:latin typeface="Arial"/>
                <a:ea typeface="Arial"/>
                <a:cs typeface="Arial"/>
              </a:rPr>
              <a:t>When a relationship with a family has broken down, leaders can often help reset it.</a:t>
            </a:r>
          </a:p>
        </p:txBody>
      </p:sp>
      <p:sp>
        <p:nvSpPr>
          <p:cNvPr id="5" name="Rounded Rectangle 4"/>
          <p:cNvSpPr/>
          <p:nvPr/>
        </p:nvSpPr>
        <p:spPr>
          <a:xfrm>
            <a:off x="685800" y="2103120"/>
            <a:ext cx="2554148" cy="2651760"/>
          </a:xfrm>
          <a:prstGeom prst="roundRect">
            <a:avLst>
              <a:gd name="adj" fmla="val 10000"/>
            </a:avLst>
          </a:prstGeom>
          <a:solidFill>
            <a:srgbClr val="F3F0FA"/>
          </a:solidFill>
          <a:ln>
            <a:noFill/>
          </a:ln>
        </p:spPr>
        <p:txBody>
          <a:bodyPr rtlCol="0" anchor="ctr"/>
          <a:lstStyle/>
          <a:p>
            <a:pPr algn="ctr"/>
          </a:p>
        </p:txBody>
      </p:sp>
      <p:sp>
        <p:nvSpPr>
          <p:cNvPr id="6" name="TextBox 5"/>
          <p:cNvSpPr txBox="1"/>
          <p:nvPr/>
        </p:nvSpPr>
        <p:spPr>
          <a:xfrm>
            <a:off x="960120" y="2377440"/>
            <a:ext cx="2005508" cy="219456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Earlier experiences</a:t>
            </a:r>
          </a:p>
          <a:p>
            <a:pPr algn="l" marL="0" indent="0">
              <a:lnSpc>
                <a:spcPct val="100000"/>
              </a:lnSpc>
              <a:spcBef>
                <a:spcPts val="800"/>
              </a:spcBef>
              <a:buNone/>
            </a:pPr>
            <a:r>
              <a:rPr lang="en-AU" sz="1600" b="0">
                <a:solidFill>
                  <a:srgbClr val="3D2A6B"/>
                </a:solidFill>
                <a:latin typeface="Arial"/>
                <a:ea typeface="Arial"/>
                <a:cs typeface="Arial"/>
              </a:rPr>
              <a:t>Many families carry difficult experiences with schools, not just with this teacher.</a:t>
            </a:r>
          </a:p>
        </p:txBody>
      </p:sp>
      <p:sp>
        <p:nvSpPr>
          <p:cNvPr id="7" name="Rounded Rectangle 6"/>
          <p:cNvSpPr/>
          <p:nvPr/>
        </p:nvSpPr>
        <p:spPr>
          <a:xfrm>
            <a:off x="3441116" y="2103120"/>
            <a:ext cx="2554148" cy="2651760"/>
          </a:xfrm>
          <a:prstGeom prst="roundRect">
            <a:avLst>
              <a:gd name="adj" fmla="val 10000"/>
            </a:avLst>
          </a:prstGeom>
          <a:solidFill>
            <a:srgbClr val="F3F0FA"/>
          </a:solidFill>
          <a:ln>
            <a:noFill/>
          </a:ln>
        </p:spPr>
        <p:txBody>
          <a:bodyPr rtlCol="0" anchor="ctr"/>
          <a:lstStyle/>
          <a:p>
            <a:pPr algn="ctr"/>
          </a:p>
        </p:txBody>
      </p:sp>
      <p:sp>
        <p:nvSpPr>
          <p:cNvPr id="8" name="TextBox 7"/>
          <p:cNvSpPr txBox="1"/>
          <p:nvPr/>
        </p:nvSpPr>
        <p:spPr>
          <a:xfrm>
            <a:off x="3715436" y="2377440"/>
            <a:ext cx="2005508" cy="219456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Acknowledge</a:t>
            </a:r>
          </a:p>
          <a:p>
            <a:pPr algn="l" marL="0" indent="0">
              <a:lnSpc>
                <a:spcPct val="100000"/>
              </a:lnSpc>
              <a:spcBef>
                <a:spcPts val="800"/>
              </a:spcBef>
              <a:buNone/>
            </a:pPr>
            <a:r>
              <a:rPr lang="en-AU" sz="1600" b="0">
                <a:solidFill>
                  <a:srgbClr val="3D2A6B"/>
                </a:solidFill>
                <a:latin typeface="Arial"/>
                <a:ea typeface="Arial"/>
                <a:cs typeface="Arial"/>
              </a:rPr>
              <a:t>Say what went wrong, without defending the process.</a:t>
            </a:r>
          </a:p>
        </p:txBody>
      </p:sp>
      <p:sp>
        <p:nvSpPr>
          <p:cNvPr id="9" name="Rounded Rectangle 8"/>
          <p:cNvSpPr/>
          <p:nvPr/>
        </p:nvSpPr>
        <p:spPr>
          <a:xfrm>
            <a:off x="6196432" y="2103120"/>
            <a:ext cx="2554148" cy="2651760"/>
          </a:xfrm>
          <a:prstGeom prst="roundRect">
            <a:avLst>
              <a:gd name="adj" fmla="val 10000"/>
            </a:avLst>
          </a:prstGeom>
          <a:solidFill>
            <a:srgbClr val="F3F0FA"/>
          </a:solidFill>
          <a:ln>
            <a:noFill/>
          </a:ln>
        </p:spPr>
        <p:txBody>
          <a:bodyPr rtlCol="0" anchor="ctr"/>
          <a:lstStyle/>
          <a:p>
            <a:pPr algn="ctr"/>
          </a:p>
        </p:txBody>
      </p:sp>
      <p:sp>
        <p:nvSpPr>
          <p:cNvPr id="10" name="TextBox 9"/>
          <p:cNvSpPr txBox="1"/>
          <p:nvPr/>
        </p:nvSpPr>
        <p:spPr>
          <a:xfrm>
            <a:off x="6470752" y="2377440"/>
            <a:ext cx="2005508" cy="219456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Listen first</a:t>
            </a:r>
          </a:p>
          <a:p>
            <a:pPr algn="l" marL="0" indent="0">
              <a:lnSpc>
                <a:spcPct val="100000"/>
              </a:lnSpc>
              <a:spcBef>
                <a:spcPts val="800"/>
              </a:spcBef>
              <a:buNone/>
            </a:pPr>
            <a:r>
              <a:rPr lang="en-AU" sz="1600" b="0">
                <a:solidFill>
                  <a:srgbClr val="3D2A6B"/>
                </a:solidFill>
                <a:latin typeface="Arial"/>
                <a:ea typeface="Arial"/>
                <a:cs typeface="Arial"/>
              </a:rPr>
              <a:t>Hear the family before offering solutions.</a:t>
            </a:r>
          </a:p>
        </p:txBody>
      </p:sp>
      <p:sp>
        <p:nvSpPr>
          <p:cNvPr id="11" name="Rounded Rectangle 10"/>
          <p:cNvSpPr/>
          <p:nvPr/>
        </p:nvSpPr>
        <p:spPr>
          <a:xfrm>
            <a:off x="8951747" y="2103120"/>
            <a:ext cx="2554148" cy="2651760"/>
          </a:xfrm>
          <a:prstGeom prst="roundRect">
            <a:avLst>
              <a:gd name="adj" fmla="val 10000"/>
            </a:avLst>
          </a:prstGeom>
          <a:solidFill>
            <a:srgbClr val="F3F0FA"/>
          </a:solidFill>
          <a:ln>
            <a:noFill/>
          </a:ln>
        </p:spPr>
        <p:txBody>
          <a:bodyPr rtlCol="0" anchor="ctr"/>
          <a:lstStyle/>
          <a:p>
            <a:pPr algn="ctr"/>
          </a:p>
        </p:txBody>
      </p:sp>
      <p:sp>
        <p:nvSpPr>
          <p:cNvPr id="12" name="TextBox 11"/>
          <p:cNvSpPr txBox="1"/>
          <p:nvPr/>
        </p:nvSpPr>
        <p:spPr>
          <a:xfrm>
            <a:off x="9226067" y="2377440"/>
            <a:ext cx="2005508" cy="219456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Agree a fresh start</a:t>
            </a:r>
          </a:p>
          <a:p>
            <a:pPr algn="l" marL="0" indent="0">
              <a:lnSpc>
                <a:spcPct val="100000"/>
              </a:lnSpc>
              <a:spcBef>
                <a:spcPts val="800"/>
              </a:spcBef>
              <a:buNone/>
            </a:pPr>
            <a:r>
              <a:rPr lang="en-AU" sz="1600" b="0">
                <a:solidFill>
                  <a:srgbClr val="3D2A6B"/>
                </a:solidFill>
                <a:latin typeface="Arial"/>
                <a:ea typeface="Arial"/>
                <a:cs typeface="Arial"/>
              </a:rPr>
              <a:t>A clear next step, who is responsible, and a follow-up date.</a:t>
            </a:r>
          </a:p>
        </p:txBody>
      </p:sp>
      <p:sp>
        <p:nvSpPr>
          <p:cNvPr id="13" name="Rounded Rectangle 12"/>
          <p:cNvSpPr/>
          <p:nvPr/>
        </p:nvSpPr>
        <p:spPr>
          <a:xfrm>
            <a:off x="685800" y="5257800"/>
            <a:ext cx="10820095" cy="566928"/>
          </a:xfrm>
          <a:prstGeom prst="roundRect">
            <a:avLst>
              <a:gd name="adj" fmla="val 50000"/>
            </a:avLst>
          </a:prstGeom>
          <a:solidFill>
            <a:srgbClr val="FFFFFF"/>
          </a:solidFill>
          <a:ln w="19050">
            <a:solidFill>
              <a:srgbClr val="584099"/>
            </a:solidFill>
          </a:ln>
        </p:spPr>
        <p:txBody>
          <a:bodyPr rtlCol="0" anchor="ctr"/>
          <a:lstStyle/>
          <a:p>
            <a:pPr algn="ctr"/>
          </a:p>
        </p:txBody>
      </p:sp>
      <p:sp>
        <p:nvSpPr>
          <p:cNvPr id="14" name="TextBox 13"/>
          <p:cNvSpPr txBox="1"/>
          <p:nvPr/>
        </p:nvSpPr>
        <p:spPr>
          <a:xfrm>
            <a:off x="960120" y="5257800"/>
            <a:ext cx="10271455" cy="566928"/>
          </a:xfrm>
          <a:prstGeom prst="rect">
            <a:avLst/>
          </a:prstGeom>
          <a:noFill/>
        </p:spPr>
        <p:txBody>
          <a:bodyPr wrap="square" lIns="0" rIns="0" tIns="0" bIns="0" anchor="ctr">
            <a:noAutofit/>
          </a:bodyPr>
          <a:lstStyle/>
          <a:p>
            <a:pPr algn="ctr" marL="0" indent="0">
              <a:lnSpc>
                <a:spcPct val="100000"/>
              </a:lnSpc>
              <a:spcBef>
                <a:spcPts val="0"/>
              </a:spcBef>
              <a:buNone/>
            </a:pPr>
            <a:r>
              <a:rPr lang="en-AU" sz="1800" b="1">
                <a:solidFill>
                  <a:srgbClr val="584099"/>
                </a:solidFill>
                <a:latin typeface="Arial"/>
                <a:ea typeface="Arial"/>
                <a:cs typeface="Arial"/>
              </a:rPr>
              <a:t>Repairing trust with families is part of a leader's role.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40FC69C-54F3-05A7-B346-4E036CA9F2D3}"/>
              </a:ext>
            </a:extLst>
          </p:cNvPr>
          <p:cNvPicPr>
            <a:picLocks noChangeAspect="1"/>
          </p:cNvPicPr>
          <p:nvPr/>
        </p:nvPicPr>
        <p:blipFill>
          <a:blip r:embed="rId4"/>
          <a:stretch>
            <a:fillRect/>
          </a:stretch>
        </p:blipFill>
        <p:spPr>
          <a:xfrm>
            <a:off x="5078454" y="2003743"/>
            <a:ext cx="6608395" cy="3094461"/>
          </a:xfrm>
          <a:prstGeom prst="rect">
            <a:avLst/>
          </a:prstGeom>
        </p:spPr>
      </p:pic>
      <p:sp>
        <p:nvSpPr>
          <p:cNvPr id="3" name="Title 3">
            <a:extLst>
              <a:ext uri="{FF2B5EF4-FFF2-40B4-BE49-F238E27FC236}">
                <a16:creationId xmlns:a16="http://schemas.microsoft.com/office/drawing/2014/main" id="{017F69A2-4E80-48E0-BDCA-6D087D9DE7AF}"/>
              </a:ext>
            </a:extLst>
          </p:cNvPr>
          <p:cNvSpPr txBox="1">
            <a:spLocks/>
          </p:cNvSpPr>
          <p:nvPr/>
        </p:nvSpPr>
        <p:spPr>
          <a:xfrm>
            <a:off x="685800" y="457200"/>
            <a:ext cx="10789920" cy="777240"/>
          </a:xfrm>
          <a:prstGeom prst="rect">
            <a:avLst/>
          </a:prstGeom>
        </p:spPr>
        <p:txBody>
          <a:bodyPr wrap="square" lIns="0" tIns="0" rIns="0" bIns="0" anchor="t">
            <a:noAutofit/>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indent="0" algn="l">
              <a:lnSpc>
                <a:spcPct val="95000"/>
              </a:lnSpc>
              <a:spcBef>
                <a:spcPts val="0"/>
              </a:spcBef>
              <a:buNone/>
            </a:pPr>
            <a:r>
              <a:rPr lang="en-AU" sz="3600" b="0">
                <a:solidFill>
                  <a:srgbClr val="584099"/>
                </a:solidFill>
                <a:latin typeface="Arial Black"/>
                <a:ea typeface="Arial Black"/>
                <a:cs typeface="Arial Black"/>
              </a:rPr>
              <a:t>Power dynamics</a:t>
            </a:r>
          </a:p>
        </p:txBody>
      </p:sp>
      <p:sp>
        <p:nvSpPr>
          <p:cNvPr id="5" name="TextBox 4">
            <a:extLst>
              <a:ext uri="{FF2B5EF4-FFF2-40B4-BE49-F238E27FC236}">
                <a16:creationId xmlns:a16="http://schemas.microsoft.com/office/drawing/2014/main" id="{5C3E7BD3-ACD6-4A5D-B3A7-83716831489D}"/>
              </a:ext>
            </a:extLst>
          </p:cNvPr>
          <p:cNvSpPr txBox="1"/>
          <p:nvPr/>
        </p:nvSpPr>
        <p:spPr>
          <a:xfrm>
            <a:off x="9123426" y="4227460"/>
            <a:ext cx="1887474" cy="584775"/>
          </a:xfrm>
          <a:prstGeom prst="rect">
            <a:avLst/>
          </a:prstGeom>
          <a:noFill/>
        </p:spPr>
        <p:txBody>
          <a:bodyPr wrap="square" rtlCol="0">
            <a:spAutoFit/>
          </a:bodyPr>
          <a:lstStyle/>
          <a:p>
            <a:pPr algn="ctr"/>
            <a:r>
              <a:rPr lang="en-AU" sz="2000" b="1">
                <a:solidFill>
                  <a:srgbClr val="3D2A6B"/>
                </a:solidFill>
                <a:latin typeface="Arial Black" panose="020B0A04020102020204" pitchFamily="34" charset="0"/>
                <a:cs typeface="Arial" panose="020B0604020202020204" pitchFamily="34" charset="0"/>
              </a:rPr>
              <a:t>School</a:t>
            </a:r>
          </a:p>
        </p:txBody>
      </p:sp>
      <p:sp>
        <p:nvSpPr>
          <p:cNvPr id="8" name="TextBox 7">
            <a:extLst>
              <a:ext uri="{FF2B5EF4-FFF2-40B4-BE49-F238E27FC236}">
                <a16:creationId xmlns:a16="http://schemas.microsoft.com/office/drawing/2014/main" id="{A39AF474-49DB-4994-9B0B-E907B650A5BE}"/>
              </a:ext>
            </a:extLst>
          </p:cNvPr>
          <p:cNvSpPr txBox="1"/>
          <p:nvPr/>
        </p:nvSpPr>
        <p:spPr>
          <a:xfrm>
            <a:off x="5424419" y="4227461"/>
            <a:ext cx="1751167" cy="584775"/>
          </a:xfrm>
          <a:prstGeom prst="rect">
            <a:avLst/>
          </a:prstGeom>
          <a:noFill/>
        </p:spPr>
        <p:txBody>
          <a:bodyPr wrap="square" rtlCol="0">
            <a:spAutoFit/>
          </a:bodyPr>
          <a:lstStyle/>
          <a:p>
            <a:pPr algn="ctr"/>
            <a:r>
              <a:rPr lang="en-AU" sz="2000" b="1">
                <a:solidFill>
                  <a:srgbClr val="3D2A6B"/>
                </a:solidFill>
                <a:latin typeface="Arial Black" panose="020B0A04020102020204" pitchFamily="34" charset="0"/>
                <a:cs typeface="Arial" panose="020B0604020202020204" pitchFamily="34" charset="0"/>
              </a:rPr>
              <a:t>Home</a:t>
            </a:r>
          </a:p>
        </p:txBody>
      </p:sp>
      <p:pic>
        <p:nvPicPr>
          <p:cNvPr id="7" name="Graphic 6" descr="Confused person">
            <a:extLst>
              <a:ext uri="{FF2B5EF4-FFF2-40B4-BE49-F238E27FC236}">
                <a16:creationId xmlns:a16="http://schemas.microsoft.com/office/drawing/2014/main" id="{5436BB0C-EB1E-4C4A-A071-D6F24BFC669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502768" y="2132525"/>
            <a:ext cx="1503427" cy="1418449"/>
          </a:xfrm>
          <a:prstGeom prst="rect">
            <a:avLst/>
          </a:prstGeom>
        </p:spPr>
      </p:pic>
      <p:sp>
        <p:nvSpPr>
          <p:cNvPr id="9" name="TextBox 8">
            <a:extLst>
              <a:ext uri="{FF2B5EF4-FFF2-40B4-BE49-F238E27FC236}">
                <a16:creationId xmlns:a16="http://schemas.microsoft.com/office/drawing/2014/main" id="{FB9EA08C-CE5C-4006-A049-2F14C8C74149}"/>
              </a:ext>
            </a:extLst>
          </p:cNvPr>
          <p:cNvSpPr txBox="1"/>
          <p:nvPr/>
        </p:nvSpPr>
        <p:spPr>
          <a:xfrm>
            <a:off x="7255326" y="1283934"/>
            <a:ext cx="1998309" cy="584775"/>
          </a:xfrm>
          <a:prstGeom prst="rect">
            <a:avLst/>
          </a:prstGeom>
          <a:noFill/>
        </p:spPr>
        <p:txBody>
          <a:bodyPr wrap="square" rtlCol="0">
            <a:spAutoFit/>
          </a:bodyPr>
          <a:lstStyle/>
          <a:p>
            <a:pPr algn="ctr"/>
            <a:r>
              <a:rPr lang="en-AU" sz="2000" b="1">
                <a:solidFill>
                  <a:srgbClr val="3D2A6B"/>
                </a:solidFill>
                <a:latin typeface="Arial Black" panose="020B0A04020102020204" pitchFamily="34" charset="0"/>
                <a:cs typeface="Arial" panose="020B0604020202020204" pitchFamily="34" charset="0"/>
              </a:rPr>
              <a:t>Student</a:t>
            </a:r>
          </a:p>
        </p:txBody>
      </p:sp>
      <p:sp>
        <p:nvSpPr>
          <p:cNvPr id="11" name="TextBox 10"/>
          <p:cNvSpPr txBox="1"/>
          <p:nvPr/>
        </p:nvSpPr>
        <p:spPr>
          <a:xfrm>
            <a:off x="685800" y="1325880"/>
            <a:ext cx="4206240" cy="457200"/>
          </a:xfrm>
          <a:prstGeom prst="rect">
            <a:avLst/>
          </a:prstGeom>
          <a:noFill/>
        </p:spPr>
        <p:txBody>
          <a:bodyPr wrap="square" lIns="0" tIns="0" rIns="0" bIns="0" anchor="t">
            <a:noAutofit/>
          </a:bodyPr>
          <a:lstStyle/>
          <a:p>
            <a:pPr marL="0" indent="0" algn="l">
              <a:lnSpc>
                <a:spcPct val="100000"/>
              </a:lnSpc>
              <a:spcBef>
                <a:spcPts val="0"/>
              </a:spcBef>
              <a:buNone/>
            </a:pPr>
            <a:r>
              <a:rPr lang="en-AU" sz="2000" b="1">
                <a:solidFill>
                  <a:srgbClr val="3D2A6B"/>
                </a:solidFill>
                <a:latin typeface="Arial"/>
                <a:ea typeface="Arial"/>
                <a:cs typeface="Arial"/>
              </a:rPr>
              <a:t>Power can sit in:</a:t>
            </a:r>
          </a:p>
        </p:txBody>
      </p:sp>
      <p:sp>
        <p:nvSpPr>
          <p:cNvPr id="12" name="Rounded Rectangle 11"/>
          <p:cNvSpPr/>
          <p:nvPr/>
        </p:nvSpPr>
        <p:spPr>
          <a:xfrm>
            <a:off x="685800" y="1874520"/>
            <a:ext cx="4206240" cy="713232"/>
          </a:xfrm>
          <a:prstGeom prst="roundRect">
            <a:avLst>
              <a:gd name="adj" fmla="val 20000"/>
            </a:avLst>
          </a:prstGeom>
          <a:solidFill>
            <a:srgbClr val="F3F0FA"/>
          </a:solidFill>
          <a:ln>
            <a:noFill/>
          </a:ln>
        </p:spPr>
        <p:txBody>
          <a:bodyPr rtlCol="0" anchor="ctr"/>
          <a:lstStyle/>
          <a:p>
            <a:pPr algn="ctr"/>
            <a:endParaRPr/>
          </a:p>
        </p:txBody>
      </p:sp>
      <p:sp>
        <p:nvSpPr>
          <p:cNvPr id="13" name="TextBox 12"/>
          <p:cNvSpPr txBox="1"/>
          <p:nvPr/>
        </p:nvSpPr>
        <p:spPr>
          <a:xfrm>
            <a:off x="960120" y="1874520"/>
            <a:ext cx="3657600" cy="713232"/>
          </a:xfrm>
          <a:prstGeom prst="rect">
            <a:avLst/>
          </a:prstGeom>
          <a:noFill/>
        </p:spPr>
        <p:txBody>
          <a:bodyPr wrap="square" lIns="0" tIns="0" rIns="0" bIns="0" anchor="ctr">
            <a:noAutofit/>
          </a:bodyPr>
          <a:lstStyle/>
          <a:p>
            <a:pPr marL="0" indent="0" algn="l">
              <a:lnSpc>
                <a:spcPct val="100000"/>
              </a:lnSpc>
              <a:spcBef>
                <a:spcPts val="0"/>
              </a:spcBef>
              <a:buNone/>
            </a:pPr>
            <a:r>
              <a:rPr lang="en-AU" sz="1500" b="1">
                <a:solidFill>
                  <a:srgbClr val="3D2A6B"/>
                </a:solidFill>
                <a:latin typeface="Arial"/>
                <a:ea typeface="Arial"/>
                <a:cs typeface="Arial"/>
              </a:rPr>
              <a:t>Socio-economic status</a:t>
            </a:r>
          </a:p>
        </p:txBody>
      </p:sp>
      <p:sp>
        <p:nvSpPr>
          <p:cNvPr id="14" name="Rounded Rectangle 13"/>
          <p:cNvSpPr/>
          <p:nvPr/>
        </p:nvSpPr>
        <p:spPr>
          <a:xfrm>
            <a:off x="685800" y="2697480"/>
            <a:ext cx="4206240" cy="713232"/>
          </a:xfrm>
          <a:prstGeom prst="roundRect">
            <a:avLst>
              <a:gd name="adj" fmla="val 20000"/>
            </a:avLst>
          </a:prstGeom>
          <a:solidFill>
            <a:srgbClr val="F3F0FA"/>
          </a:solidFill>
          <a:ln>
            <a:noFill/>
          </a:ln>
        </p:spPr>
        <p:txBody>
          <a:bodyPr rtlCol="0" anchor="ctr"/>
          <a:lstStyle/>
          <a:p>
            <a:pPr algn="ctr"/>
            <a:endParaRPr/>
          </a:p>
        </p:txBody>
      </p:sp>
      <p:sp>
        <p:nvSpPr>
          <p:cNvPr id="15" name="TextBox 14"/>
          <p:cNvSpPr txBox="1"/>
          <p:nvPr/>
        </p:nvSpPr>
        <p:spPr>
          <a:xfrm>
            <a:off x="960120" y="2697480"/>
            <a:ext cx="3657600" cy="713232"/>
          </a:xfrm>
          <a:prstGeom prst="rect">
            <a:avLst/>
          </a:prstGeom>
          <a:noFill/>
        </p:spPr>
        <p:txBody>
          <a:bodyPr wrap="square" lIns="0" tIns="0" rIns="0" bIns="0" anchor="ctr">
            <a:noAutofit/>
          </a:bodyPr>
          <a:lstStyle/>
          <a:p>
            <a:pPr marL="0" indent="0" algn="l">
              <a:lnSpc>
                <a:spcPct val="100000"/>
              </a:lnSpc>
              <a:spcBef>
                <a:spcPts val="0"/>
              </a:spcBef>
              <a:buNone/>
            </a:pPr>
            <a:r>
              <a:rPr lang="en-AU" sz="1500" b="1">
                <a:solidFill>
                  <a:srgbClr val="3D2A6B"/>
                </a:solidFill>
                <a:latin typeface="Arial"/>
                <a:ea typeface="Arial"/>
                <a:cs typeface="Arial"/>
              </a:rPr>
              <a:t>Historical / cultural experiences of education</a:t>
            </a:r>
          </a:p>
        </p:txBody>
      </p:sp>
      <p:sp>
        <p:nvSpPr>
          <p:cNvPr id="16" name="Rounded Rectangle 15"/>
          <p:cNvSpPr/>
          <p:nvPr/>
        </p:nvSpPr>
        <p:spPr>
          <a:xfrm>
            <a:off x="685800" y="3520440"/>
            <a:ext cx="4206240" cy="713232"/>
          </a:xfrm>
          <a:prstGeom prst="roundRect">
            <a:avLst>
              <a:gd name="adj" fmla="val 20000"/>
            </a:avLst>
          </a:prstGeom>
          <a:solidFill>
            <a:srgbClr val="F3F0FA"/>
          </a:solidFill>
          <a:ln>
            <a:noFill/>
          </a:ln>
        </p:spPr>
        <p:txBody>
          <a:bodyPr rtlCol="0" anchor="ctr"/>
          <a:lstStyle/>
          <a:p>
            <a:pPr algn="ctr"/>
            <a:endParaRPr/>
          </a:p>
        </p:txBody>
      </p:sp>
      <p:sp>
        <p:nvSpPr>
          <p:cNvPr id="17" name="TextBox 16"/>
          <p:cNvSpPr txBox="1"/>
          <p:nvPr/>
        </p:nvSpPr>
        <p:spPr>
          <a:xfrm>
            <a:off x="960120" y="3520440"/>
            <a:ext cx="3657600" cy="713232"/>
          </a:xfrm>
          <a:prstGeom prst="rect">
            <a:avLst/>
          </a:prstGeom>
          <a:noFill/>
        </p:spPr>
        <p:txBody>
          <a:bodyPr wrap="square" lIns="0" tIns="0" rIns="0" bIns="0" anchor="ctr">
            <a:noAutofit/>
          </a:bodyPr>
          <a:lstStyle/>
          <a:p>
            <a:pPr marL="0" indent="0" algn="l">
              <a:lnSpc>
                <a:spcPct val="100000"/>
              </a:lnSpc>
              <a:spcBef>
                <a:spcPts val="0"/>
              </a:spcBef>
              <a:buNone/>
            </a:pPr>
            <a:r>
              <a:rPr lang="en-AU" sz="1500" b="1">
                <a:solidFill>
                  <a:srgbClr val="3D2A6B"/>
                </a:solidFill>
                <a:latin typeface="Arial"/>
                <a:ea typeface="Arial"/>
                <a:cs typeface="Arial"/>
              </a:rPr>
              <a:t>Speaking English vs speaking a language other than English</a:t>
            </a:r>
          </a:p>
        </p:txBody>
      </p:sp>
      <p:sp>
        <p:nvSpPr>
          <p:cNvPr id="18" name="Rounded Rectangle 17"/>
          <p:cNvSpPr/>
          <p:nvPr/>
        </p:nvSpPr>
        <p:spPr>
          <a:xfrm>
            <a:off x="685800" y="4343400"/>
            <a:ext cx="4206240" cy="713232"/>
          </a:xfrm>
          <a:prstGeom prst="roundRect">
            <a:avLst>
              <a:gd name="adj" fmla="val 20000"/>
            </a:avLst>
          </a:prstGeom>
          <a:solidFill>
            <a:srgbClr val="F3F0FA"/>
          </a:solidFill>
          <a:ln>
            <a:noFill/>
          </a:ln>
        </p:spPr>
        <p:txBody>
          <a:bodyPr rtlCol="0" anchor="ctr"/>
          <a:lstStyle/>
          <a:p>
            <a:pPr algn="ctr"/>
            <a:endParaRPr/>
          </a:p>
        </p:txBody>
      </p:sp>
      <p:sp>
        <p:nvSpPr>
          <p:cNvPr id="19" name="TextBox 18"/>
          <p:cNvSpPr txBox="1"/>
          <p:nvPr/>
        </p:nvSpPr>
        <p:spPr>
          <a:xfrm>
            <a:off x="960120" y="4343400"/>
            <a:ext cx="3657600" cy="713232"/>
          </a:xfrm>
          <a:prstGeom prst="rect">
            <a:avLst/>
          </a:prstGeom>
          <a:noFill/>
        </p:spPr>
        <p:txBody>
          <a:bodyPr wrap="square" lIns="0" tIns="0" rIns="0" bIns="0" anchor="ctr">
            <a:noAutofit/>
          </a:bodyPr>
          <a:lstStyle/>
          <a:p>
            <a:pPr marL="0" indent="0" algn="l">
              <a:lnSpc>
                <a:spcPct val="100000"/>
              </a:lnSpc>
              <a:spcBef>
                <a:spcPts val="0"/>
              </a:spcBef>
              <a:buNone/>
            </a:pPr>
            <a:r>
              <a:rPr lang="en-AU" sz="1500" b="1">
                <a:solidFill>
                  <a:srgbClr val="3D2A6B"/>
                </a:solidFill>
                <a:latin typeface="Arial"/>
                <a:ea typeface="Arial"/>
                <a:cs typeface="Arial"/>
              </a:rPr>
              <a:t>Pedagogy / understanding of school systems and curriculum</a:t>
            </a:r>
          </a:p>
        </p:txBody>
      </p:sp>
      <p:sp>
        <p:nvSpPr>
          <p:cNvPr id="20" name="Rounded Rectangle 19"/>
          <p:cNvSpPr/>
          <p:nvPr/>
        </p:nvSpPr>
        <p:spPr>
          <a:xfrm>
            <a:off x="685800" y="5166360"/>
            <a:ext cx="4206240" cy="713232"/>
          </a:xfrm>
          <a:prstGeom prst="roundRect">
            <a:avLst>
              <a:gd name="adj" fmla="val 20000"/>
            </a:avLst>
          </a:prstGeom>
          <a:solidFill>
            <a:srgbClr val="F3F0FA"/>
          </a:solidFill>
          <a:ln>
            <a:noFill/>
          </a:ln>
        </p:spPr>
        <p:txBody>
          <a:bodyPr rtlCol="0" anchor="ctr"/>
          <a:lstStyle/>
          <a:p>
            <a:pPr algn="ctr"/>
            <a:endParaRPr/>
          </a:p>
        </p:txBody>
      </p:sp>
      <p:sp>
        <p:nvSpPr>
          <p:cNvPr id="21" name="TextBox 20"/>
          <p:cNvSpPr txBox="1"/>
          <p:nvPr/>
        </p:nvSpPr>
        <p:spPr>
          <a:xfrm>
            <a:off x="960120" y="5166360"/>
            <a:ext cx="3657600" cy="713232"/>
          </a:xfrm>
          <a:prstGeom prst="rect">
            <a:avLst/>
          </a:prstGeom>
          <a:noFill/>
        </p:spPr>
        <p:txBody>
          <a:bodyPr wrap="square" lIns="0" tIns="0" rIns="0" bIns="0" anchor="ctr">
            <a:noAutofit/>
          </a:bodyPr>
          <a:lstStyle/>
          <a:p>
            <a:pPr marL="0" indent="0" algn="l">
              <a:lnSpc>
                <a:spcPct val="100000"/>
              </a:lnSpc>
              <a:spcBef>
                <a:spcPts val="0"/>
              </a:spcBef>
              <a:buNone/>
            </a:pPr>
            <a:r>
              <a:rPr lang="en-AU" sz="1500" b="1">
                <a:solidFill>
                  <a:srgbClr val="3D2A6B"/>
                </a:solidFill>
                <a:latin typeface="Arial"/>
                <a:ea typeface="Arial"/>
                <a:cs typeface="Arial"/>
              </a:rPr>
              <a:t>Perception of the importance / experience of school</a:t>
            </a:r>
          </a:p>
        </p:txBody>
      </p:sp>
    </p:spTree>
    <p:custDataLst>
      <p:tags r:id="rId1"/>
    </p:custDataLst>
    <p:extLst>
      <p:ext uri="{BB962C8B-B14F-4D97-AF65-F5344CB8AC3E}">
        <p14:creationId xmlns:p14="http://schemas.microsoft.com/office/powerpoint/2010/main" val="580302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repeatCount="indefinite" fill="hold" nodeType="withEffect">
                                  <p:stCondLst>
                                    <p:cond delay="0"/>
                                  </p:stCondLst>
                                  <p:childTnLst>
                                    <p:animRot by="120000">
                                      <p:cBhvr>
                                        <p:cTn id="6" dur="200" fill="hold">
                                          <p:stCondLst>
                                            <p:cond delay="0"/>
                                          </p:stCondLst>
                                        </p:cTn>
                                        <p:tgtEl>
                                          <p:spTgt spid="2"/>
                                        </p:tgtEl>
                                        <p:attrNameLst>
                                          <p:attrName>r</p:attrName>
                                        </p:attrNameLst>
                                      </p:cBhvr>
                                    </p:animRot>
                                    <p:animRot by="-240000">
                                      <p:cBhvr>
                                        <p:cTn id="7" dur="400" fill="hold">
                                          <p:stCondLst>
                                            <p:cond delay="400"/>
                                          </p:stCondLst>
                                        </p:cTn>
                                        <p:tgtEl>
                                          <p:spTgt spid="2"/>
                                        </p:tgtEl>
                                        <p:attrNameLst>
                                          <p:attrName>r</p:attrName>
                                        </p:attrNameLst>
                                      </p:cBhvr>
                                    </p:animRot>
                                    <p:animRot by="240000">
                                      <p:cBhvr>
                                        <p:cTn id="8" dur="400" fill="hold">
                                          <p:stCondLst>
                                            <p:cond delay="800"/>
                                          </p:stCondLst>
                                        </p:cTn>
                                        <p:tgtEl>
                                          <p:spTgt spid="2"/>
                                        </p:tgtEl>
                                        <p:attrNameLst>
                                          <p:attrName>r</p:attrName>
                                        </p:attrNameLst>
                                      </p:cBhvr>
                                    </p:animRot>
                                    <p:animRot by="-240000">
                                      <p:cBhvr>
                                        <p:cTn id="9" dur="400" fill="hold">
                                          <p:stCondLst>
                                            <p:cond delay="1200"/>
                                          </p:stCondLst>
                                        </p:cTn>
                                        <p:tgtEl>
                                          <p:spTgt spid="2"/>
                                        </p:tgtEl>
                                        <p:attrNameLst>
                                          <p:attrName>r</p:attrName>
                                        </p:attrNameLst>
                                      </p:cBhvr>
                                    </p:animRot>
                                    <p:animRot by="120000">
                                      <p:cBhvr>
                                        <p:cTn id="10" dur="400" fill="hold">
                                          <p:stCondLst>
                                            <p:cond delay="1600"/>
                                          </p:stCondLst>
                                        </p:cTn>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584099"/>
          </a:solidFill>
          <a:ln>
            <a:noFill/>
          </a:ln>
        </p:spPr>
        <p:txBody>
          <a:bodyPr rtlCol="0" anchor="ctr"/>
          <a:lstStyle/>
          <a:p>
            <a:pPr algn="ctr"/>
            <a:endParaRPr/>
          </a:p>
        </p:txBody>
      </p:sp>
      <p:sp>
        <p:nvSpPr>
          <p:cNvPr id="3" name="Oval 2"/>
          <p:cNvSpPr/>
          <p:nvPr/>
        </p:nvSpPr>
        <p:spPr>
          <a:xfrm>
            <a:off x="8138160" y="3291840"/>
            <a:ext cx="5669280" cy="5669280"/>
          </a:xfrm>
          <a:prstGeom prst="ellipse">
            <a:avLst/>
          </a:prstGeom>
          <a:solidFill>
            <a:srgbClr val="6A52AB"/>
          </a:solidFill>
          <a:ln>
            <a:noFill/>
          </a:ln>
        </p:spPr>
        <p:txBody>
          <a:bodyPr rtlCol="0" anchor="ctr"/>
          <a:lstStyle/>
          <a:p>
            <a:pPr algn="ctr"/>
            <a:endParaRPr/>
          </a:p>
        </p:txBody>
      </p:sp>
      <p:sp>
        <p:nvSpPr>
          <p:cNvPr id="4" name="Title"/>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600" b="0">
                <a:solidFill>
                  <a:srgbClr val="FFFFFF"/>
                </a:solidFill>
                <a:latin typeface="Arial Black"/>
                <a:ea typeface="Arial Black"/>
                <a:cs typeface="Arial Black"/>
              </a:rPr>
              <a:t>Power dynamics activity</a:t>
            </a:r>
          </a:p>
        </p:txBody>
      </p:sp>
      <p:sp>
        <p:nvSpPr>
          <p:cNvPr id="5" name="TextBox 4"/>
          <p:cNvSpPr txBox="1"/>
          <p:nvPr/>
        </p:nvSpPr>
        <p:spPr>
          <a:xfrm>
            <a:off x="685800" y="1325880"/>
            <a:ext cx="10058400" cy="548640"/>
          </a:xfrm>
          <a:prstGeom prst="rect">
            <a:avLst/>
          </a:prstGeom>
          <a:noFill/>
        </p:spPr>
        <p:txBody>
          <a:bodyPr wrap="square" lIns="0" tIns="0" rIns="0" bIns="0" anchor="t">
            <a:noAutofit/>
          </a:bodyPr>
          <a:lstStyle/>
          <a:p>
            <a:pPr marL="0" indent="0" algn="l">
              <a:lnSpc>
                <a:spcPct val="100000"/>
              </a:lnSpc>
              <a:spcBef>
                <a:spcPts val="0"/>
              </a:spcBef>
              <a:buNone/>
            </a:pPr>
            <a:r>
              <a:rPr lang="en-AU" sz="2200" b="1">
                <a:solidFill>
                  <a:srgbClr val="FFFFFF"/>
                </a:solidFill>
                <a:latin typeface="Arial"/>
                <a:ea typeface="Arial"/>
                <a:cs typeface="Arial"/>
              </a:rPr>
              <a:t>On Post-it notes:</a:t>
            </a:r>
          </a:p>
        </p:txBody>
      </p:sp>
      <p:sp>
        <p:nvSpPr>
          <p:cNvPr id="6" name="Oval 5"/>
          <p:cNvSpPr/>
          <p:nvPr/>
        </p:nvSpPr>
        <p:spPr>
          <a:xfrm>
            <a:off x="685800" y="2103120"/>
            <a:ext cx="457200" cy="457200"/>
          </a:xfrm>
          <a:prstGeom prst="ellipse">
            <a:avLst/>
          </a:prstGeom>
          <a:solidFill>
            <a:srgbClr val="584099"/>
          </a:solidFill>
          <a:ln w="22225">
            <a:solidFill>
              <a:srgbClr val="FFFFFF"/>
            </a:solidFill>
          </a:ln>
        </p:spPr>
        <p:txBody>
          <a:bodyPr rtlCol="0" anchor="ctr"/>
          <a:lstStyle/>
          <a:p>
            <a:pPr algn="ctr"/>
            <a:endParaRPr/>
          </a:p>
        </p:txBody>
      </p:sp>
      <p:sp>
        <p:nvSpPr>
          <p:cNvPr id="7" name="TextBox 6"/>
          <p:cNvSpPr txBox="1"/>
          <p:nvPr/>
        </p:nvSpPr>
        <p:spPr>
          <a:xfrm>
            <a:off x="685800" y="2103120"/>
            <a:ext cx="457200" cy="457200"/>
          </a:xfrm>
          <a:prstGeom prst="rect">
            <a:avLst/>
          </a:prstGeom>
          <a:noFill/>
        </p:spPr>
        <p:txBody>
          <a:bodyPr wrap="square" lIns="0" tIns="0" rIns="0" bIns="0" anchor="ctr">
            <a:noAutofit/>
          </a:bodyPr>
          <a:lstStyle/>
          <a:p>
            <a:pPr marL="0" indent="0" algn="ctr">
              <a:lnSpc>
                <a:spcPct val="100000"/>
              </a:lnSpc>
              <a:spcBef>
                <a:spcPts val="0"/>
              </a:spcBef>
              <a:buNone/>
            </a:pPr>
            <a:r>
              <a:rPr lang="en-AU" sz="1500" b="0">
                <a:solidFill>
                  <a:srgbClr val="FFFFFF"/>
                </a:solidFill>
                <a:latin typeface="Arial Black"/>
                <a:ea typeface="Arial Black"/>
                <a:cs typeface="Arial Black"/>
              </a:rPr>
              <a:t>1</a:t>
            </a:r>
          </a:p>
        </p:txBody>
      </p:sp>
      <p:sp>
        <p:nvSpPr>
          <p:cNvPr id="8" name="TextBox 7"/>
          <p:cNvSpPr txBox="1"/>
          <p:nvPr/>
        </p:nvSpPr>
        <p:spPr>
          <a:xfrm>
            <a:off x="1325880" y="1993392"/>
            <a:ext cx="9509760" cy="676656"/>
          </a:xfrm>
          <a:prstGeom prst="rect">
            <a:avLst/>
          </a:prstGeom>
          <a:noFill/>
        </p:spPr>
        <p:txBody>
          <a:bodyPr wrap="square" lIns="0" tIns="0" rIns="0" bIns="0" anchor="ctr">
            <a:noAutofit/>
          </a:bodyPr>
          <a:lstStyle/>
          <a:p>
            <a:pPr marL="0" indent="0" algn="l">
              <a:lnSpc>
                <a:spcPct val="100000"/>
              </a:lnSpc>
              <a:spcBef>
                <a:spcPts val="0"/>
              </a:spcBef>
              <a:buNone/>
            </a:pPr>
            <a:r>
              <a:rPr lang="en-AU" sz="2000" b="0">
                <a:solidFill>
                  <a:srgbClr val="E6E0F5"/>
                </a:solidFill>
                <a:latin typeface="Arial"/>
                <a:ea typeface="Arial"/>
                <a:cs typeface="Arial"/>
              </a:rPr>
              <a:t>Write an example of an imbalance in power dynamics from a home perspective.</a:t>
            </a:r>
          </a:p>
        </p:txBody>
      </p:sp>
      <p:sp>
        <p:nvSpPr>
          <p:cNvPr id="9" name="Oval 8"/>
          <p:cNvSpPr/>
          <p:nvPr/>
        </p:nvSpPr>
        <p:spPr>
          <a:xfrm>
            <a:off x="685800" y="2971800"/>
            <a:ext cx="457200" cy="457200"/>
          </a:xfrm>
          <a:prstGeom prst="ellipse">
            <a:avLst/>
          </a:prstGeom>
          <a:solidFill>
            <a:srgbClr val="584099"/>
          </a:solidFill>
          <a:ln w="22225">
            <a:solidFill>
              <a:srgbClr val="FFFFFF"/>
            </a:solidFill>
          </a:ln>
        </p:spPr>
        <p:txBody>
          <a:bodyPr rtlCol="0" anchor="ctr"/>
          <a:lstStyle/>
          <a:p>
            <a:pPr algn="ctr"/>
            <a:endParaRPr/>
          </a:p>
        </p:txBody>
      </p:sp>
      <p:sp>
        <p:nvSpPr>
          <p:cNvPr id="10" name="TextBox 9"/>
          <p:cNvSpPr txBox="1"/>
          <p:nvPr/>
        </p:nvSpPr>
        <p:spPr>
          <a:xfrm>
            <a:off x="685800" y="2971800"/>
            <a:ext cx="457200" cy="457200"/>
          </a:xfrm>
          <a:prstGeom prst="rect">
            <a:avLst/>
          </a:prstGeom>
          <a:noFill/>
        </p:spPr>
        <p:txBody>
          <a:bodyPr wrap="square" lIns="0" tIns="0" rIns="0" bIns="0" anchor="ctr">
            <a:noAutofit/>
          </a:bodyPr>
          <a:lstStyle/>
          <a:p>
            <a:pPr marL="0" indent="0" algn="ctr">
              <a:lnSpc>
                <a:spcPct val="100000"/>
              </a:lnSpc>
              <a:spcBef>
                <a:spcPts val="0"/>
              </a:spcBef>
              <a:buNone/>
            </a:pPr>
            <a:r>
              <a:rPr lang="en-AU" sz="1500" b="0">
                <a:solidFill>
                  <a:srgbClr val="FFFFFF"/>
                </a:solidFill>
                <a:latin typeface="Arial Black"/>
                <a:ea typeface="Arial Black"/>
                <a:cs typeface="Arial Black"/>
              </a:rPr>
              <a:t>2</a:t>
            </a:r>
          </a:p>
        </p:txBody>
      </p:sp>
      <p:sp>
        <p:nvSpPr>
          <p:cNvPr id="11" name="TextBox 10"/>
          <p:cNvSpPr txBox="1"/>
          <p:nvPr/>
        </p:nvSpPr>
        <p:spPr>
          <a:xfrm>
            <a:off x="1325880" y="2862072"/>
            <a:ext cx="9509760" cy="676656"/>
          </a:xfrm>
          <a:prstGeom prst="rect">
            <a:avLst/>
          </a:prstGeom>
          <a:noFill/>
        </p:spPr>
        <p:txBody>
          <a:bodyPr wrap="square" lIns="0" tIns="0" rIns="0" bIns="0" anchor="ctr">
            <a:noAutofit/>
          </a:bodyPr>
          <a:lstStyle/>
          <a:p>
            <a:pPr marL="0" indent="0" algn="l">
              <a:lnSpc>
                <a:spcPct val="100000"/>
              </a:lnSpc>
              <a:spcBef>
                <a:spcPts val="0"/>
              </a:spcBef>
              <a:buNone/>
            </a:pPr>
            <a:r>
              <a:rPr lang="en-AU" sz="2000" b="0">
                <a:solidFill>
                  <a:srgbClr val="E6E0F5"/>
                </a:solidFill>
                <a:latin typeface="Arial"/>
                <a:ea typeface="Arial"/>
                <a:cs typeface="Arial"/>
              </a:rPr>
              <a:t>Write an example of an imbalance in power dynamics from a school perspective.</a:t>
            </a:r>
          </a:p>
        </p:txBody>
      </p:sp>
      <p:sp>
        <p:nvSpPr>
          <p:cNvPr id="12" name="Oval 11"/>
          <p:cNvSpPr/>
          <p:nvPr/>
        </p:nvSpPr>
        <p:spPr>
          <a:xfrm>
            <a:off x="685800" y="3840480"/>
            <a:ext cx="457200" cy="457200"/>
          </a:xfrm>
          <a:prstGeom prst="ellipse">
            <a:avLst/>
          </a:prstGeom>
          <a:solidFill>
            <a:srgbClr val="584099"/>
          </a:solidFill>
          <a:ln w="22225">
            <a:solidFill>
              <a:srgbClr val="FFFFFF"/>
            </a:solidFill>
          </a:ln>
        </p:spPr>
        <p:txBody>
          <a:bodyPr rtlCol="0" anchor="ctr"/>
          <a:lstStyle/>
          <a:p>
            <a:pPr algn="ctr"/>
            <a:endParaRPr/>
          </a:p>
        </p:txBody>
      </p:sp>
      <p:sp>
        <p:nvSpPr>
          <p:cNvPr id="13" name="TextBox 12"/>
          <p:cNvSpPr txBox="1"/>
          <p:nvPr/>
        </p:nvSpPr>
        <p:spPr>
          <a:xfrm>
            <a:off x="685800" y="3840480"/>
            <a:ext cx="457200" cy="457200"/>
          </a:xfrm>
          <a:prstGeom prst="rect">
            <a:avLst/>
          </a:prstGeom>
          <a:noFill/>
        </p:spPr>
        <p:txBody>
          <a:bodyPr wrap="square" lIns="0" tIns="0" rIns="0" bIns="0" anchor="ctr">
            <a:noAutofit/>
          </a:bodyPr>
          <a:lstStyle/>
          <a:p>
            <a:pPr marL="0" indent="0" algn="ctr">
              <a:lnSpc>
                <a:spcPct val="100000"/>
              </a:lnSpc>
              <a:spcBef>
                <a:spcPts val="0"/>
              </a:spcBef>
              <a:buNone/>
            </a:pPr>
            <a:r>
              <a:rPr lang="en-AU" sz="1500" b="0">
                <a:solidFill>
                  <a:srgbClr val="FFFFFF"/>
                </a:solidFill>
                <a:latin typeface="Arial Black"/>
                <a:ea typeface="Arial Black"/>
                <a:cs typeface="Arial Black"/>
              </a:rPr>
              <a:t>3</a:t>
            </a:r>
          </a:p>
        </p:txBody>
      </p:sp>
      <p:sp>
        <p:nvSpPr>
          <p:cNvPr id="14" name="TextBox 13"/>
          <p:cNvSpPr txBox="1"/>
          <p:nvPr/>
        </p:nvSpPr>
        <p:spPr>
          <a:xfrm>
            <a:off x="1325880" y="3730752"/>
            <a:ext cx="9509760" cy="676656"/>
          </a:xfrm>
          <a:prstGeom prst="rect">
            <a:avLst/>
          </a:prstGeom>
          <a:noFill/>
        </p:spPr>
        <p:txBody>
          <a:bodyPr wrap="square" lIns="0" tIns="0" rIns="0" bIns="0" anchor="ctr">
            <a:noAutofit/>
          </a:bodyPr>
          <a:lstStyle/>
          <a:p>
            <a:pPr marL="0" indent="0" algn="l">
              <a:lnSpc>
                <a:spcPct val="100000"/>
              </a:lnSpc>
              <a:spcBef>
                <a:spcPts val="0"/>
              </a:spcBef>
              <a:buNone/>
            </a:pPr>
            <a:r>
              <a:rPr lang="en-AU" sz="2000" b="0">
                <a:solidFill>
                  <a:srgbClr val="E6E0F5"/>
                </a:solidFill>
                <a:latin typeface="Arial"/>
                <a:ea typeface="Arial"/>
                <a:cs typeface="Arial"/>
              </a:rPr>
              <a:t>Write how you could address these imbalances.</a:t>
            </a:r>
          </a:p>
        </p:txBody>
      </p:sp>
      <p:sp>
        <p:nvSpPr>
          <p:cNvPr id="15" name="TextBox 14"/>
          <p:cNvSpPr txBox="1"/>
          <p:nvPr/>
        </p:nvSpPr>
        <p:spPr>
          <a:xfrm>
            <a:off x="685800" y="4800600"/>
            <a:ext cx="10058400" cy="548640"/>
          </a:xfrm>
          <a:prstGeom prst="rect">
            <a:avLst/>
          </a:prstGeom>
          <a:noFill/>
        </p:spPr>
        <p:txBody>
          <a:bodyPr wrap="square" lIns="0" tIns="0" rIns="0" bIns="0" anchor="t">
            <a:noAutofit/>
          </a:bodyPr>
          <a:lstStyle/>
          <a:p>
            <a:pPr marL="0" indent="0" algn="l">
              <a:lnSpc>
                <a:spcPct val="100000"/>
              </a:lnSpc>
              <a:spcBef>
                <a:spcPts val="0"/>
              </a:spcBef>
              <a:buNone/>
            </a:pPr>
            <a:r>
              <a:rPr lang="en-AU" sz="1700" b="0">
                <a:solidFill>
                  <a:srgbClr val="E6E0F5"/>
                </a:solidFill>
                <a:latin typeface="Arial"/>
                <a:ea typeface="Arial"/>
                <a:cs typeface="Arial"/>
              </a:rPr>
              <a:t>Share at your table, or add your notes to the wall under Home, School and Solutions.</a:t>
            </a:r>
          </a:p>
        </p:txBody>
      </p:sp>
      <p:sp>
        <p:nvSpPr>
          <p:cNvPr id="16" name="Rounded Rectangle 15"/>
          <p:cNvSpPr/>
          <p:nvPr/>
        </p:nvSpPr>
        <p:spPr>
          <a:xfrm>
            <a:off x="685800" y="5669280"/>
            <a:ext cx="2103120" cy="548640"/>
          </a:xfrm>
          <a:prstGeom prst="roundRect">
            <a:avLst>
              <a:gd name="adj" fmla="val 50000"/>
            </a:avLst>
          </a:prstGeom>
          <a:solidFill>
            <a:srgbClr val="584099"/>
          </a:solidFill>
          <a:ln w="19050">
            <a:solidFill>
              <a:srgbClr val="FFFFFF"/>
            </a:solidFill>
          </a:ln>
        </p:spPr>
        <p:txBody>
          <a:bodyPr rtlCol="0" anchor="ctr"/>
          <a:lstStyle/>
          <a:p>
            <a:pPr algn="ctr"/>
            <a:endParaRPr/>
          </a:p>
        </p:txBody>
      </p:sp>
      <p:sp>
        <p:nvSpPr>
          <p:cNvPr id="17" name="TextBox 16"/>
          <p:cNvSpPr txBox="1"/>
          <p:nvPr/>
        </p:nvSpPr>
        <p:spPr>
          <a:xfrm>
            <a:off x="960120" y="5669280"/>
            <a:ext cx="1554480" cy="548640"/>
          </a:xfrm>
          <a:prstGeom prst="rect">
            <a:avLst/>
          </a:prstGeom>
          <a:noFill/>
        </p:spPr>
        <p:txBody>
          <a:bodyPr wrap="square" lIns="0" tIns="0" rIns="0" bIns="0" anchor="ctr">
            <a:noAutofit/>
          </a:bodyPr>
          <a:lstStyle/>
          <a:p>
            <a:pPr marL="0" indent="0" algn="ctr">
              <a:lnSpc>
                <a:spcPct val="100000"/>
              </a:lnSpc>
              <a:spcBef>
                <a:spcPts val="0"/>
              </a:spcBef>
              <a:buNone/>
            </a:pPr>
            <a:r>
              <a:rPr lang="en-AU" sz="1800" b="1">
                <a:solidFill>
                  <a:srgbClr val="FFFFFF"/>
                </a:solidFill>
                <a:latin typeface="Arial"/>
                <a:ea typeface="Arial"/>
                <a:cs typeface="Arial"/>
              </a:rPr>
              <a:t>6 minutes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Oval 12"/>
          <p:cNvSpPr/>
          <p:nvPr/>
        </p:nvSpPr>
        <p:spPr>
          <a:xfrm>
            <a:off x="9052560" y="3931920"/>
            <a:ext cx="5486400" cy="5486400"/>
          </a:xfrm>
          <a:prstGeom prst="ellipse">
            <a:avLst/>
          </a:prstGeom>
          <a:solidFill>
            <a:srgbClr val="EDE8F8"/>
          </a:solidFill>
          <a:ln>
            <a:noFill/>
          </a:ln>
        </p:spPr>
        <p:txBody>
          <a:bodyPr rtlCol="0" anchor="ctr"/>
          <a:lstStyle/>
          <a:p>
            <a:pPr algn="ctr"/>
            <a:endParaRPr/>
          </a:p>
        </p:txBody>
      </p:sp>
      <p:pic>
        <p:nvPicPr>
          <p:cNvPr id="11" name="Graphic 19">
            <a:extLst>
              <a:ext uri="{FF2B5EF4-FFF2-40B4-BE49-F238E27FC236}">
                <a16:creationId xmlns:a16="http://schemas.microsoft.com/office/drawing/2014/main" id="{5AADB8DD-F243-4F8D-BC60-11443AF4F579}"/>
              </a:ext>
            </a:extLst>
          </p:cNvPr>
          <p:cNvPicPr>
            <a:picLocks noChangeAspect="1"/>
          </p:cNvPicPr>
          <p:nvPr/>
        </p:nvPicPr>
        <p:blipFill>
          <a:blip cstate="hqprint">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85800" y="1551622"/>
            <a:ext cx="914400" cy="914400"/>
          </a:xfrm>
          <a:prstGeom prst="rect">
            <a:avLst/>
          </a:prstGeom>
        </p:spPr>
      </p:pic>
      <p:pic>
        <p:nvPicPr>
          <p:cNvPr id="9" name="Diversity_Self_care_slide_26">
            <a:hlinkClick r:id="" action="ppaction://media"/>
            <a:extLst>
              <a:ext uri="{FF2B5EF4-FFF2-40B4-BE49-F238E27FC236}">
                <a16:creationId xmlns:a16="http://schemas.microsoft.com/office/drawing/2014/main" id="{2528EEDD-2764-4D95-BAB4-AC44ACE96B2B}"/>
              </a:ext>
            </a:extLst>
          </p:cNvPr>
          <p:cNvPicPr>
            <a:picLocks noChangeAspect="1"/>
          </p:cNvPicPr>
          <p:nvPr>
            <a:videoFile r:link="rId3"/>
            <p:extLst>
              <p:ext uri="{DAA4B4D4-6D71-4841-9C94-3DE7FCFB9230}">
                <p14:media xmlns:p14="http://schemas.microsoft.com/office/powerpoint/2010/main" r:embed="rId2"/>
              </p:ext>
            </p:extLst>
          </p:nvPr>
        </p:nvPicPr>
        <p:blipFill>
          <a:blip r:embed="rId7"/>
          <a:stretch>
            <a:fillRect/>
          </a:stretch>
        </p:blipFill>
        <p:spPr>
          <a:xfrm>
            <a:off x="4830775" y="1551622"/>
            <a:ext cx="6675120" cy="3754755"/>
          </a:xfrm>
          <a:prstGeom prst="roundRect">
            <a:avLst>
              <a:gd name="adj" fmla="val 5000"/>
            </a:avLst>
          </a:prstGeom>
        </p:spPr>
      </p:pic>
      <p:sp>
        <p:nvSpPr>
          <p:cNvPr id="14" name="Title"/>
          <p:cNvSpPr txBox="1"/>
          <p:nvPr/>
        </p:nvSpPr>
        <p:spPr>
          <a:xfrm>
            <a:off x="685800" y="2740342"/>
            <a:ext cx="3687775" cy="1463040"/>
          </a:xfrm>
          <a:prstGeom prst="rect">
            <a:avLst/>
          </a:prstGeom>
          <a:noFill/>
        </p:spPr>
        <p:txBody>
          <a:bodyPr wrap="square" lIns="0" tIns="0" rIns="0" bIns="0" anchor="t">
            <a:noAutofit/>
          </a:bodyPr>
          <a:lstStyle/>
          <a:p>
            <a:pPr marL="0" indent="0" algn="l">
              <a:lnSpc>
                <a:spcPct val="95000"/>
              </a:lnSpc>
              <a:spcBef>
                <a:spcPts val="0"/>
              </a:spcBef>
              <a:buNone/>
            </a:pPr>
            <a:r>
              <a:rPr lang="en-AU" sz="3000" b="0">
                <a:solidFill>
                  <a:srgbClr val="584099"/>
                </a:solidFill>
                <a:latin typeface="Arial Black"/>
                <a:ea typeface="Arial Black"/>
                <a:cs typeface="Arial Black"/>
              </a:rPr>
              <a:t>Student voice</a:t>
            </a:r>
          </a:p>
        </p:txBody>
      </p:sp>
      <p:sp>
        <p:nvSpPr>
          <p:cNvPr id="15" name="Rounded Rectangle 14"/>
          <p:cNvSpPr/>
          <p:nvPr/>
        </p:nvSpPr>
        <p:spPr>
          <a:xfrm>
            <a:off x="685800" y="4218242"/>
            <a:ext cx="3687775" cy="1088136"/>
          </a:xfrm>
          <a:prstGeom prst="roundRect">
            <a:avLst>
              <a:gd name="adj" fmla="val 10000"/>
            </a:avLst>
          </a:prstGeom>
          <a:solidFill>
            <a:srgbClr val="F3F0FA"/>
          </a:solidFill>
          <a:ln>
            <a:noFill/>
          </a:ln>
        </p:spPr>
        <p:txBody>
          <a:bodyPr rtlCol="0" anchor="ctr"/>
          <a:lstStyle/>
          <a:p>
            <a:pPr algn="ctr"/>
            <a:endParaRPr/>
          </a:p>
        </p:txBody>
      </p:sp>
      <p:sp>
        <p:nvSpPr>
          <p:cNvPr id="16" name="TextBox 15"/>
          <p:cNvSpPr txBox="1"/>
          <p:nvPr/>
        </p:nvSpPr>
        <p:spPr>
          <a:xfrm>
            <a:off x="914400" y="4218242"/>
            <a:ext cx="3230575" cy="1088136"/>
          </a:xfrm>
          <a:prstGeom prst="rect">
            <a:avLst/>
          </a:prstGeom>
          <a:noFill/>
        </p:spPr>
        <p:txBody>
          <a:bodyPr wrap="square" lIns="0" tIns="0" rIns="0" bIns="0" anchor="ctr">
            <a:noAutofit/>
          </a:bodyPr>
          <a:lstStyle/>
          <a:p>
            <a:pPr marL="0" indent="0" algn="l">
              <a:lnSpc>
                <a:spcPct val="100000"/>
              </a:lnSpc>
              <a:spcBef>
                <a:spcPts val="0"/>
              </a:spcBef>
              <a:buNone/>
            </a:pPr>
            <a:r>
              <a:rPr lang="en-AU" sz="1600" b="1">
                <a:solidFill>
                  <a:srgbClr val="3D2A6B"/>
                </a:solidFill>
                <a:latin typeface="Arial"/>
                <a:ea typeface="Arial"/>
                <a:cs typeface="Arial"/>
              </a:rPr>
              <a:t>What decisions were made, and who made them?</a:t>
            </a:r>
          </a:p>
          <a:p>
            <a:pPr marL="0" indent="0" algn="l">
              <a:lnSpc>
                <a:spcPct val="100000"/>
              </a:lnSpc>
              <a:spcBef>
                <a:spcPts val="400"/>
              </a:spcBef>
              <a:buNone/>
            </a:pPr>
            <a:r>
              <a:rPr lang="en-AU" sz="1600" b="1">
                <a:solidFill>
                  <a:srgbClr val="3D2A6B"/>
                </a:solidFill>
                <a:latin typeface="Arial"/>
                <a:ea typeface="Arial"/>
                <a:cs typeface="Arial"/>
              </a:rPr>
              <a:t>What impact did those decisions have on Adon?</a:t>
            </a:r>
          </a:p>
        </p:txBody>
      </p:sp>
    </p:spTree>
    <p:custDataLst>
      <p:tags r:id="rId1"/>
    </p:custDataLst>
    <p:extLst>
      <p:ext uri="{BB962C8B-B14F-4D97-AF65-F5344CB8AC3E}">
        <p14:creationId xmlns:p14="http://schemas.microsoft.com/office/powerpoint/2010/main" val="3747052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11000"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fullScrn="1">
              <p:cMediaNode vol="80000">
                <p:cTn id="7" fill="hold" display="0">
                  <p:stCondLst>
                    <p:cond delay="indefinite"/>
                  </p:stCondLst>
                </p:cTn>
                <p:tgtEl>
                  <p:spTgt spid="9"/>
                </p:tgtEl>
              </p:cMediaNode>
            </p:video>
            <p:seq concurrent="1" nextAc="seek">
              <p:cTn id="8" restart="whenNotActive" fill="hold" evtFilter="cancelBubble" nodeType="interactiveSeq">
                <p:stCondLst>
                  <p:cond evt="onClick" delay="0">
                    <p:tgtEl>
                      <p:spTgt spid="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9"/>
                                        </p:tgtEl>
                                      </p:cBhvr>
                                    </p:cmd>
                                  </p:childTnLst>
                                </p:cTn>
                              </p:par>
                            </p:childTnLst>
                          </p:cTn>
                        </p:par>
                      </p:childTnLst>
                    </p:cTn>
                  </p:par>
                </p:childTnLst>
              </p:cTn>
              <p:nextCondLst>
                <p:cond evt="onClick" delay="0">
                  <p:tgtEl>
                    <p:spTgt spid="9"/>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DC6C6-9BF4-BACA-5DF6-0792FC905A7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6555D9F-B869-6745-EE48-E0ACD4DE0054}"/>
              </a:ext>
            </a:extLst>
          </p:cNvPr>
          <p:cNvSpPr>
            <a:spLocks noGrp="1"/>
          </p:cNvSpPr>
          <p:nvPr>
            <p:ph type="title"/>
          </p:nvPr>
        </p:nvSpPr>
        <p:spPr>
          <a:xfrm>
            <a:off x="685800" y="457200"/>
            <a:ext cx="10789920" cy="777240"/>
          </a:xfrm>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Partnership activity</a:t>
            </a:r>
          </a:p>
        </p:txBody>
      </p:sp>
      <p:sp>
        <p:nvSpPr>
          <p:cNvPr id="6" name="TextBox 5"/>
          <p:cNvSpPr txBox="1"/>
          <p:nvPr/>
        </p:nvSpPr>
        <p:spPr>
          <a:xfrm>
            <a:off x="685800" y="1325880"/>
            <a:ext cx="10789920" cy="548640"/>
          </a:xfrm>
          <a:prstGeom prst="rect">
            <a:avLst/>
          </a:prstGeom>
          <a:noFill/>
        </p:spPr>
        <p:txBody>
          <a:bodyPr wrap="square" lIns="0" tIns="0" rIns="0" bIns="0" anchor="t">
            <a:noAutofit/>
          </a:bodyPr>
          <a:lstStyle/>
          <a:p>
            <a:pPr marL="0" indent="0" algn="l">
              <a:lnSpc>
                <a:spcPct val="100000"/>
              </a:lnSpc>
              <a:spcBef>
                <a:spcPts val="0"/>
              </a:spcBef>
              <a:buNone/>
            </a:pPr>
            <a:r>
              <a:rPr lang="en-AU" sz="2100" b="1">
                <a:solidFill>
                  <a:srgbClr val="3D2A6B"/>
                </a:solidFill>
                <a:latin typeface="Arial"/>
                <a:ea typeface="Arial"/>
                <a:cs typeface="Arial"/>
              </a:rPr>
              <a:t>For each partner: what do they bring, and what challenges might they face?</a:t>
            </a:r>
          </a:p>
        </p:txBody>
      </p:sp>
      <p:sp>
        <p:nvSpPr>
          <p:cNvPr id="7" name="Rounded Rectangle 6"/>
          <p:cNvSpPr/>
          <p:nvPr/>
        </p:nvSpPr>
        <p:spPr>
          <a:xfrm>
            <a:off x="685800" y="2011680"/>
            <a:ext cx="2554148" cy="685800"/>
          </a:xfrm>
          <a:prstGeom prst="roundRect">
            <a:avLst>
              <a:gd name="adj" fmla="val 30000"/>
            </a:avLst>
          </a:prstGeom>
          <a:solidFill>
            <a:srgbClr val="584099"/>
          </a:solidFill>
          <a:ln>
            <a:noFill/>
          </a:ln>
        </p:spPr>
        <p:txBody>
          <a:bodyPr rtlCol="0" anchor="ctr"/>
          <a:lstStyle/>
          <a:p>
            <a:pPr algn="ctr"/>
            <a:endParaRPr/>
          </a:p>
        </p:txBody>
      </p:sp>
      <p:sp>
        <p:nvSpPr>
          <p:cNvPr id="8" name="TextBox 7"/>
          <p:cNvSpPr txBox="1"/>
          <p:nvPr/>
        </p:nvSpPr>
        <p:spPr>
          <a:xfrm>
            <a:off x="960120" y="2011680"/>
            <a:ext cx="2005508" cy="685800"/>
          </a:xfrm>
          <a:prstGeom prst="rect">
            <a:avLst/>
          </a:prstGeom>
          <a:noFill/>
        </p:spPr>
        <p:txBody>
          <a:bodyPr wrap="square" lIns="0" tIns="0" rIns="0" bIns="0" anchor="ctr">
            <a:noAutofit/>
          </a:bodyPr>
          <a:lstStyle/>
          <a:p>
            <a:pPr marL="0" indent="0" algn="ctr">
              <a:lnSpc>
                <a:spcPct val="100000"/>
              </a:lnSpc>
              <a:spcBef>
                <a:spcPts val="0"/>
              </a:spcBef>
              <a:buNone/>
            </a:pPr>
            <a:r>
              <a:rPr lang="en-AU" sz="1500" b="1">
                <a:solidFill>
                  <a:srgbClr val="FFFFFF"/>
                </a:solidFill>
                <a:latin typeface="Arial Black"/>
                <a:ea typeface="Arial Black"/>
                <a:cs typeface="Arial Black"/>
              </a:rPr>
              <a:t>Student</a:t>
            </a:r>
          </a:p>
        </p:txBody>
      </p:sp>
      <p:sp>
        <p:nvSpPr>
          <p:cNvPr id="9" name="Rounded Rectangle 8"/>
          <p:cNvSpPr/>
          <p:nvPr/>
        </p:nvSpPr>
        <p:spPr>
          <a:xfrm>
            <a:off x="685800" y="2834640"/>
            <a:ext cx="2554148" cy="1280160"/>
          </a:xfrm>
          <a:prstGeom prst="roundRect">
            <a:avLst>
              <a:gd name="adj" fmla="val 10000"/>
            </a:avLst>
          </a:prstGeom>
          <a:solidFill>
            <a:srgbClr val="FFFFFF"/>
          </a:solidFill>
          <a:ln w="15875">
            <a:solidFill>
              <a:srgbClr val="B9A7D6"/>
            </a:solidFill>
          </a:ln>
        </p:spPr>
        <p:txBody>
          <a:bodyPr rtlCol="0" anchor="ctr"/>
          <a:lstStyle/>
          <a:p>
            <a:pPr algn="ctr"/>
            <a:endParaRPr/>
          </a:p>
        </p:txBody>
      </p:sp>
      <p:sp>
        <p:nvSpPr>
          <p:cNvPr id="10" name="TextBox 9"/>
          <p:cNvSpPr txBox="1"/>
          <p:nvPr/>
        </p:nvSpPr>
        <p:spPr>
          <a:xfrm>
            <a:off x="868680" y="2907792"/>
            <a:ext cx="2188388" cy="320040"/>
          </a:xfrm>
          <a:prstGeom prst="rect">
            <a:avLst/>
          </a:prstGeom>
          <a:noFill/>
        </p:spPr>
        <p:txBody>
          <a:bodyPr wrap="square" lIns="0" tIns="0" rIns="0" bIns="0" anchor="t">
            <a:noAutofit/>
          </a:bodyPr>
          <a:lstStyle/>
          <a:p>
            <a:pPr marL="0" indent="0" algn="l">
              <a:lnSpc>
                <a:spcPct val="100000"/>
              </a:lnSpc>
              <a:spcBef>
                <a:spcPts val="0"/>
              </a:spcBef>
              <a:buNone/>
            </a:pPr>
            <a:r>
              <a:rPr lang="en-AU" sz="1300" b="1">
                <a:solidFill>
                  <a:srgbClr val="5B5670"/>
                </a:solidFill>
                <a:latin typeface="Arial"/>
                <a:ea typeface="Arial"/>
                <a:cs typeface="Arial"/>
              </a:rPr>
              <a:t>Brings</a:t>
            </a:r>
          </a:p>
        </p:txBody>
      </p:sp>
      <p:sp>
        <p:nvSpPr>
          <p:cNvPr id="11" name="Rounded Rectangle 10"/>
          <p:cNvSpPr/>
          <p:nvPr/>
        </p:nvSpPr>
        <p:spPr>
          <a:xfrm>
            <a:off x="685800" y="4251960"/>
            <a:ext cx="2554148" cy="1280160"/>
          </a:xfrm>
          <a:prstGeom prst="roundRect">
            <a:avLst>
              <a:gd name="adj" fmla="val 10000"/>
            </a:avLst>
          </a:prstGeom>
          <a:solidFill>
            <a:srgbClr val="FFFFFF"/>
          </a:solidFill>
          <a:ln w="15875">
            <a:solidFill>
              <a:srgbClr val="B9A7D6"/>
            </a:solidFill>
          </a:ln>
        </p:spPr>
        <p:txBody>
          <a:bodyPr rtlCol="0" anchor="ctr"/>
          <a:lstStyle/>
          <a:p>
            <a:pPr algn="ctr"/>
            <a:endParaRPr/>
          </a:p>
        </p:txBody>
      </p:sp>
      <p:sp>
        <p:nvSpPr>
          <p:cNvPr id="12" name="TextBox 11"/>
          <p:cNvSpPr txBox="1"/>
          <p:nvPr/>
        </p:nvSpPr>
        <p:spPr>
          <a:xfrm>
            <a:off x="868680" y="4325112"/>
            <a:ext cx="2188388" cy="320040"/>
          </a:xfrm>
          <a:prstGeom prst="rect">
            <a:avLst/>
          </a:prstGeom>
          <a:noFill/>
        </p:spPr>
        <p:txBody>
          <a:bodyPr wrap="square" lIns="0" tIns="0" rIns="0" bIns="0" anchor="t">
            <a:noAutofit/>
          </a:bodyPr>
          <a:lstStyle/>
          <a:p>
            <a:pPr marL="0" indent="0" algn="l">
              <a:lnSpc>
                <a:spcPct val="100000"/>
              </a:lnSpc>
              <a:spcBef>
                <a:spcPts val="0"/>
              </a:spcBef>
              <a:buNone/>
            </a:pPr>
            <a:r>
              <a:rPr lang="en-AU" sz="1300" b="1">
                <a:solidFill>
                  <a:srgbClr val="5B5670"/>
                </a:solidFill>
                <a:latin typeface="Arial"/>
                <a:ea typeface="Arial"/>
                <a:cs typeface="Arial"/>
              </a:rPr>
              <a:t>Challenges</a:t>
            </a:r>
          </a:p>
        </p:txBody>
      </p:sp>
      <p:sp>
        <p:nvSpPr>
          <p:cNvPr id="13" name="Rounded Rectangle 12"/>
          <p:cNvSpPr/>
          <p:nvPr/>
        </p:nvSpPr>
        <p:spPr>
          <a:xfrm>
            <a:off x="3441116" y="2011680"/>
            <a:ext cx="2554148" cy="685800"/>
          </a:xfrm>
          <a:prstGeom prst="roundRect">
            <a:avLst>
              <a:gd name="adj" fmla="val 30000"/>
            </a:avLst>
          </a:prstGeom>
          <a:solidFill>
            <a:srgbClr val="F3F0FA"/>
          </a:solidFill>
          <a:ln>
            <a:noFill/>
          </a:ln>
        </p:spPr>
        <p:txBody>
          <a:bodyPr rtlCol="0" anchor="ctr"/>
          <a:lstStyle/>
          <a:p>
            <a:pPr algn="ctr"/>
            <a:endParaRPr/>
          </a:p>
        </p:txBody>
      </p:sp>
      <p:sp>
        <p:nvSpPr>
          <p:cNvPr id="14" name="TextBox 13"/>
          <p:cNvSpPr txBox="1"/>
          <p:nvPr/>
        </p:nvSpPr>
        <p:spPr>
          <a:xfrm>
            <a:off x="3715436" y="2011680"/>
            <a:ext cx="2005508" cy="685800"/>
          </a:xfrm>
          <a:prstGeom prst="rect">
            <a:avLst/>
          </a:prstGeom>
          <a:noFill/>
        </p:spPr>
        <p:txBody>
          <a:bodyPr wrap="square" lIns="0" tIns="0" rIns="0" bIns="0" anchor="ctr">
            <a:noAutofit/>
          </a:bodyPr>
          <a:lstStyle/>
          <a:p>
            <a:pPr marL="0" indent="0" algn="ctr">
              <a:lnSpc>
                <a:spcPct val="100000"/>
              </a:lnSpc>
              <a:spcBef>
                <a:spcPts val="0"/>
              </a:spcBef>
              <a:buNone/>
            </a:pPr>
            <a:r>
              <a:rPr lang="en-AU" sz="1500" b="1">
                <a:solidFill>
                  <a:srgbClr val="584099"/>
                </a:solidFill>
                <a:latin typeface="Arial Black"/>
                <a:ea typeface="Arial Black"/>
                <a:cs typeface="Arial Black"/>
              </a:rPr>
              <a:t>Parents and carers</a:t>
            </a:r>
          </a:p>
        </p:txBody>
      </p:sp>
      <p:sp>
        <p:nvSpPr>
          <p:cNvPr id="15" name="Rounded Rectangle 14"/>
          <p:cNvSpPr/>
          <p:nvPr/>
        </p:nvSpPr>
        <p:spPr>
          <a:xfrm>
            <a:off x="3441116" y="2834640"/>
            <a:ext cx="2554148" cy="1280160"/>
          </a:xfrm>
          <a:prstGeom prst="roundRect">
            <a:avLst>
              <a:gd name="adj" fmla="val 10000"/>
            </a:avLst>
          </a:prstGeom>
          <a:solidFill>
            <a:srgbClr val="FFFFFF"/>
          </a:solidFill>
          <a:ln w="15875">
            <a:solidFill>
              <a:srgbClr val="B9A7D6"/>
            </a:solidFill>
          </a:ln>
        </p:spPr>
        <p:txBody>
          <a:bodyPr rtlCol="0" anchor="ctr"/>
          <a:lstStyle/>
          <a:p>
            <a:pPr algn="ctr"/>
            <a:endParaRPr/>
          </a:p>
        </p:txBody>
      </p:sp>
      <p:sp>
        <p:nvSpPr>
          <p:cNvPr id="16" name="TextBox 15"/>
          <p:cNvSpPr txBox="1"/>
          <p:nvPr/>
        </p:nvSpPr>
        <p:spPr>
          <a:xfrm>
            <a:off x="3623996" y="2907792"/>
            <a:ext cx="2188388" cy="320040"/>
          </a:xfrm>
          <a:prstGeom prst="rect">
            <a:avLst/>
          </a:prstGeom>
          <a:noFill/>
        </p:spPr>
        <p:txBody>
          <a:bodyPr wrap="square" lIns="0" tIns="0" rIns="0" bIns="0" anchor="t">
            <a:noAutofit/>
          </a:bodyPr>
          <a:lstStyle/>
          <a:p>
            <a:pPr marL="0" indent="0" algn="l">
              <a:lnSpc>
                <a:spcPct val="100000"/>
              </a:lnSpc>
              <a:spcBef>
                <a:spcPts val="0"/>
              </a:spcBef>
              <a:buNone/>
            </a:pPr>
            <a:r>
              <a:rPr lang="en-AU" sz="1300" b="1">
                <a:solidFill>
                  <a:srgbClr val="5B5670"/>
                </a:solidFill>
                <a:latin typeface="Arial"/>
                <a:ea typeface="Arial"/>
                <a:cs typeface="Arial"/>
              </a:rPr>
              <a:t>Brings</a:t>
            </a:r>
          </a:p>
        </p:txBody>
      </p:sp>
      <p:sp>
        <p:nvSpPr>
          <p:cNvPr id="17" name="Rounded Rectangle 16"/>
          <p:cNvSpPr/>
          <p:nvPr/>
        </p:nvSpPr>
        <p:spPr>
          <a:xfrm>
            <a:off x="3441116" y="4251960"/>
            <a:ext cx="2554148" cy="1280160"/>
          </a:xfrm>
          <a:prstGeom prst="roundRect">
            <a:avLst>
              <a:gd name="adj" fmla="val 10000"/>
            </a:avLst>
          </a:prstGeom>
          <a:solidFill>
            <a:srgbClr val="FFFFFF"/>
          </a:solidFill>
          <a:ln w="15875">
            <a:solidFill>
              <a:srgbClr val="B9A7D6"/>
            </a:solidFill>
          </a:ln>
        </p:spPr>
        <p:txBody>
          <a:bodyPr rtlCol="0" anchor="ctr"/>
          <a:lstStyle/>
          <a:p>
            <a:pPr algn="ctr"/>
            <a:endParaRPr/>
          </a:p>
        </p:txBody>
      </p:sp>
      <p:sp>
        <p:nvSpPr>
          <p:cNvPr id="18" name="TextBox 17"/>
          <p:cNvSpPr txBox="1"/>
          <p:nvPr/>
        </p:nvSpPr>
        <p:spPr>
          <a:xfrm>
            <a:off x="3623996" y="4325112"/>
            <a:ext cx="2188388" cy="320040"/>
          </a:xfrm>
          <a:prstGeom prst="rect">
            <a:avLst/>
          </a:prstGeom>
          <a:noFill/>
        </p:spPr>
        <p:txBody>
          <a:bodyPr wrap="square" lIns="0" tIns="0" rIns="0" bIns="0" anchor="t">
            <a:noAutofit/>
          </a:bodyPr>
          <a:lstStyle/>
          <a:p>
            <a:pPr marL="0" indent="0" algn="l">
              <a:lnSpc>
                <a:spcPct val="100000"/>
              </a:lnSpc>
              <a:spcBef>
                <a:spcPts val="0"/>
              </a:spcBef>
              <a:buNone/>
            </a:pPr>
            <a:r>
              <a:rPr lang="en-AU" sz="1300" b="1">
                <a:solidFill>
                  <a:srgbClr val="5B5670"/>
                </a:solidFill>
                <a:latin typeface="Arial"/>
                <a:ea typeface="Arial"/>
                <a:cs typeface="Arial"/>
              </a:rPr>
              <a:t>Challenges</a:t>
            </a:r>
          </a:p>
        </p:txBody>
      </p:sp>
      <p:sp>
        <p:nvSpPr>
          <p:cNvPr id="19" name="Rounded Rectangle 18"/>
          <p:cNvSpPr/>
          <p:nvPr/>
        </p:nvSpPr>
        <p:spPr>
          <a:xfrm>
            <a:off x="6196432" y="2011680"/>
            <a:ext cx="2554148" cy="685800"/>
          </a:xfrm>
          <a:prstGeom prst="roundRect">
            <a:avLst>
              <a:gd name="adj" fmla="val 30000"/>
            </a:avLst>
          </a:prstGeom>
          <a:solidFill>
            <a:srgbClr val="F3F0FA"/>
          </a:solidFill>
          <a:ln>
            <a:noFill/>
          </a:ln>
        </p:spPr>
        <p:txBody>
          <a:bodyPr rtlCol="0" anchor="ctr"/>
          <a:lstStyle/>
          <a:p>
            <a:pPr algn="ctr"/>
            <a:endParaRPr/>
          </a:p>
        </p:txBody>
      </p:sp>
      <p:sp>
        <p:nvSpPr>
          <p:cNvPr id="20" name="TextBox 19"/>
          <p:cNvSpPr txBox="1"/>
          <p:nvPr/>
        </p:nvSpPr>
        <p:spPr>
          <a:xfrm>
            <a:off x="6470752" y="2011680"/>
            <a:ext cx="2005508" cy="685800"/>
          </a:xfrm>
          <a:prstGeom prst="rect">
            <a:avLst/>
          </a:prstGeom>
          <a:noFill/>
        </p:spPr>
        <p:txBody>
          <a:bodyPr wrap="square" lIns="0" tIns="0" rIns="0" bIns="0" anchor="ctr">
            <a:noAutofit/>
          </a:bodyPr>
          <a:lstStyle/>
          <a:p>
            <a:pPr marL="0" indent="0" algn="ctr">
              <a:lnSpc>
                <a:spcPct val="100000"/>
              </a:lnSpc>
              <a:spcBef>
                <a:spcPts val="0"/>
              </a:spcBef>
              <a:buNone/>
            </a:pPr>
            <a:r>
              <a:rPr lang="en-AU" sz="1500" b="1">
                <a:solidFill>
                  <a:srgbClr val="584099"/>
                </a:solidFill>
                <a:latin typeface="Arial Black"/>
                <a:ea typeface="Arial Black"/>
                <a:cs typeface="Arial Black"/>
              </a:rPr>
              <a:t>Teachers</a:t>
            </a:r>
          </a:p>
        </p:txBody>
      </p:sp>
      <p:sp>
        <p:nvSpPr>
          <p:cNvPr id="21" name="Rounded Rectangle 20"/>
          <p:cNvSpPr/>
          <p:nvPr/>
        </p:nvSpPr>
        <p:spPr>
          <a:xfrm>
            <a:off x="6196432" y="2834640"/>
            <a:ext cx="2554148" cy="1280160"/>
          </a:xfrm>
          <a:prstGeom prst="roundRect">
            <a:avLst>
              <a:gd name="adj" fmla="val 10000"/>
            </a:avLst>
          </a:prstGeom>
          <a:solidFill>
            <a:srgbClr val="FFFFFF"/>
          </a:solidFill>
          <a:ln w="15875">
            <a:solidFill>
              <a:srgbClr val="B9A7D6"/>
            </a:solidFill>
          </a:ln>
        </p:spPr>
        <p:txBody>
          <a:bodyPr rtlCol="0" anchor="ctr"/>
          <a:lstStyle/>
          <a:p>
            <a:pPr algn="ctr"/>
            <a:endParaRPr/>
          </a:p>
        </p:txBody>
      </p:sp>
      <p:sp>
        <p:nvSpPr>
          <p:cNvPr id="22" name="TextBox 21"/>
          <p:cNvSpPr txBox="1"/>
          <p:nvPr/>
        </p:nvSpPr>
        <p:spPr>
          <a:xfrm>
            <a:off x="6379312" y="2907792"/>
            <a:ext cx="2188388" cy="320040"/>
          </a:xfrm>
          <a:prstGeom prst="rect">
            <a:avLst/>
          </a:prstGeom>
          <a:noFill/>
        </p:spPr>
        <p:txBody>
          <a:bodyPr wrap="square" lIns="0" tIns="0" rIns="0" bIns="0" anchor="t">
            <a:noAutofit/>
          </a:bodyPr>
          <a:lstStyle/>
          <a:p>
            <a:pPr marL="0" indent="0" algn="l">
              <a:lnSpc>
                <a:spcPct val="100000"/>
              </a:lnSpc>
              <a:spcBef>
                <a:spcPts val="0"/>
              </a:spcBef>
              <a:buNone/>
            </a:pPr>
            <a:r>
              <a:rPr lang="en-AU" sz="1300" b="1">
                <a:solidFill>
                  <a:srgbClr val="5B5670"/>
                </a:solidFill>
                <a:latin typeface="Arial"/>
                <a:ea typeface="Arial"/>
                <a:cs typeface="Arial"/>
              </a:rPr>
              <a:t>Brings</a:t>
            </a:r>
          </a:p>
        </p:txBody>
      </p:sp>
      <p:sp>
        <p:nvSpPr>
          <p:cNvPr id="23" name="Rounded Rectangle 22"/>
          <p:cNvSpPr/>
          <p:nvPr/>
        </p:nvSpPr>
        <p:spPr>
          <a:xfrm>
            <a:off x="6196432" y="4251960"/>
            <a:ext cx="2554148" cy="1280160"/>
          </a:xfrm>
          <a:prstGeom prst="roundRect">
            <a:avLst>
              <a:gd name="adj" fmla="val 10000"/>
            </a:avLst>
          </a:prstGeom>
          <a:solidFill>
            <a:srgbClr val="FFFFFF"/>
          </a:solidFill>
          <a:ln w="15875">
            <a:solidFill>
              <a:srgbClr val="B9A7D6"/>
            </a:solidFill>
          </a:ln>
        </p:spPr>
        <p:txBody>
          <a:bodyPr rtlCol="0" anchor="ctr"/>
          <a:lstStyle/>
          <a:p>
            <a:pPr algn="ctr"/>
            <a:endParaRPr/>
          </a:p>
        </p:txBody>
      </p:sp>
      <p:sp>
        <p:nvSpPr>
          <p:cNvPr id="24" name="TextBox 23"/>
          <p:cNvSpPr txBox="1"/>
          <p:nvPr/>
        </p:nvSpPr>
        <p:spPr>
          <a:xfrm>
            <a:off x="6379312" y="4325112"/>
            <a:ext cx="2188388" cy="320040"/>
          </a:xfrm>
          <a:prstGeom prst="rect">
            <a:avLst/>
          </a:prstGeom>
          <a:noFill/>
        </p:spPr>
        <p:txBody>
          <a:bodyPr wrap="square" lIns="0" tIns="0" rIns="0" bIns="0" anchor="t">
            <a:noAutofit/>
          </a:bodyPr>
          <a:lstStyle/>
          <a:p>
            <a:pPr marL="0" indent="0" algn="l">
              <a:lnSpc>
                <a:spcPct val="100000"/>
              </a:lnSpc>
              <a:spcBef>
                <a:spcPts val="0"/>
              </a:spcBef>
              <a:buNone/>
            </a:pPr>
            <a:r>
              <a:rPr lang="en-AU" sz="1300" b="1">
                <a:solidFill>
                  <a:srgbClr val="5B5670"/>
                </a:solidFill>
                <a:latin typeface="Arial"/>
                <a:ea typeface="Arial"/>
                <a:cs typeface="Arial"/>
              </a:rPr>
              <a:t>Challenges</a:t>
            </a:r>
          </a:p>
        </p:txBody>
      </p:sp>
      <p:sp>
        <p:nvSpPr>
          <p:cNvPr id="25" name="Rounded Rectangle 24"/>
          <p:cNvSpPr/>
          <p:nvPr/>
        </p:nvSpPr>
        <p:spPr>
          <a:xfrm>
            <a:off x="8951747" y="2011680"/>
            <a:ext cx="2554148" cy="685800"/>
          </a:xfrm>
          <a:prstGeom prst="roundRect">
            <a:avLst>
              <a:gd name="adj" fmla="val 30000"/>
            </a:avLst>
          </a:prstGeom>
          <a:solidFill>
            <a:srgbClr val="F3F0FA"/>
          </a:solidFill>
          <a:ln>
            <a:noFill/>
          </a:ln>
        </p:spPr>
        <p:txBody>
          <a:bodyPr rtlCol="0" anchor="ctr"/>
          <a:lstStyle/>
          <a:p>
            <a:pPr algn="ctr"/>
            <a:endParaRPr/>
          </a:p>
        </p:txBody>
      </p:sp>
      <p:sp>
        <p:nvSpPr>
          <p:cNvPr id="26" name="TextBox 25"/>
          <p:cNvSpPr txBox="1"/>
          <p:nvPr/>
        </p:nvSpPr>
        <p:spPr>
          <a:xfrm>
            <a:off x="9226067" y="2011680"/>
            <a:ext cx="2005508" cy="685800"/>
          </a:xfrm>
          <a:prstGeom prst="rect">
            <a:avLst/>
          </a:prstGeom>
          <a:noFill/>
        </p:spPr>
        <p:txBody>
          <a:bodyPr wrap="square" lIns="0" tIns="0" rIns="0" bIns="0" anchor="ctr">
            <a:noAutofit/>
          </a:bodyPr>
          <a:lstStyle/>
          <a:p>
            <a:pPr marL="0" indent="0" algn="ctr">
              <a:lnSpc>
                <a:spcPct val="100000"/>
              </a:lnSpc>
              <a:spcBef>
                <a:spcPts val="0"/>
              </a:spcBef>
              <a:buNone/>
            </a:pPr>
            <a:r>
              <a:rPr lang="en-AU" sz="1500" b="1">
                <a:solidFill>
                  <a:srgbClr val="584099"/>
                </a:solidFill>
                <a:latin typeface="Arial Black"/>
                <a:ea typeface="Arial Black"/>
                <a:cs typeface="Arial Black"/>
              </a:rPr>
              <a:t>Paraprofessionals</a:t>
            </a:r>
          </a:p>
        </p:txBody>
      </p:sp>
      <p:sp>
        <p:nvSpPr>
          <p:cNvPr id="27" name="Rounded Rectangle 26"/>
          <p:cNvSpPr/>
          <p:nvPr/>
        </p:nvSpPr>
        <p:spPr>
          <a:xfrm>
            <a:off x="8951747" y="2834640"/>
            <a:ext cx="2554148" cy="1280160"/>
          </a:xfrm>
          <a:prstGeom prst="roundRect">
            <a:avLst>
              <a:gd name="adj" fmla="val 10000"/>
            </a:avLst>
          </a:prstGeom>
          <a:solidFill>
            <a:srgbClr val="FFFFFF"/>
          </a:solidFill>
          <a:ln w="15875">
            <a:solidFill>
              <a:srgbClr val="B9A7D6"/>
            </a:solidFill>
          </a:ln>
        </p:spPr>
        <p:txBody>
          <a:bodyPr rtlCol="0" anchor="ctr"/>
          <a:lstStyle/>
          <a:p>
            <a:pPr algn="ctr"/>
            <a:endParaRPr/>
          </a:p>
        </p:txBody>
      </p:sp>
      <p:sp>
        <p:nvSpPr>
          <p:cNvPr id="28" name="TextBox 27"/>
          <p:cNvSpPr txBox="1"/>
          <p:nvPr/>
        </p:nvSpPr>
        <p:spPr>
          <a:xfrm>
            <a:off x="9134627" y="2907792"/>
            <a:ext cx="2188388" cy="320040"/>
          </a:xfrm>
          <a:prstGeom prst="rect">
            <a:avLst/>
          </a:prstGeom>
          <a:noFill/>
        </p:spPr>
        <p:txBody>
          <a:bodyPr wrap="square" lIns="0" tIns="0" rIns="0" bIns="0" anchor="t">
            <a:noAutofit/>
          </a:bodyPr>
          <a:lstStyle/>
          <a:p>
            <a:pPr marL="0" indent="0" algn="l">
              <a:lnSpc>
                <a:spcPct val="100000"/>
              </a:lnSpc>
              <a:spcBef>
                <a:spcPts val="0"/>
              </a:spcBef>
              <a:buNone/>
            </a:pPr>
            <a:r>
              <a:rPr lang="en-AU" sz="1300" b="1">
                <a:solidFill>
                  <a:srgbClr val="5B5670"/>
                </a:solidFill>
                <a:latin typeface="Arial"/>
                <a:ea typeface="Arial"/>
                <a:cs typeface="Arial"/>
              </a:rPr>
              <a:t>Brings</a:t>
            </a:r>
          </a:p>
        </p:txBody>
      </p:sp>
      <p:sp>
        <p:nvSpPr>
          <p:cNvPr id="29" name="Rounded Rectangle 28"/>
          <p:cNvSpPr/>
          <p:nvPr/>
        </p:nvSpPr>
        <p:spPr>
          <a:xfrm>
            <a:off x="8951747" y="4251960"/>
            <a:ext cx="2554148" cy="1280160"/>
          </a:xfrm>
          <a:prstGeom prst="roundRect">
            <a:avLst>
              <a:gd name="adj" fmla="val 10000"/>
            </a:avLst>
          </a:prstGeom>
          <a:solidFill>
            <a:srgbClr val="FFFFFF"/>
          </a:solidFill>
          <a:ln w="15875">
            <a:solidFill>
              <a:srgbClr val="B9A7D6"/>
            </a:solidFill>
          </a:ln>
        </p:spPr>
        <p:txBody>
          <a:bodyPr rtlCol="0" anchor="ctr"/>
          <a:lstStyle/>
          <a:p>
            <a:pPr algn="ctr"/>
            <a:endParaRPr/>
          </a:p>
        </p:txBody>
      </p:sp>
      <p:sp>
        <p:nvSpPr>
          <p:cNvPr id="30" name="TextBox 29"/>
          <p:cNvSpPr txBox="1"/>
          <p:nvPr/>
        </p:nvSpPr>
        <p:spPr>
          <a:xfrm>
            <a:off x="9134627" y="4325112"/>
            <a:ext cx="2188388" cy="320040"/>
          </a:xfrm>
          <a:prstGeom prst="rect">
            <a:avLst/>
          </a:prstGeom>
          <a:noFill/>
        </p:spPr>
        <p:txBody>
          <a:bodyPr wrap="square" lIns="0" tIns="0" rIns="0" bIns="0" anchor="t">
            <a:noAutofit/>
          </a:bodyPr>
          <a:lstStyle/>
          <a:p>
            <a:pPr marL="0" indent="0" algn="l">
              <a:lnSpc>
                <a:spcPct val="100000"/>
              </a:lnSpc>
              <a:spcBef>
                <a:spcPts val="0"/>
              </a:spcBef>
              <a:buNone/>
            </a:pPr>
            <a:r>
              <a:rPr lang="en-AU" sz="1300" b="1">
                <a:solidFill>
                  <a:srgbClr val="5B5670"/>
                </a:solidFill>
                <a:latin typeface="Arial"/>
                <a:ea typeface="Arial"/>
                <a:cs typeface="Arial"/>
              </a:rPr>
              <a:t>Challenges</a:t>
            </a:r>
          </a:p>
        </p:txBody>
      </p:sp>
      <p:sp>
        <p:nvSpPr>
          <p:cNvPr id="31" name="TextBox 30"/>
          <p:cNvSpPr txBox="1"/>
          <p:nvPr/>
        </p:nvSpPr>
        <p:spPr>
          <a:xfrm>
            <a:off x="5029200" y="5806440"/>
            <a:ext cx="6476695" cy="548640"/>
          </a:xfrm>
          <a:prstGeom prst="rect">
            <a:avLst/>
          </a:prstGeom>
          <a:noFill/>
        </p:spPr>
        <p:txBody>
          <a:bodyPr wrap="square" lIns="0" tIns="0" rIns="0" bIns="0" anchor="ctr">
            <a:noAutofit/>
          </a:bodyPr>
          <a:lstStyle/>
          <a:p>
            <a:pPr marL="0" indent="0" algn="r">
              <a:lnSpc>
                <a:spcPct val="100000"/>
              </a:lnSpc>
              <a:spcBef>
                <a:spcPts val="0"/>
              </a:spcBef>
              <a:buNone/>
            </a:pPr>
            <a:r>
              <a:rPr lang="en-AU" sz="1700" b="1">
                <a:solidFill>
                  <a:srgbClr val="584099"/>
                </a:solidFill>
                <a:latin typeface="Arial"/>
                <a:ea typeface="Arial"/>
                <a:cs typeface="Arial"/>
              </a:rPr>
              <a:t>Then compare: what do all four have in common?</a:t>
            </a:r>
          </a:p>
        </p:txBody>
      </p:sp>
      <p:sp>
        <p:nvSpPr>
          <p:cNvPr id="32" name="Rounded Rectangle 31"/>
          <p:cNvSpPr/>
          <p:nvPr/>
        </p:nvSpPr>
        <p:spPr>
          <a:xfrm>
            <a:off x="685800" y="5806440"/>
            <a:ext cx="2103120" cy="548640"/>
          </a:xfrm>
          <a:prstGeom prst="roundRect">
            <a:avLst>
              <a:gd name="adj" fmla="val 50000"/>
            </a:avLst>
          </a:prstGeom>
          <a:solidFill>
            <a:srgbClr val="FFFFFF"/>
          </a:solidFill>
          <a:ln w="19050">
            <a:solidFill>
              <a:srgbClr val="584099"/>
            </a:solidFill>
          </a:ln>
        </p:spPr>
        <p:txBody>
          <a:bodyPr rtlCol="0" anchor="ctr"/>
          <a:lstStyle/>
          <a:p>
            <a:pPr algn="ctr"/>
            <a:endParaRPr/>
          </a:p>
        </p:txBody>
      </p:sp>
      <p:sp>
        <p:nvSpPr>
          <p:cNvPr id="33" name="TextBox 32"/>
          <p:cNvSpPr txBox="1"/>
          <p:nvPr/>
        </p:nvSpPr>
        <p:spPr>
          <a:xfrm>
            <a:off x="960120" y="5806440"/>
            <a:ext cx="1554480" cy="548640"/>
          </a:xfrm>
          <a:prstGeom prst="rect">
            <a:avLst/>
          </a:prstGeom>
          <a:noFill/>
        </p:spPr>
        <p:txBody>
          <a:bodyPr wrap="square" lIns="0" tIns="0" rIns="0" bIns="0" anchor="ctr">
            <a:noAutofit/>
          </a:bodyPr>
          <a:lstStyle/>
          <a:p>
            <a:pPr marL="0" indent="0" algn="ctr">
              <a:lnSpc>
                <a:spcPct val="100000"/>
              </a:lnSpc>
              <a:spcBef>
                <a:spcPts val="0"/>
              </a:spcBef>
              <a:buNone/>
            </a:pPr>
            <a:r>
              <a:rPr lang="en-AU" sz="1800" b="1">
                <a:solidFill>
                  <a:srgbClr val="584099"/>
                </a:solidFill>
                <a:latin typeface="Arial"/>
                <a:ea typeface="Arial"/>
                <a:cs typeface="Arial"/>
              </a:rPr>
              <a:t>8 minutes</a:t>
            </a:r>
          </a:p>
        </p:txBody>
      </p:sp>
    </p:spTree>
    <p:extLst>
      <p:ext uri="{BB962C8B-B14F-4D97-AF65-F5344CB8AC3E}">
        <p14:creationId xmlns:p14="http://schemas.microsoft.com/office/powerpoint/2010/main" val="35149622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2A8AD-30E8-445B-A354-028A833B7933}"/>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D4838D88-E610-403C-B6B2-EC64CB6D651F}"/>
              </a:ext>
            </a:extLst>
          </p:cNvPr>
          <p:cNvSpPr txBox="1"/>
          <p:nvPr/>
        </p:nvSpPr>
        <p:spPr>
          <a:xfrm>
            <a:off x="685800" y="457200"/>
            <a:ext cx="5445106" cy="822960"/>
          </a:xfrm>
          <a:prstGeom prst="rect">
            <a:avLst/>
          </a:prstGeom>
          <a:solidFill>
            <a:schemeClr val="bg1"/>
          </a:solidFill>
        </p:spPr>
        <p:txBody>
          <a:bodyPr wrap="square" lIns="0" tIns="0" rIns="0" bIns="0" rtlCol="0" anchor="t">
            <a:noAutofit/>
          </a:bodyPr>
          <a:lstStyle/>
          <a:p>
            <a:pPr marL="0" indent="0" algn="l">
              <a:lnSpc>
                <a:spcPct val="100000"/>
              </a:lnSpc>
              <a:spcBef>
                <a:spcPts val="0"/>
              </a:spcBef>
              <a:buNone/>
            </a:pPr>
            <a:r>
              <a:rPr lang="en-AU" sz="3600" b="0">
                <a:solidFill>
                  <a:srgbClr val="584099"/>
                </a:solidFill>
                <a:latin typeface="Arial Black"/>
                <a:ea typeface="Arial Black"/>
                <a:cs typeface="Arial Black"/>
              </a:rPr>
              <a:t>What works?</a:t>
            </a:r>
          </a:p>
        </p:txBody>
      </p:sp>
      <p:pic>
        <p:nvPicPr>
          <p:cNvPr id="7" name="Picture 6" descr="Father standing with child on shoulders indoors, both smiling with flexed arm muscles">
            <a:extLst>
              <a:ext uri="{FF2B5EF4-FFF2-40B4-BE49-F238E27FC236}">
                <a16:creationId xmlns:a16="http://schemas.microsoft.com/office/drawing/2014/main" id="{BFCF9B49-A0F6-5B3D-B16E-6779F56A6B26}"/>
              </a:ext>
            </a:extLst>
          </p:cNvPr>
          <p:cNvPicPr>
            <a:picLocks noChangeAspect="1"/>
          </p:cNvPicPr>
          <p:nvPr/>
        </p:nvPicPr>
        <p:blipFill>
          <a:blip r:embed="rId3">
            <a:extLst>
              <a:ext uri="{28A0092B-C50C-407E-A947-70E740481C1C}">
                <a14:useLocalDpi xmlns:a14="http://schemas.microsoft.com/office/drawing/2010/main" val="0"/>
              </a:ext>
            </a:extLst>
          </a:blip>
          <a:srcRect l="16530" r="16530"/>
          <a:stretch/>
        </p:blipFill>
        <p:spPr>
          <a:xfrm>
            <a:off x="6405226" y="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9" name="Rounded Rectangle 8"/>
          <p:cNvSpPr/>
          <p:nvPr/>
        </p:nvSpPr>
        <p:spPr>
          <a:xfrm>
            <a:off x="685800" y="1417320"/>
            <a:ext cx="5353666" cy="2011680"/>
          </a:xfrm>
          <a:prstGeom prst="roundRect">
            <a:avLst>
              <a:gd name="adj" fmla="val 8000"/>
            </a:avLst>
          </a:prstGeom>
          <a:solidFill>
            <a:srgbClr val="F3F0FA"/>
          </a:solidFill>
          <a:ln>
            <a:noFill/>
          </a:ln>
        </p:spPr>
        <p:txBody>
          <a:bodyPr rtlCol="0" anchor="ctr"/>
          <a:lstStyle/>
          <a:p>
            <a:pPr algn="ctr"/>
            <a:endParaRPr/>
          </a:p>
        </p:txBody>
      </p:sp>
      <p:pic>
        <p:nvPicPr>
          <p:cNvPr id="10" name="Discussion icon" descr="Speech bubbles"/>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60120" y="1645920"/>
            <a:ext cx="548640" cy="548640"/>
          </a:xfrm>
          <a:prstGeom prst="rect">
            <a:avLst/>
          </a:prstGeom>
        </p:spPr>
      </p:pic>
      <p:sp>
        <p:nvSpPr>
          <p:cNvPr id="11" name="TextBox 10"/>
          <p:cNvSpPr txBox="1"/>
          <p:nvPr/>
        </p:nvSpPr>
        <p:spPr>
          <a:xfrm>
            <a:off x="1691640" y="1417320"/>
            <a:ext cx="4073506" cy="201168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Think of a family you have a good relationship with.</a:t>
            </a:r>
          </a:p>
          <a:p>
            <a:pPr marL="0" indent="0" algn="l">
              <a:lnSpc>
                <a:spcPct val="100000"/>
              </a:lnSpc>
              <a:spcBef>
                <a:spcPts val="800"/>
              </a:spcBef>
              <a:buNone/>
            </a:pPr>
            <a:r>
              <a:rPr lang="en-AU" sz="1600" b="0">
                <a:solidFill>
                  <a:srgbClr val="2D2440"/>
                </a:solidFill>
                <a:latin typeface="Arial"/>
                <a:ea typeface="Arial"/>
                <a:cs typeface="Arial"/>
              </a:rPr>
              <a:t>How did you establish this? What does it look like? Why does it work?</a:t>
            </a:r>
          </a:p>
        </p:txBody>
      </p:sp>
      <p:sp>
        <p:nvSpPr>
          <p:cNvPr id="12" name="TextBox 11"/>
          <p:cNvSpPr txBox="1"/>
          <p:nvPr/>
        </p:nvSpPr>
        <p:spPr>
          <a:xfrm>
            <a:off x="685800" y="3611880"/>
            <a:ext cx="5353666" cy="365760"/>
          </a:xfrm>
          <a:prstGeom prst="rect">
            <a:avLst/>
          </a:prstGeom>
          <a:noFill/>
        </p:spPr>
        <p:txBody>
          <a:bodyPr wrap="square" lIns="0" tIns="0" rIns="0" bIns="0" anchor="t">
            <a:noAutofit/>
          </a:bodyPr>
          <a:lstStyle/>
          <a:p>
            <a:pPr marL="0" indent="0" algn="l">
              <a:lnSpc>
                <a:spcPct val="100000"/>
              </a:lnSpc>
              <a:spcBef>
                <a:spcPts val="0"/>
              </a:spcBef>
              <a:buNone/>
            </a:pPr>
            <a:r>
              <a:rPr lang="en-AU" sz="1600" b="1">
                <a:solidFill>
                  <a:srgbClr val="584099"/>
                </a:solidFill>
                <a:latin typeface="Arial"/>
                <a:ea typeface="Arial"/>
                <a:cs typeface="Arial"/>
              </a:rPr>
              <a:t>What works for everyone at the table:</a:t>
            </a:r>
          </a:p>
        </p:txBody>
      </p:sp>
      <p:sp>
        <p:nvSpPr>
          <p:cNvPr id="13" name="Rounded Rectangle 12"/>
          <p:cNvSpPr/>
          <p:nvPr/>
        </p:nvSpPr>
        <p:spPr>
          <a:xfrm>
            <a:off x="685800" y="4023360"/>
            <a:ext cx="2631113" cy="475488"/>
          </a:xfrm>
          <a:prstGeom prst="roundRect">
            <a:avLst>
              <a:gd name="adj" fmla="val 40000"/>
            </a:avLst>
          </a:prstGeom>
          <a:solidFill>
            <a:srgbClr val="F3F0FA"/>
          </a:solidFill>
          <a:ln>
            <a:noFill/>
          </a:ln>
        </p:spPr>
        <p:txBody>
          <a:bodyPr rtlCol="0" anchor="ctr"/>
          <a:lstStyle/>
          <a:p>
            <a:pPr algn="ctr"/>
            <a:endParaRPr/>
          </a:p>
        </p:txBody>
      </p:sp>
      <p:sp>
        <p:nvSpPr>
          <p:cNvPr id="14" name="TextBox 13"/>
          <p:cNvSpPr txBox="1"/>
          <p:nvPr/>
        </p:nvSpPr>
        <p:spPr>
          <a:xfrm>
            <a:off x="960120" y="4023360"/>
            <a:ext cx="2082473" cy="475488"/>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Be prepared for meetings</a:t>
            </a:r>
          </a:p>
        </p:txBody>
      </p:sp>
      <p:sp>
        <p:nvSpPr>
          <p:cNvPr id="15" name="Rounded Rectangle 14"/>
          <p:cNvSpPr/>
          <p:nvPr/>
        </p:nvSpPr>
        <p:spPr>
          <a:xfrm>
            <a:off x="3408353" y="4023360"/>
            <a:ext cx="2631113" cy="475488"/>
          </a:xfrm>
          <a:prstGeom prst="roundRect">
            <a:avLst>
              <a:gd name="adj" fmla="val 40000"/>
            </a:avLst>
          </a:prstGeom>
          <a:solidFill>
            <a:srgbClr val="F3F0FA"/>
          </a:solidFill>
          <a:ln>
            <a:noFill/>
          </a:ln>
        </p:spPr>
        <p:txBody>
          <a:bodyPr rtlCol="0" anchor="ctr"/>
          <a:lstStyle/>
          <a:p>
            <a:pPr algn="ctr"/>
            <a:endParaRPr/>
          </a:p>
        </p:txBody>
      </p:sp>
      <p:sp>
        <p:nvSpPr>
          <p:cNvPr id="16" name="TextBox 15"/>
          <p:cNvSpPr txBox="1"/>
          <p:nvPr/>
        </p:nvSpPr>
        <p:spPr>
          <a:xfrm>
            <a:off x="3682673" y="4023360"/>
            <a:ext cx="2082473" cy="475488"/>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Share information</a:t>
            </a:r>
          </a:p>
        </p:txBody>
      </p:sp>
      <p:sp>
        <p:nvSpPr>
          <p:cNvPr id="17" name="Rounded Rectangle 16"/>
          <p:cNvSpPr/>
          <p:nvPr/>
        </p:nvSpPr>
        <p:spPr>
          <a:xfrm>
            <a:off x="685800" y="4590288"/>
            <a:ext cx="2631113" cy="475488"/>
          </a:xfrm>
          <a:prstGeom prst="roundRect">
            <a:avLst>
              <a:gd name="adj" fmla="val 40000"/>
            </a:avLst>
          </a:prstGeom>
          <a:solidFill>
            <a:srgbClr val="F3F0FA"/>
          </a:solidFill>
          <a:ln>
            <a:noFill/>
          </a:ln>
        </p:spPr>
        <p:txBody>
          <a:bodyPr rtlCol="0" anchor="ctr"/>
          <a:lstStyle/>
          <a:p>
            <a:pPr algn="ctr"/>
            <a:endParaRPr/>
          </a:p>
        </p:txBody>
      </p:sp>
      <p:sp>
        <p:nvSpPr>
          <p:cNvPr id="18" name="TextBox 17"/>
          <p:cNvSpPr txBox="1"/>
          <p:nvPr/>
        </p:nvSpPr>
        <p:spPr>
          <a:xfrm>
            <a:off x="960120" y="4590288"/>
            <a:ext cx="2082473" cy="475488"/>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Ask questions</a:t>
            </a:r>
          </a:p>
        </p:txBody>
      </p:sp>
      <p:sp>
        <p:nvSpPr>
          <p:cNvPr id="19" name="Rounded Rectangle 18"/>
          <p:cNvSpPr/>
          <p:nvPr/>
        </p:nvSpPr>
        <p:spPr>
          <a:xfrm>
            <a:off x="3408353" y="4590288"/>
            <a:ext cx="2631113" cy="475488"/>
          </a:xfrm>
          <a:prstGeom prst="roundRect">
            <a:avLst>
              <a:gd name="adj" fmla="val 40000"/>
            </a:avLst>
          </a:prstGeom>
          <a:solidFill>
            <a:srgbClr val="F3F0FA"/>
          </a:solidFill>
          <a:ln>
            <a:noFill/>
          </a:ln>
        </p:spPr>
        <p:txBody>
          <a:bodyPr rtlCol="0" anchor="ctr"/>
          <a:lstStyle/>
          <a:p>
            <a:pPr algn="ctr"/>
            <a:endParaRPr/>
          </a:p>
        </p:txBody>
      </p:sp>
      <p:sp>
        <p:nvSpPr>
          <p:cNvPr id="20" name="TextBox 19"/>
          <p:cNvSpPr txBox="1"/>
          <p:nvPr/>
        </p:nvSpPr>
        <p:spPr>
          <a:xfrm>
            <a:off x="3682673" y="4590288"/>
            <a:ext cx="2082473" cy="475488"/>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Seek clarification</a:t>
            </a:r>
          </a:p>
        </p:txBody>
      </p:sp>
      <p:sp>
        <p:nvSpPr>
          <p:cNvPr id="21" name="Rounded Rectangle 20"/>
          <p:cNvSpPr/>
          <p:nvPr/>
        </p:nvSpPr>
        <p:spPr>
          <a:xfrm>
            <a:off x="685800" y="5157216"/>
            <a:ext cx="2631113" cy="475488"/>
          </a:xfrm>
          <a:prstGeom prst="roundRect">
            <a:avLst>
              <a:gd name="adj" fmla="val 40000"/>
            </a:avLst>
          </a:prstGeom>
          <a:solidFill>
            <a:srgbClr val="F3F0FA"/>
          </a:solidFill>
          <a:ln>
            <a:noFill/>
          </a:ln>
        </p:spPr>
        <p:txBody>
          <a:bodyPr rtlCol="0" anchor="ctr"/>
          <a:lstStyle/>
          <a:p>
            <a:pPr algn="ctr"/>
            <a:endParaRPr/>
          </a:p>
        </p:txBody>
      </p:sp>
      <p:sp>
        <p:nvSpPr>
          <p:cNvPr id="22" name="TextBox 21"/>
          <p:cNvSpPr txBox="1"/>
          <p:nvPr/>
        </p:nvSpPr>
        <p:spPr>
          <a:xfrm>
            <a:off x="960120" y="5157216"/>
            <a:ext cx="2082473" cy="475488"/>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Assume the best</a:t>
            </a:r>
          </a:p>
        </p:txBody>
      </p:sp>
      <p:sp>
        <p:nvSpPr>
          <p:cNvPr id="23" name="Rounded Rectangle 22"/>
          <p:cNvSpPr/>
          <p:nvPr/>
        </p:nvSpPr>
        <p:spPr>
          <a:xfrm>
            <a:off x="685800" y="5806440"/>
            <a:ext cx="2103120" cy="548640"/>
          </a:xfrm>
          <a:prstGeom prst="roundRect">
            <a:avLst>
              <a:gd name="adj" fmla="val 50000"/>
            </a:avLst>
          </a:prstGeom>
          <a:solidFill>
            <a:srgbClr val="FFFFFF"/>
          </a:solidFill>
          <a:ln w="19050">
            <a:solidFill>
              <a:srgbClr val="584099"/>
            </a:solidFill>
          </a:ln>
        </p:spPr>
        <p:txBody>
          <a:bodyPr rtlCol="0" anchor="ctr"/>
          <a:lstStyle/>
          <a:p>
            <a:pPr algn="ctr"/>
            <a:endParaRPr/>
          </a:p>
        </p:txBody>
      </p:sp>
      <p:sp>
        <p:nvSpPr>
          <p:cNvPr id="24" name="TextBox 23"/>
          <p:cNvSpPr txBox="1"/>
          <p:nvPr/>
        </p:nvSpPr>
        <p:spPr>
          <a:xfrm>
            <a:off x="960120" y="5806440"/>
            <a:ext cx="1554480" cy="548640"/>
          </a:xfrm>
          <a:prstGeom prst="rect">
            <a:avLst/>
          </a:prstGeom>
          <a:noFill/>
        </p:spPr>
        <p:txBody>
          <a:bodyPr wrap="square" lIns="0" tIns="0" rIns="0" bIns="0" anchor="ctr">
            <a:noAutofit/>
          </a:bodyPr>
          <a:lstStyle/>
          <a:p>
            <a:pPr marL="0" indent="0" algn="ctr">
              <a:lnSpc>
                <a:spcPct val="100000"/>
              </a:lnSpc>
              <a:spcBef>
                <a:spcPts val="0"/>
              </a:spcBef>
              <a:buNone/>
            </a:pPr>
            <a:r>
              <a:rPr lang="en-AU" sz="1800" b="1">
                <a:solidFill>
                  <a:srgbClr val="584099"/>
                </a:solidFill>
                <a:latin typeface="Arial"/>
                <a:ea typeface="Arial"/>
                <a:cs typeface="Arial"/>
              </a:rPr>
              <a:t>6 minutes</a:t>
            </a:r>
          </a:p>
        </p:txBody>
      </p:sp>
    </p:spTree>
    <p:extLst>
      <p:ext uri="{BB962C8B-B14F-4D97-AF65-F5344CB8AC3E}">
        <p14:creationId xmlns:p14="http://schemas.microsoft.com/office/powerpoint/2010/main" val="33943523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Meeting families where they are</a:t>
            </a:r>
          </a:p>
        </p:txBody>
      </p:sp>
      <p:sp>
        <p:nvSpPr>
          <p:cNvPr id="3" name="TextBox 2"/>
          <p:cNvSpPr txBox="1"/>
          <p:nvPr/>
        </p:nvSpPr>
        <p:spPr>
          <a:xfrm>
            <a:off x="685800" y="1325880"/>
            <a:ext cx="10789920" cy="548640"/>
          </a:xfrm>
          <a:prstGeom prst="rect">
            <a:avLst/>
          </a:prstGeom>
          <a:noFill/>
        </p:spPr>
        <p:txBody>
          <a:bodyPr wrap="square" lIns="0" tIns="0" rIns="0" bIns="0" anchor="t">
            <a:noAutofit/>
          </a:bodyPr>
          <a:lstStyle/>
          <a:p>
            <a:pPr marL="0" indent="0" algn="l">
              <a:lnSpc>
                <a:spcPct val="100000"/>
              </a:lnSpc>
              <a:spcBef>
                <a:spcPts val="0"/>
              </a:spcBef>
              <a:buNone/>
            </a:pPr>
            <a:r>
              <a:rPr lang="en-AU" sz="2400" b="1">
                <a:solidFill>
                  <a:srgbClr val="3D2A6B"/>
                </a:solidFill>
                <a:latin typeface="Arial"/>
                <a:ea typeface="Arial"/>
                <a:cs typeface="Arial"/>
              </a:rPr>
              <a:t>Listen before solving.</a:t>
            </a:r>
          </a:p>
        </p:txBody>
      </p:sp>
      <p:sp>
        <p:nvSpPr>
          <p:cNvPr id="4" name="Rounded Rectangle 3"/>
          <p:cNvSpPr/>
          <p:nvPr/>
        </p:nvSpPr>
        <p:spPr>
          <a:xfrm>
            <a:off x="685800" y="2057400"/>
            <a:ext cx="5309464" cy="914400"/>
          </a:xfrm>
          <a:prstGeom prst="roundRect">
            <a:avLst>
              <a:gd name="adj" fmla="val 12000"/>
            </a:avLst>
          </a:prstGeom>
          <a:solidFill>
            <a:srgbClr val="F3F0FA"/>
          </a:solidFill>
          <a:ln>
            <a:noFill/>
          </a:ln>
        </p:spPr>
        <p:txBody>
          <a:bodyPr rtlCol="0" anchor="ctr"/>
          <a:lstStyle/>
          <a:p>
            <a:pPr algn="ctr"/>
            <a:endParaRPr/>
          </a:p>
        </p:txBody>
      </p:sp>
      <p:sp>
        <p:nvSpPr>
          <p:cNvPr id="5" name="TextBox 4"/>
          <p:cNvSpPr txBox="1"/>
          <p:nvPr/>
        </p:nvSpPr>
        <p:spPr>
          <a:xfrm>
            <a:off x="960120" y="2057400"/>
            <a:ext cx="4760824" cy="91440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Ask about communication preferences and priorities</a:t>
            </a:r>
          </a:p>
        </p:txBody>
      </p:sp>
      <p:sp>
        <p:nvSpPr>
          <p:cNvPr id="6" name="Rounded Rectangle 5"/>
          <p:cNvSpPr/>
          <p:nvPr/>
        </p:nvSpPr>
        <p:spPr>
          <a:xfrm>
            <a:off x="6196432" y="2057400"/>
            <a:ext cx="5309464" cy="914400"/>
          </a:xfrm>
          <a:prstGeom prst="roundRect">
            <a:avLst>
              <a:gd name="adj" fmla="val 12000"/>
            </a:avLst>
          </a:prstGeom>
          <a:solidFill>
            <a:srgbClr val="F3F0FA"/>
          </a:solidFill>
          <a:ln>
            <a:noFill/>
          </a:ln>
        </p:spPr>
        <p:txBody>
          <a:bodyPr rtlCol="0" anchor="ctr"/>
          <a:lstStyle/>
          <a:p>
            <a:pPr algn="ctr"/>
            <a:endParaRPr/>
          </a:p>
        </p:txBody>
      </p:sp>
      <p:sp>
        <p:nvSpPr>
          <p:cNvPr id="7" name="TextBox 6"/>
          <p:cNvSpPr txBox="1"/>
          <p:nvPr/>
        </p:nvSpPr>
        <p:spPr>
          <a:xfrm>
            <a:off x="6470752" y="2057400"/>
            <a:ext cx="4760824" cy="91440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Make room for questions and uncertainty</a:t>
            </a:r>
          </a:p>
        </p:txBody>
      </p:sp>
      <p:sp>
        <p:nvSpPr>
          <p:cNvPr id="8" name="Rounded Rectangle 7"/>
          <p:cNvSpPr/>
          <p:nvPr/>
        </p:nvSpPr>
        <p:spPr>
          <a:xfrm>
            <a:off x="685800" y="3172968"/>
            <a:ext cx="5309464" cy="914400"/>
          </a:xfrm>
          <a:prstGeom prst="roundRect">
            <a:avLst>
              <a:gd name="adj" fmla="val 12000"/>
            </a:avLst>
          </a:prstGeom>
          <a:solidFill>
            <a:srgbClr val="F3F0FA"/>
          </a:solidFill>
          <a:ln>
            <a:noFill/>
          </a:ln>
        </p:spPr>
        <p:txBody>
          <a:bodyPr rtlCol="0" anchor="ctr"/>
          <a:lstStyle/>
          <a:p>
            <a:pPr algn="ctr"/>
            <a:endParaRPr/>
          </a:p>
        </p:txBody>
      </p:sp>
      <p:sp>
        <p:nvSpPr>
          <p:cNvPr id="9" name="TextBox 8"/>
          <p:cNvSpPr txBox="1"/>
          <p:nvPr/>
        </p:nvSpPr>
        <p:spPr>
          <a:xfrm>
            <a:off x="960120" y="3172968"/>
            <a:ext cx="4760824" cy="91440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Explain roles, options and next steps plainly</a:t>
            </a:r>
          </a:p>
        </p:txBody>
      </p:sp>
      <p:sp>
        <p:nvSpPr>
          <p:cNvPr id="10" name="Rounded Rectangle 9"/>
          <p:cNvSpPr/>
          <p:nvPr/>
        </p:nvSpPr>
        <p:spPr>
          <a:xfrm>
            <a:off x="6196432" y="3172968"/>
            <a:ext cx="5309464" cy="914400"/>
          </a:xfrm>
          <a:prstGeom prst="roundRect">
            <a:avLst>
              <a:gd name="adj" fmla="val 12000"/>
            </a:avLst>
          </a:prstGeom>
          <a:solidFill>
            <a:srgbClr val="F3F0FA"/>
          </a:solidFill>
          <a:ln>
            <a:noFill/>
          </a:ln>
        </p:spPr>
        <p:txBody>
          <a:bodyPr rtlCol="0" anchor="ctr"/>
          <a:lstStyle/>
          <a:p>
            <a:pPr algn="ctr"/>
            <a:endParaRPr/>
          </a:p>
        </p:txBody>
      </p:sp>
      <p:sp>
        <p:nvSpPr>
          <p:cNvPr id="11" name="TextBox 10"/>
          <p:cNvSpPr txBox="1"/>
          <p:nvPr/>
        </p:nvSpPr>
        <p:spPr>
          <a:xfrm>
            <a:off x="6470752" y="3172968"/>
            <a:ext cx="4760824" cy="91440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Check what is workable for the family now</a:t>
            </a:r>
          </a:p>
        </p:txBody>
      </p:sp>
      <p:sp>
        <p:nvSpPr>
          <p:cNvPr id="12" name="Rounded Rectangle 11"/>
          <p:cNvSpPr/>
          <p:nvPr/>
        </p:nvSpPr>
        <p:spPr>
          <a:xfrm>
            <a:off x="685800" y="4288536"/>
            <a:ext cx="5309464" cy="914400"/>
          </a:xfrm>
          <a:prstGeom prst="roundRect">
            <a:avLst>
              <a:gd name="adj" fmla="val 12000"/>
            </a:avLst>
          </a:prstGeom>
          <a:solidFill>
            <a:srgbClr val="F3F0FA"/>
          </a:solidFill>
          <a:ln>
            <a:noFill/>
          </a:ln>
        </p:spPr>
        <p:txBody>
          <a:bodyPr rtlCol="0" anchor="ctr"/>
          <a:lstStyle/>
          <a:p>
            <a:pPr algn="ctr"/>
            <a:endParaRPr/>
          </a:p>
        </p:txBody>
      </p:sp>
      <p:sp>
        <p:nvSpPr>
          <p:cNvPr id="13" name="TextBox 12"/>
          <p:cNvSpPr txBox="1"/>
          <p:nvPr/>
        </p:nvSpPr>
        <p:spPr>
          <a:xfrm>
            <a:off x="960120" y="4288536"/>
            <a:ext cx="4760824" cy="91440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Avoid judging a family's pace, response or choices</a:t>
            </a:r>
          </a:p>
        </p:txBody>
      </p:sp>
      <p:sp>
        <p:nvSpPr>
          <p:cNvPr id="14" name="Rounded Rectangle 13"/>
          <p:cNvSpPr/>
          <p:nvPr/>
        </p:nvSpPr>
        <p:spPr>
          <a:xfrm>
            <a:off x="685800" y="5577840"/>
            <a:ext cx="10820095" cy="566928"/>
          </a:xfrm>
          <a:prstGeom prst="roundRect">
            <a:avLst>
              <a:gd name="adj" fmla="val 50000"/>
            </a:avLst>
          </a:prstGeom>
          <a:solidFill>
            <a:srgbClr val="FFFFFF"/>
          </a:solidFill>
          <a:ln w="19050">
            <a:solidFill>
              <a:srgbClr val="584099"/>
            </a:solidFill>
          </a:ln>
        </p:spPr>
        <p:txBody>
          <a:bodyPr rtlCol="0" anchor="ctr"/>
          <a:lstStyle/>
          <a:p>
            <a:pPr algn="ctr"/>
            <a:endParaRPr/>
          </a:p>
        </p:txBody>
      </p:sp>
      <p:sp>
        <p:nvSpPr>
          <p:cNvPr id="15" name="TextBox 14"/>
          <p:cNvSpPr txBox="1"/>
          <p:nvPr/>
        </p:nvSpPr>
        <p:spPr>
          <a:xfrm>
            <a:off x="960120" y="5577840"/>
            <a:ext cx="10271455" cy="566928"/>
          </a:xfrm>
          <a:prstGeom prst="rect">
            <a:avLst/>
          </a:prstGeom>
          <a:noFill/>
        </p:spPr>
        <p:txBody>
          <a:bodyPr wrap="square" lIns="0" tIns="0" rIns="0" bIns="0" anchor="ctr">
            <a:noAutofit/>
          </a:bodyPr>
          <a:lstStyle/>
          <a:p>
            <a:pPr marL="0" indent="0" algn="ctr">
              <a:lnSpc>
                <a:spcPct val="100000"/>
              </a:lnSpc>
              <a:spcBef>
                <a:spcPts val="0"/>
              </a:spcBef>
              <a:buNone/>
            </a:pPr>
            <a:r>
              <a:rPr lang="en-AU" sz="1600" b="1">
                <a:solidFill>
                  <a:srgbClr val="584099"/>
                </a:solidFill>
                <a:latin typeface="Arial"/>
                <a:ea typeface="Arial"/>
                <a:cs typeface="Arial"/>
              </a:rPr>
              <a:t>Environment-first thinking applies to meetings too: what could the school change about the process?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Consultation literacy</a:t>
            </a:r>
          </a:p>
        </p:txBody>
      </p:sp>
      <p:sp>
        <p:nvSpPr>
          <p:cNvPr id="3" name="TextBox 2"/>
          <p:cNvSpPr txBox="1"/>
          <p:nvPr/>
        </p:nvSpPr>
        <p:spPr>
          <a:xfrm>
            <a:off x="685800" y="1325880"/>
            <a:ext cx="10789920" cy="548640"/>
          </a:xfrm>
          <a:prstGeom prst="rect">
            <a:avLst/>
          </a:prstGeom>
          <a:noFill/>
        </p:spPr>
        <p:txBody>
          <a:bodyPr wrap="square" lIns="0" tIns="0" rIns="0" bIns="0" anchor="t">
            <a:noAutofit/>
          </a:bodyPr>
          <a:lstStyle/>
          <a:p>
            <a:pPr marL="0" indent="0" algn="l">
              <a:lnSpc>
                <a:spcPct val="100000"/>
              </a:lnSpc>
              <a:spcBef>
                <a:spcPts val="0"/>
              </a:spcBef>
              <a:buNone/>
            </a:pPr>
            <a:r>
              <a:rPr lang="en-AU" sz="2200" b="1">
                <a:solidFill>
                  <a:srgbClr val="3D2A6B"/>
                </a:solidFill>
                <a:latin typeface="Arial"/>
                <a:ea typeface="Arial"/>
                <a:cs typeface="Arial"/>
              </a:rPr>
              <a:t>Useful consultation includes:</a:t>
            </a:r>
          </a:p>
        </p:txBody>
      </p:sp>
      <p:sp>
        <p:nvSpPr>
          <p:cNvPr id="4" name="Rounded Rectangle 3"/>
          <p:cNvSpPr/>
          <p:nvPr/>
        </p:nvSpPr>
        <p:spPr>
          <a:xfrm>
            <a:off x="685800" y="2011680"/>
            <a:ext cx="3454298" cy="1188720"/>
          </a:xfrm>
          <a:prstGeom prst="roundRect">
            <a:avLst>
              <a:gd name="adj" fmla="val 12000"/>
            </a:avLst>
          </a:prstGeom>
          <a:solidFill>
            <a:srgbClr val="F3F0FA"/>
          </a:solidFill>
          <a:ln>
            <a:noFill/>
          </a:ln>
        </p:spPr>
        <p:txBody>
          <a:bodyPr rtlCol="0" anchor="ctr"/>
          <a:lstStyle/>
          <a:p>
            <a:pPr algn="ctr"/>
            <a:endParaRPr/>
          </a:p>
        </p:txBody>
      </p:sp>
      <p:sp>
        <p:nvSpPr>
          <p:cNvPr id="5" name="TextBox 4"/>
          <p:cNvSpPr txBox="1"/>
          <p:nvPr/>
        </p:nvSpPr>
        <p:spPr>
          <a:xfrm>
            <a:off x="960120" y="2011680"/>
            <a:ext cx="2905658" cy="11887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A clear, shared purpose</a:t>
            </a:r>
          </a:p>
        </p:txBody>
      </p:sp>
      <p:sp>
        <p:nvSpPr>
          <p:cNvPr id="6" name="Rounded Rectangle 5"/>
          <p:cNvSpPr/>
          <p:nvPr/>
        </p:nvSpPr>
        <p:spPr>
          <a:xfrm>
            <a:off x="4368698" y="2011680"/>
            <a:ext cx="3454298" cy="1188720"/>
          </a:xfrm>
          <a:prstGeom prst="roundRect">
            <a:avLst>
              <a:gd name="adj" fmla="val 12000"/>
            </a:avLst>
          </a:prstGeom>
          <a:solidFill>
            <a:srgbClr val="F3F0FA"/>
          </a:solidFill>
          <a:ln>
            <a:noFill/>
          </a:ln>
        </p:spPr>
        <p:txBody>
          <a:bodyPr rtlCol="0" anchor="ctr"/>
          <a:lstStyle/>
          <a:p>
            <a:pPr algn="ctr"/>
            <a:endParaRPr/>
          </a:p>
        </p:txBody>
      </p:sp>
      <p:sp>
        <p:nvSpPr>
          <p:cNvPr id="7" name="TextBox 6"/>
          <p:cNvSpPr txBox="1"/>
          <p:nvPr/>
        </p:nvSpPr>
        <p:spPr>
          <a:xfrm>
            <a:off x="4643018" y="2011680"/>
            <a:ext cx="2905658" cy="11887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Open questions</a:t>
            </a:r>
          </a:p>
        </p:txBody>
      </p:sp>
      <p:sp>
        <p:nvSpPr>
          <p:cNvPr id="8" name="Rounded Rectangle 7"/>
          <p:cNvSpPr/>
          <p:nvPr/>
        </p:nvSpPr>
        <p:spPr>
          <a:xfrm>
            <a:off x="8051597" y="2011680"/>
            <a:ext cx="3454298" cy="1188720"/>
          </a:xfrm>
          <a:prstGeom prst="roundRect">
            <a:avLst>
              <a:gd name="adj" fmla="val 12000"/>
            </a:avLst>
          </a:prstGeom>
          <a:solidFill>
            <a:srgbClr val="F3F0FA"/>
          </a:solidFill>
          <a:ln>
            <a:noFill/>
          </a:ln>
        </p:spPr>
        <p:txBody>
          <a:bodyPr rtlCol="0" anchor="ctr"/>
          <a:lstStyle/>
          <a:p>
            <a:pPr algn="ctr"/>
            <a:endParaRPr/>
          </a:p>
        </p:txBody>
      </p:sp>
      <p:sp>
        <p:nvSpPr>
          <p:cNvPr id="9" name="TextBox 8"/>
          <p:cNvSpPr txBox="1"/>
          <p:nvPr/>
        </p:nvSpPr>
        <p:spPr>
          <a:xfrm>
            <a:off x="8325917" y="2011680"/>
            <a:ext cx="2905658" cy="11887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More than one way to contribute</a:t>
            </a:r>
          </a:p>
        </p:txBody>
      </p:sp>
      <p:sp>
        <p:nvSpPr>
          <p:cNvPr id="10" name="Rounded Rectangle 9"/>
          <p:cNvSpPr/>
          <p:nvPr/>
        </p:nvSpPr>
        <p:spPr>
          <a:xfrm>
            <a:off x="685800" y="3429000"/>
            <a:ext cx="3454298" cy="1188720"/>
          </a:xfrm>
          <a:prstGeom prst="roundRect">
            <a:avLst>
              <a:gd name="adj" fmla="val 12000"/>
            </a:avLst>
          </a:prstGeom>
          <a:solidFill>
            <a:srgbClr val="F3F0FA"/>
          </a:solidFill>
          <a:ln>
            <a:noFill/>
          </a:ln>
        </p:spPr>
        <p:txBody>
          <a:bodyPr rtlCol="0" anchor="ctr"/>
          <a:lstStyle/>
          <a:p>
            <a:pPr algn="ctr"/>
            <a:endParaRPr/>
          </a:p>
        </p:txBody>
      </p:sp>
      <p:sp>
        <p:nvSpPr>
          <p:cNvPr id="11" name="TextBox 10"/>
          <p:cNvSpPr txBox="1"/>
          <p:nvPr/>
        </p:nvSpPr>
        <p:spPr>
          <a:xfrm>
            <a:off x="960120" y="3429000"/>
            <a:ext cx="2905658" cy="11887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Respect for student and family knowledge</a:t>
            </a:r>
          </a:p>
        </p:txBody>
      </p:sp>
      <p:sp>
        <p:nvSpPr>
          <p:cNvPr id="12" name="Rounded Rectangle 11"/>
          <p:cNvSpPr/>
          <p:nvPr/>
        </p:nvSpPr>
        <p:spPr>
          <a:xfrm>
            <a:off x="4368698" y="3429000"/>
            <a:ext cx="3454298" cy="1188720"/>
          </a:xfrm>
          <a:prstGeom prst="roundRect">
            <a:avLst>
              <a:gd name="adj" fmla="val 12000"/>
            </a:avLst>
          </a:prstGeom>
          <a:solidFill>
            <a:srgbClr val="F3F0FA"/>
          </a:solidFill>
          <a:ln>
            <a:noFill/>
          </a:ln>
        </p:spPr>
        <p:txBody>
          <a:bodyPr rtlCol="0" anchor="ctr"/>
          <a:lstStyle/>
          <a:p>
            <a:pPr algn="ctr"/>
            <a:endParaRPr/>
          </a:p>
        </p:txBody>
      </p:sp>
      <p:sp>
        <p:nvSpPr>
          <p:cNvPr id="13" name="TextBox 12"/>
          <p:cNvSpPr txBox="1"/>
          <p:nvPr/>
        </p:nvSpPr>
        <p:spPr>
          <a:xfrm>
            <a:off x="4643018" y="3429000"/>
            <a:ext cx="2905658" cy="11887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Accurate recording of what was heard</a:t>
            </a:r>
          </a:p>
        </p:txBody>
      </p:sp>
      <p:sp>
        <p:nvSpPr>
          <p:cNvPr id="14" name="Rounded Rectangle 13"/>
          <p:cNvSpPr/>
          <p:nvPr/>
        </p:nvSpPr>
        <p:spPr>
          <a:xfrm>
            <a:off x="8051597" y="3429000"/>
            <a:ext cx="3454298" cy="1188720"/>
          </a:xfrm>
          <a:prstGeom prst="roundRect">
            <a:avLst>
              <a:gd name="adj" fmla="val 12000"/>
            </a:avLst>
          </a:prstGeom>
          <a:solidFill>
            <a:srgbClr val="F3F0FA"/>
          </a:solidFill>
          <a:ln>
            <a:noFill/>
          </a:ln>
        </p:spPr>
        <p:txBody>
          <a:bodyPr rtlCol="0" anchor="ctr"/>
          <a:lstStyle/>
          <a:p>
            <a:pPr algn="ctr"/>
            <a:endParaRPr/>
          </a:p>
        </p:txBody>
      </p:sp>
      <p:sp>
        <p:nvSpPr>
          <p:cNvPr id="15" name="TextBox 14"/>
          <p:cNvSpPr txBox="1"/>
          <p:nvPr/>
        </p:nvSpPr>
        <p:spPr>
          <a:xfrm>
            <a:off x="8325917" y="3429000"/>
            <a:ext cx="2905658" cy="11887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An agreed action, responsibility and follow-up</a:t>
            </a:r>
          </a:p>
        </p:txBody>
      </p:sp>
      <p:sp>
        <p:nvSpPr>
          <p:cNvPr id="16" name="Rounded Rectangle 15"/>
          <p:cNvSpPr/>
          <p:nvPr/>
        </p:nvSpPr>
        <p:spPr>
          <a:xfrm>
            <a:off x="685800" y="5074920"/>
            <a:ext cx="10820095" cy="566928"/>
          </a:xfrm>
          <a:prstGeom prst="roundRect">
            <a:avLst>
              <a:gd name="adj" fmla="val 50000"/>
            </a:avLst>
          </a:prstGeom>
          <a:solidFill>
            <a:srgbClr val="FFFFFF"/>
          </a:solidFill>
          <a:ln w="19050">
            <a:solidFill>
              <a:srgbClr val="584099"/>
            </a:solidFill>
          </a:ln>
        </p:spPr>
        <p:txBody>
          <a:bodyPr rtlCol="0" anchor="ctr"/>
          <a:lstStyle/>
          <a:p>
            <a:pPr algn="ctr"/>
            <a:endParaRPr/>
          </a:p>
        </p:txBody>
      </p:sp>
      <p:sp>
        <p:nvSpPr>
          <p:cNvPr id="17" name="TextBox 16"/>
          <p:cNvSpPr txBox="1"/>
          <p:nvPr/>
        </p:nvSpPr>
        <p:spPr>
          <a:xfrm>
            <a:off x="960120" y="5074920"/>
            <a:ext cx="10271455" cy="566928"/>
          </a:xfrm>
          <a:prstGeom prst="rect">
            <a:avLst/>
          </a:prstGeom>
          <a:noFill/>
        </p:spPr>
        <p:txBody>
          <a:bodyPr wrap="square" lIns="0" tIns="0" rIns="0" bIns="0" anchor="ctr">
            <a:noAutofit/>
          </a:bodyPr>
          <a:lstStyle/>
          <a:p>
            <a:pPr marL="0" indent="0" algn="ctr">
              <a:lnSpc>
                <a:spcPct val="100000"/>
              </a:lnSpc>
              <a:spcBef>
                <a:spcPts val="0"/>
              </a:spcBef>
              <a:buNone/>
            </a:pPr>
            <a:r>
              <a:rPr lang="en-AU" sz="1800" b="1">
                <a:solidFill>
                  <a:srgbClr val="584099"/>
                </a:solidFill>
                <a:latin typeface="Arial"/>
                <a:ea typeface="Arial"/>
                <a:cs typeface="Arial"/>
              </a:rPr>
              <a:t>Ask, listen, and follow up.</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Consulting students and families</a:t>
            </a:r>
          </a:p>
        </p:txBody>
      </p:sp>
      <p:sp>
        <p:nvSpPr>
          <p:cNvPr id="3" name="Rounded Rectangle 2"/>
          <p:cNvSpPr/>
          <p:nvPr/>
        </p:nvSpPr>
        <p:spPr>
          <a:xfrm>
            <a:off x="685800" y="1325880"/>
            <a:ext cx="5227168" cy="566928"/>
          </a:xfrm>
          <a:prstGeom prst="roundRect">
            <a:avLst>
              <a:gd name="adj" fmla="val 40000"/>
            </a:avLst>
          </a:prstGeom>
          <a:solidFill>
            <a:srgbClr val="584099"/>
          </a:solidFill>
          <a:ln>
            <a:noFill/>
          </a:ln>
        </p:spPr>
        <p:txBody>
          <a:bodyPr rtlCol="0" anchor="ctr"/>
          <a:lstStyle/>
          <a:p>
            <a:pPr algn="ctr"/>
            <a:endParaRPr/>
          </a:p>
        </p:txBody>
      </p:sp>
      <p:sp>
        <p:nvSpPr>
          <p:cNvPr id="4" name="TextBox 3"/>
          <p:cNvSpPr txBox="1"/>
          <p:nvPr/>
        </p:nvSpPr>
        <p:spPr>
          <a:xfrm>
            <a:off x="960120" y="1325880"/>
            <a:ext cx="4678528" cy="566928"/>
          </a:xfrm>
          <a:prstGeom prst="rect">
            <a:avLst/>
          </a:prstGeom>
          <a:noFill/>
        </p:spPr>
        <p:txBody>
          <a:bodyPr wrap="square" lIns="0" tIns="0" rIns="0" bIns="0" anchor="ctr">
            <a:noAutofit/>
          </a:bodyPr>
          <a:lstStyle/>
          <a:p>
            <a:pPr marL="0" indent="0" algn="l">
              <a:lnSpc>
                <a:spcPct val="100000"/>
              </a:lnSpc>
              <a:spcBef>
                <a:spcPts val="0"/>
              </a:spcBef>
              <a:buNone/>
            </a:pPr>
            <a:r>
              <a:rPr lang="en-AU" sz="1800" b="1">
                <a:solidFill>
                  <a:srgbClr val="FFFFFF"/>
                </a:solidFill>
                <a:latin typeface="Arial Black"/>
                <a:ea typeface="Arial Black"/>
                <a:cs typeface="Arial Black"/>
              </a:rPr>
              <a:t>With students</a:t>
            </a:r>
          </a:p>
        </p:txBody>
      </p:sp>
      <p:sp>
        <p:nvSpPr>
          <p:cNvPr id="5" name="Rounded Rectangle 4"/>
          <p:cNvSpPr/>
          <p:nvPr/>
        </p:nvSpPr>
        <p:spPr>
          <a:xfrm>
            <a:off x="685800" y="2057400"/>
            <a:ext cx="2545004" cy="676656"/>
          </a:xfrm>
          <a:prstGeom prst="roundRect">
            <a:avLst>
              <a:gd name="adj" fmla="val 20000"/>
            </a:avLst>
          </a:prstGeom>
          <a:solidFill>
            <a:srgbClr val="F3F0FA"/>
          </a:solidFill>
          <a:ln>
            <a:noFill/>
          </a:ln>
        </p:spPr>
        <p:txBody>
          <a:bodyPr rtlCol="0" anchor="ctr"/>
          <a:lstStyle/>
          <a:p>
            <a:pPr algn="ctr"/>
            <a:endParaRPr/>
          </a:p>
        </p:txBody>
      </p:sp>
      <p:sp>
        <p:nvSpPr>
          <p:cNvPr id="6" name="TextBox 5"/>
          <p:cNvSpPr txBox="1"/>
          <p:nvPr/>
        </p:nvSpPr>
        <p:spPr>
          <a:xfrm>
            <a:off x="960120" y="2057400"/>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Offer communication choices</a:t>
            </a:r>
          </a:p>
        </p:txBody>
      </p:sp>
      <p:sp>
        <p:nvSpPr>
          <p:cNvPr id="7" name="Rounded Rectangle 6"/>
          <p:cNvSpPr/>
          <p:nvPr/>
        </p:nvSpPr>
        <p:spPr>
          <a:xfrm>
            <a:off x="3367964" y="2057400"/>
            <a:ext cx="2545004" cy="676656"/>
          </a:xfrm>
          <a:prstGeom prst="roundRect">
            <a:avLst>
              <a:gd name="adj" fmla="val 20000"/>
            </a:avLst>
          </a:prstGeom>
          <a:solidFill>
            <a:srgbClr val="F3F0FA"/>
          </a:solidFill>
          <a:ln>
            <a:noFill/>
          </a:ln>
        </p:spPr>
        <p:txBody>
          <a:bodyPr rtlCol="0" anchor="ctr"/>
          <a:lstStyle/>
          <a:p>
            <a:pPr algn="ctr"/>
            <a:endParaRPr/>
          </a:p>
        </p:txBody>
      </p:sp>
      <p:sp>
        <p:nvSpPr>
          <p:cNvPr id="8" name="TextBox 7"/>
          <p:cNvSpPr txBox="1"/>
          <p:nvPr/>
        </p:nvSpPr>
        <p:spPr>
          <a:xfrm>
            <a:off x="3642284" y="2057400"/>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Meeting preparation</a:t>
            </a:r>
          </a:p>
        </p:txBody>
      </p:sp>
      <p:sp>
        <p:nvSpPr>
          <p:cNvPr id="9" name="Rounded Rectangle 8"/>
          <p:cNvSpPr/>
          <p:nvPr/>
        </p:nvSpPr>
        <p:spPr>
          <a:xfrm>
            <a:off x="685800" y="2843784"/>
            <a:ext cx="2545004" cy="676656"/>
          </a:xfrm>
          <a:prstGeom prst="roundRect">
            <a:avLst>
              <a:gd name="adj" fmla="val 20000"/>
            </a:avLst>
          </a:prstGeom>
          <a:solidFill>
            <a:srgbClr val="F3F0FA"/>
          </a:solidFill>
          <a:ln>
            <a:noFill/>
          </a:ln>
        </p:spPr>
        <p:txBody>
          <a:bodyPr rtlCol="0" anchor="ctr"/>
          <a:lstStyle/>
          <a:p>
            <a:pPr algn="ctr"/>
            <a:endParaRPr/>
          </a:p>
        </p:txBody>
      </p:sp>
      <p:sp>
        <p:nvSpPr>
          <p:cNvPr id="10" name="TextBox 9"/>
          <p:cNvSpPr txBox="1"/>
          <p:nvPr/>
        </p:nvSpPr>
        <p:spPr>
          <a:xfrm>
            <a:off x="960120" y="2843784"/>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Simple choices</a:t>
            </a:r>
          </a:p>
        </p:txBody>
      </p:sp>
      <p:sp>
        <p:nvSpPr>
          <p:cNvPr id="11" name="Rounded Rectangle 10"/>
          <p:cNvSpPr/>
          <p:nvPr/>
        </p:nvSpPr>
        <p:spPr>
          <a:xfrm>
            <a:off x="3367964" y="2843784"/>
            <a:ext cx="2545004" cy="676656"/>
          </a:xfrm>
          <a:prstGeom prst="roundRect">
            <a:avLst>
              <a:gd name="adj" fmla="val 20000"/>
            </a:avLst>
          </a:prstGeom>
          <a:solidFill>
            <a:srgbClr val="F3F0FA"/>
          </a:solidFill>
          <a:ln>
            <a:noFill/>
          </a:ln>
        </p:spPr>
        <p:txBody>
          <a:bodyPr rtlCol="0" anchor="ctr"/>
          <a:lstStyle/>
          <a:p>
            <a:pPr algn="ctr"/>
            <a:endParaRPr/>
          </a:p>
        </p:txBody>
      </p:sp>
      <p:sp>
        <p:nvSpPr>
          <p:cNvPr id="12" name="TextBox 11"/>
          <p:cNvSpPr txBox="1"/>
          <p:nvPr/>
        </p:nvSpPr>
        <p:spPr>
          <a:xfrm>
            <a:off x="3642284" y="2843784"/>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Processing time</a:t>
            </a:r>
          </a:p>
        </p:txBody>
      </p:sp>
      <p:sp>
        <p:nvSpPr>
          <p:cNvPr id="13" name="Rounded Rectangle 12"/>
          <p:cNvSpPr/>
          <p:nvPr/>
        </p:nvSpPr>
        <p:spPr>
          <a:xfrm>
            <a:off x="685800" y="3630168"/>
            <a:ext cx="2545004" cy="676656"/>
          </a:xfrm>
          <a:prstGeom prst="roundRect">
            <a:avLst>
              <a:gd name="adj" fmla="val 20000"/>
            </a:avLst>
          </a:prstGeom>
          <a:solidFill>
            <a:srgbClr val="F3F0FA"/>
          </a:solidFill>
          <a:ln>
            <a:noFill/>
          </a:ln>
        </p:spPr>
        <p:txBody>
          <a:bodyPr rtlCol="0" anchor="ctr"/>
          <a:lstStyle/>
          <a:p>
            <a:pPr algn="ctr"/>
            <a:endParaRPr/>
          </a:p>
        </p:txBody>
      </p:sp>
      <p:sp>
        <p:nvSpPr>
          <p:cNvPr id="14" name="TextBox 13"/>
          <p:cNvSpPr txBox="1"/>
          <p:nvPr/>
        </p:nvSpPr>
        <p:spPr>
          <a:xfrm>
            <a:off x="960120" y="3630168"/>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Sensory-friendly spaces</a:t>
            </a:r>
          </a:p>
        </p:txBody>
      </p:sp>
      <p:sp>
        <p:nvSpPr>
          <p:cNvPr id="15" name="Rounded Rectangle 14"/>
          <p:cNvSpPr/>
          <p:nvPr/>
        </p:nvSpPr>
        <p:spPr>
          <a:xfrm>
            <a:off x="3367964" y="3630168"/>
            <a:ext cx="2545004" cy="676656"/>
          </a:xfrm>
          <a:prstGeom prst="roundRect">
            <a:avLst>
              <a:gd name="adj" fmla="val 20000"/>
            </a:avLst>
          </a:prstGeom>
          <a:solidFill>
            <a:srgbClr val="F3F0FA"/>
          </a:solidFill>
          <a:ln>
            <a:noFill/>
          </a:ln>
        </p:spPr>
        <p:txBody>
          <a:bodyPr rtlCol="0" anchor="ctr"/>
          <a:lstStyle/>
          <a:p>
            <a:pPr algn="ctr"/>
            <a:endParaRPr/>
          </a:p>
        </p:txBody>
      </p:sp>
      <p:sp>
        <p:nvSpPr>
          <p:cNvPr id="16" name="TextBox 15"/>
          <p:cNvSpPr txBox="1"/>
          <p:nvPr/>
        </p:nvSpPr>
        <p:spPr>
          <a:xfrm>
            <a:off x="3642284" y="3630168"/>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Behaviour as communication</a:t>
            </a:r>
          </a:p>
        </p:txBody>
      </p:sp>
      <p:sp>
        <p:nvSpPr>
          <p:cNvPr id="17" name="Rounded Rectangle 16"/>
          <p:cNvSpPr/>
          <p:nvPr/>
        </p:nvSpPr>
        <p:spPr>
          <a:xfrm>
            <a:off x="685800" y="4416552"/>
            <a:ext cx="2545004" cy="676656"/>
          </a:xfrm>
          <a:prstGeom prst="roundRect">
            <a:avLst>
              <a:gd name="adj" fmla="val 20000"/>
            </a:avLst>
          </a:prstGeom>
          <a:solidFill>
            <a:srgbClr val="F3F0FA"/>
          </a:solidFill>
          <a:ln>
            <a:noFill/>
          </a:ln>
        </p:spPr>
        <p:txBody>
          <a:bodyPr rtlCol="0" anchor="ctr"/>
          <a:lstStyle/>
          <a:p>
            <a:pPr algn="ctr"/>
            <a:endParaRPr/>
          </a:p>
        </p:txBody>
      </p:sp>
      <p:sp>
        <p:nvSpPr>
          <p:cNvPr id="18" name="TextBox 17"/>
          <p:cNvSpPr txBox="1"/>
          <p:nvPr/>
        </p:nvSpPr>
        <p:spPr>
          <a:xfrm>
            <a:off x="960120" y="4416552"/>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Strengths and interests</a:t>
            </a:r>
          </a:p>
        </p:txBody>
      </p:sp>
      <p:sp>
        <p:nvSpPr>
          <p:cNvPr id="19" name="Rounded Rectangle 18"/>
          <p:cNvSpPr/>
          <p:nvPr/>
        </p:nvSpPr>
        <p:spPr>
          <a:xfrm>
            <a:off x="3367964" y="4416552"/>
            <a:ext cx="2545004" cy="676656"/>
          </a:xfrm>
          <a:prstGeom prst="roundRect">
            <a:avLst>
              <a:gd name="adj" fmla="val 20000"/>
            </a:avLst>
          </a:prstGeom>
          <a:solidFill>
            <a:srgbClr val="F3F0FA"/>
          </a:solidFill>
          <a:ln>
            <a:noFill/>
          </a:ln>
        </p:spPr>
        <p:txBody>
          <a:bodyPr rtlCol="0" anchor="ctr"/>
          <a:lstStyle/>
          <a:p>
            <a:pPr algn="ctr"/>
            <a:endParaRPr/>
          </a:p>
        </p:txBody>
      </p:sp>
      <p:sp>
        <p:nvSpPr>
          <p:cNvPr id="20" name="TextBox 19"/>
          <p:cNvSpPr txBox="1"/>
          <p:nvPr/>
        </p:nvSpPr>
        <p:spPr>
          <a:xfrm>
            <a:off x="3642284" y="4416552"/>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Support - don’t speak for</a:t>
            </a:r>
          </a:p>
        </p:txBody>
      </p:sp>
      <p:sp>
        <p:nvSpPr>
          <p:cNvPr id="21" name="Rounded Rectangle 20"/>
          <p:cNvSpPr/>
          <p:nvPr/>
        </p:nvSpPr>
        <p:spPr>
          <a:xfrm>
            <a:off x="685800" y="5202936"/>
            <a:ext cx="2545004" cy="676656"/>
          </a:xfrm>
          <a:prstGeom prst="roundRect">
            <a:avLst>
              <a:gd name="adj" fmla="val 20000"/>
            </a:avLst>
          </a:prstGeom>
          <a:solidFill>
            <a:srgbClr val="F3F0FA"/>
          </a:solidFill>
          <a:ln>
            <a:noFill/>
          </a:ln>
        </p:spPr>
        <p:txBody>
          <a:bodyPr rtlCol="0" anchor="ctr"/>
          <a:lstStyle/>
          <a:p>
            <a:pPr algn="ctr"/>
            <a:endParaRPr/>
          </a:p>
        </p:txBody>
      </p:sp>
      <p:sp>
        <p:nvSpPr>
          <p:cNvPr id="22" name="TextBox 21"/>
          <p:cNvSpPr txBox="1"/>
          <p:nvPr/>
        </p:nvSpPr>
        <p:spPr>
          <a:xfrm>
            <a:off x="960120" y="5202936"/>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Clear, accessible questions</a:t>
            </a:r>
          </a:p>
        </p:txBody>
      </p:sp>
      <p:sp>
        <p:nvSpPr>
          <p:cNvPr id="23" name="Rounded Rectangle 22"/>
          <p:cNvSpPr/>
          <p:nvPr/>
        </p:nvSpPr>
        <p:spPr>
          <a:xfrm>
            <a:off x="6278728" y="1325880"/>
            <a:ext cx="5227168" cy="566928"/>
          </a:xfrm>
          <a:prstGeom prst="roundRect">
            <a:avLst>
              <a:gd name="adj" fmla="val 40000"/>
            </a:avLst>
          </a:prstGeom>
          <a:solidFill>
            <a:srgbClr val="584099"/>
          </a:solidFill>
          <a:ln>
            <a:noFill/>
          </a:ln>
        </p:spPr>
        <p:txBody>
          <a:bodyPr rtlCol="0" anchor="ctr"/>
          <a:lstStyle/>
          <a:p>
            <a:pPr algn="ctr"/>
            <a:endParaRPr/>
          </a:p>
        </p:txBody>
      </p:sp>
      <p:sp>
        <p:nvSpPr>
          <p:cNvPr id="24" name="TextBox 23"/>
          <p:cNvSpPr txBox="1"/>
          <p:nvPr/>
        </p:nvSpPr>
        <p:spPr>
          <a:xfrm>
            <a:off x="6553048" y="1325880"/>
            <a:ext cx="4678528" cy="566928"/>
          </a:xfrm>
          <a:prstGeom prst="rect">
            <a:avLst/>
          </a:prstGeom>
          <a:noFill/>
        </p:spPr>
        <p:txBody>
          <a:bodyPr wrap="square" lIns="0" tIns="0" rIns="0" bIns="0" anchor="ctr">
            <a:noAutofit/>
          </a:bodyPr>
          <a:lstStyle/>
          <a:p>
            <a:pPr marL="0" indent="0" algn="l">
              <a:lnSpc>
                <a:spcPct val="100000"/>
              </a:lnSpc>
              <a:spcBef>
                <a:spcPts val="0"/>
              </a:spcBef>
              <a:buNone/>
            </a:pPr>
            <a:r>
              <a:rPr lang="en-AU" sz="1800" b="1">
                <a:solidFill>
                  <a:srgbClr val="FFFFFF"/>
                </a:solidFill>
                <a:latin typeface="Arial Black"/>
                <a:ea typeface="Arial Black"/>
                <a:cs typeface="Arial Black"/>
              </a:rPr>
              <a:t>With families</a:t>
            </a:r>
          </a:p>
        </p:txBody>
      </p:sp>
      <p:sp>
        <p:nvSpPr>
          <p:cNvPr id="25" name="Rounded Rectangle 24"/>
          <p:cNvSpPr/>
          <p:nvPr/>
        </p:nvSpPr>
        <p:spPr>
          <a:xfrm>
            <a:off x="6278728" y="2057400"/>
            <a:ext cx="2545004" cy="676656"/>
          </a:xfrm>
          <a:prstGeom prst="roundRect">
            <a:avLst>
              <a:gd name="adj" fmla="val 20000"/>
            </a:avLst>
          </a:prstGeom>
          <a:solidFill>
            <a:srgbClr val="F3F0FA"/>
          </a:solidFill>
          <a:ln>
            <a:noFill/>
          </a:ln>
        </p:spPr>
        <p:txBody>
          <a:bodyPr rtlCol="0" anchor="ctr"/>
          <a:lstStyle/>
          <a:p>
            <a:pPr algn="ctr"/>
            <a:endParaRPr/>
          </a:p>
        </p:txBody>
      </p:sp>
      <p:sp>
        <p:nvSpPr>
          <p:cNvPr id="26" name="TextBox 25"/>
          <p:cNvSpPr txBox="1"/>
          <p:nvPr/>
        </p:nvSpPr>
        <p:spPr>
          <a:xfrm>
            <a:off x="6553048" y="2057400"/>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Start with students’ strengths and interests</a:t>
            </a:r>
          </a:p>
        </p:txBody>
      </p:sp>
      <p:sp>
        <p:nvSpPr>
          <p:cNvPr id="27" name="Rounded Rectangle 26"/>
          <p:cNvSpPr/>
          <p:nvPr/>
        </p:nvSpPr>
        <p:spPr>
          <a:xfrm>
            <a:off x="8960891" y="2057400"/>
            <a:ext cx="2545004" cy="676656"/>
          </a:xfrm>
          <a:prstGeom prst="roundRect">
            <a:avLst>
              <a:gd name="adj" fmla="val 20000"/>
            </a:avLst>
          </a:prstGeom>
          <a:solidFill>
            <a:srgbClr val="F3F0FA"/>
          </a:solidFill>
          <a:ln>
            <a:noFill/>
          </a:ln>
        </p:spPr>
        <p:txBody>
          <a:bodyPr rtlCol="0" anchor="ctr"/>
          <a:lstStyle/>
          <a:p>
            <a:pPr algn="ctr"/>
            <a:endParaRPr/>
          </a:p>
        </p:txBody>
      </p:sp>
      <p:sp>
        <p:nvSpPr>
          <p:cNvPr id="28" name="TextBox 27"/>
          <p:cNvSpPr txBox="1"/>
          <p:nvPr/>
        </p:nvSpPr>
        <p:spPr>
          <a:xfrm>
            <a:off x="9235211" y="2057400"/>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Listen to families and value their insights</a:t>
            </a:r>
          </a:p>
        </p:txBody>
      </p:sp>
      <p:sp>
        <p:nvSpPr>
          <p:cNvPr id="29" name="Rounded Rectangle 28"/>
          <p:cNvSpPr/>
          <p:nvPr/>
        </p:nvSpPr>
        <p:spPr>
          <a:xfrm>
            <a:off x="6278728" y="2843784"/>
            <a:ext cx="2545004" cy="676656"/>
          </a:xfrm>
          <a:prstGeom prst="roundRect">
            <a:avLst>
              <a:gd name="adj" fmla="val 20000"/>
            </a:avLst>
          </a:prstGeom>
          <a:solidFill>
            <a:srgbClr val="F3F0FA"/>
          </a:solidFill>
          <a:ln>
            <a:noFill/>
          </a:ln>
        </p:spPr>
        <p:txBody>
          <a:bodyPr rtlCol="0" anchor="ctr"/>
          <a:lstStyle/>
          <a:p>
            <a:pPr algn="ctr"/>
            <a:endParaRPr/>
          </a:p>
        </p:txBody>
      </p:sp>
      <p:sp>
        <p:nvSpPr>
          <p:cNvPr id="30" name="TextBox 29"/>
          <p:cNvSpPr txBox="1"/>
          <p:nvPr/>
        </p:nvSpPr>
        <p:spPr>
          <a:xfrm>
            <a:off x="6553048" y="2843784"/>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Use clear, simple language</a:t>
            </a:r>
          </a:p>
        </p:txBody>
      </p:sp>
      <p:sp>
        <p:nvSpPr>
          <p:cNvPr id="31" name="Rounded Rectangle 30"/>
          <p:cNvSpPr/>
          <p:nvPr/>
        </p:nvSpPr>
        <p:spPr>
          <a:xfrm>
            <a:off x="8960891" y="2843784"/>
            <a:ext cx="2545004" cy="676656"/>
          </a:xfrm>
          <a:prstGeom prst="roundRect">
            <a:avLst>
              <a:gd name="adj" fmla="val 20000"/>
            </a:avLst>
          </a:prstGeom>
          <a:solidFill>
            <a:srgbClr val="F3F0FA"/>
          </a:solidFill>
          <a:ln>
            <a:noFill/>
          </a:ln>
        </p:spPr>
        <p:txBody>
          <a:bodyPr rtlCol="0" anchor="ctr"/>
          <a:lstStyle/>
          <a:p>
            <a:pPr algn="ctr"/>
            <a:endParaRPr/>
          </a:p>
        </p:txBody>
      </p:sp>
      <p:sp>
        <p:nvSpPr>
          <p:cNvPr id="32" name="TextBox 31"/>
          <p:cNvSpPr txBox="1"/>
          <p:nvPr/>
        </p:nvSpPr>
        <p:spPr>
          <a:xfrm>
            <a:off x="9235211" y="2843784"/>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Respect different perspectives / experiences</a:t>
            </a:r>
          </a:p>
        </p:txBody>
      </p:sp>
      <p:sp>
        <p:nvSpPr>
          <p:cNvPr id="33" name="Rounded Rectangle 32"/>
          <p:cNvSpPr/>
          <p:nvPr/>
        </p:nvSpPr>
        <p:spPr>
          <a:xfrm>
            <a:off x="6278728" y="3630168"/>
            <a:ext cx="2545004" cy="676656"/>
          </a:xfrm>
          <a:prstGeom prst="roundRect">
            <a:avLst>
              <a:gd name="adj" fmla="val 20000"/>
            </a:avLst>
          </a:prstGeom>
          <a:solidFill>
            <a:srgbClr val="F3F0FA"/>
          </a:solidFill>
          <a:ln>
            <a:noFill/>
          </a:ln>
        </p:spPr>
        <p:txBody>
          <a:bodyPr rtlCol="0" anchor="ctr"/>
          <a:lstStyle/>
          <a:p>
            <a:pPr algn="ctr"/>
            <a:endParaRPr/>
          </a:p>
        </p:txBody>
      </p:sp>
      <p:sp>
        <p:nvSpPr>
          <p:cNvPr id="34" name="TextBox 33"/>
          <p:cNvSpPr txBox="1"/>
          <p:nvPr/>
        </p:nvSpPr>
        <p:spPr>
          <a:xfrm>
            <a:off x="6553048" y="3630168"/>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Focus on needs, goals and participation</a:t>
            </a:r>
          </a:p>
        </p:txBody>
      </p:sp>
      <p:sp>
        <p:nvSpPr>
          <p:cNvPr id="35" name="Rounded Rectangle 34"/>
          <p:cNvSpPr/>
          <p:nvPr/>
        </p:nvSpPr>
        <p:spPr>
          <a:xfrm>
            <a:off x="8960891" y="3630168"/>
            <a:ext cx="2545004" cy="676656"/>
          </a:xfrm>
          <a:prstGeom prst="roundRect">
            <a:avLst>
              <a:gd name="adj" fmla="val 20000"/>
            </a:avLst>
          </a:prstGeom>
          <a:solidFill>
            <a:srgbClr val="F3F0FA"/>
          </a:solidFill>
          <a:ln>
            <a:noFill/>
          </a:ln>
        </p:spPr>
        <p:txBody>
          <a:bodyPr rtlCol="0" anchor="ctr"/>
          <a:lstStyle/>
          <a:p>
            <a:pPr algn="ctr"/>
            <a:endParaRPr/>
          </a:p>
        </p:txBody>
      </p:sp>
      <p:sp>
        <p:nvSpPr>
          <p:cNvPr id="36" name="TextBox 35"/>
          <p:cNvSpPr txBox="1"/>
          <p:nvPr/>
        </p:nvSpPr>
        <p:spPr>
          <a:xfrm>
            <a:off x="9235211" y="3630168"/>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Use real examples from school</a:t>
            </a:r>
          </a:p>
        </p:txBody>
      </p:sp>
      <p:sp>
        <p:nvSpPr>
          <p:cNvPr id="37" name="Rounded Rectangle 36"/>
          <p:cNvSpPr/>
          <p:nvPr/>
        </p:nvSpPr>
        <p:spPr>
          <a:xfrm>
            <a:off x="6278728" y="4416552"/>
            <a:ext cx="2545004" cy="676656"/>
          </a:xfrm>
          <a:prstGeom prst="roundRect">
            <a:avLst>
              <a:gd name="adj" fmla="val 20000"/>
            </a:avLst>
          </a:prstGeom>
          <a:solidFill>
            <a:srgbClr val="F3F0FA"/>
          </a:solidFill>
          <a:ln>
            <a:noFill/>
          </a:ln>
        </p:spPr>
        <p:txBody>
          <a:bodyPr rtlCol="0" anchor="ctr"/>
          <a:lstStyle/>
          <a:p>
            <a:pPr algn="ctr"/>
            <a:endParaRPr/>
          </a:p>
        </p:txBody>
      </p:sp>
      <p:sp>
        <p:nvSpPr>
          <p:cNvPr id="38" name="TextBox 37"/>
          <p:cNvSpPr txBox="1"/>
          <p:nvPr/>
        </p:nvSpPr>
        <p:spPr>
          <a:xfrm>
            <a:off x="6553048" y="4416552"/>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Check for shared understanding</a:t>
            </a:r>
          </a:p>
        </p:txBody>
      </p:sp>
      <p:sp>
        <p:nvSpPr>
          <p:cNvPr id="39" name="Rounded Rectangle 38"/>
          <p:cNvSpPr/>
          <p:nvPr/>
        </p:nvSpPr>
        <p:spPr>
          <a:xfrm>
            <a:off x="8960891" y="4416552"/>
            <a:ext cx="2545004" cy="676656"/>
          </a:xfrm>
          <a:prstGeom prst="roundRect">
            <a:avLst>
              <a:gd name="adj" fmla="val 20000"/>
            </a:avLst>
          </a:prstGeom>
          <a:solidFill>
            <a:srgbClr val="F3F0FA"/>
          </a:solidFill>
          <a:ln>
            <a:noFill/>
          </a:ln>
        </p:spPr>
        <p:txBody>
          <a:bodyPr rtlCol="0" anchor="ctr"/>
          <a:lstStyle/>
          <a:p>
            <a:pPr algn="ctr"/>
            <a:endParaRPr/>
          </a:p>
        </p:txBody>
      </p:sp>
      <p:sp>
        <p:nvSpPr>
          <p:cNvPr id="40" name="TextBox 39"/>
          <p:cNvSpPr txBox="1"/>
          <p:nvPr/>
        </p:nvSpPr>
        <p:spPr>
          <a:xfrm>
            <a:off x="9235211" y="4416552"/>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Agree on next steps</a:t>
            </a:r>
          </a:p>
        </p:txBody>
      </p:sp>
      <p:sp>
        <p:nvSpPr>
          <p:cNvPr id="41" name="Rounded Rectangle 40"/>
          <p:cNvSpPr/>
          <p:nvPr/>
        </p:nvSpPr>
        <p:spPr>
          <a:xfrm>
            <a:off x="6278728" y="5202936"/>
            <a:ext cx="2545004" cy="676656"/>
          </a:xfrm>
          <a:prstGeom prst="roundRect">
            <a:avLst>
              <a:gd name="adj" fmla="val 20000"/>
            </a:avLst>
          </a:prstGeom>
          <a:solidFill>
            <a:srgbClr val="F3F0FA"/>
          </a:solidFill>
          <a:ln>
            <a:noFill/>
          </a:ln>
        </p:spPr>
        <p:txBody>
          <a:bodyPr rtlCol="0" anchor="ctr"/>
          <a:lstStyle/>
          <a:p>
            <a:pPr algn="ctr"/>
            <a:endParaRPr/>
          </a:p>
        </p:txBody>
      </p:sp>
      <p:sp>
        <p:nvSpPr>
          <p:cNvPr id="42" name="TextBox 41"/>
          <p:cNvSpPr txBox="1"/>
          <p:nvPr/>
        </p:nvSpPr>
        <p:spPr>
          <a:xfrm>
            <a:off x="6553048" y="5202936"/>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Keep communication open and ongoing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When student capacity runs out</a:t>
            </a:r>
          </a:p>
        </p:txBody>
      </p:sp>
      <p:sp>
        <p:nvSpPr>
          <p:cNvPr id="3" name="TextBox 2"/>
          <p:cNvSpPr txBox="1"/>
          <p:nvPr/>
        </p:nvSpPr>
        <p:spPr>
          <a:xfrm>
            <a:off x="685800" y="1325880"/>
            <a:ext cx="10789920" cy="914400"/>
          </a:xfrm>
          <a:prstGeom prst="rect">
            <a:avLst/>
          </a:prstGeom>
          <a:noFill/>
        </p:spPr>
        <p:txBody>
          <a:bodyPr wrap="square" lIns="0" tIns="0" rIns="0" bIns="0" anchor="t">
            <a:noAutofit/>
          </a:bodyPr>
          <a:lstStyle/>
          <a:p>
            <a:pPr marL="0" indent="0" algn="l">
              <a:lnSpc>
                <a:spcPct val="105000"/>
              </a:lnSpc>
              <a:spcBef>
                <a:spcPts val="0"/>
              </a:spcBef>
              <a:buNone/>
            </a:pPr>
            <a:r>
              <a:rPr lang="en-AU" sz="2200" b="1">
                <a:solidFill>
                  <a:srgbClr val="3D2A6B"/>
                </a:solidFill>
                <a:latin typeface="Arial"/>
                <a:ea typeface="Arial"/>
                <a:cs typeface="Arial"/>
              </a:rPr>
              <a:t>Discuss capacity without blame. Home and school may observe different parts of the student's experience.</a:t>
            </a:r>
          </a:p>
        </p:txBody>
      </p:sp>
      <p:sp>
        <p:nvSpPr>
          <p:cNvPr id="4" name="Rounded Rectangle 3"/>
          <p:cNvSpPr/>
          <p:nvPr/>
        </p:nvSpPr>
        <p:spPr>
          <a:xfrm>
            <a:off x="685800" y="2514600"/>
            <a:ext cx="3423818" cy="1188720"/>
          </a:xfrm>
          <a:prstGeom prst="roundRect">
            <a:avLst>
              <a:gd name="adj" fmla="val 20000"/>
            </a:avLst>
          </a:prstGeom>
          <a:solidFill>
            <a:srgbClr val="F3F0FA"/>
          </a:solidFill>
          <a:ln>
            <a:noFill/>
          </a:ln>
        </p:spPr>
        <p:txBody>
          <a:bodyPr rtlCol="0" anchor="ctr"/>
          <a:lstStyle/>
          <a:p>
            <a:pPr algn="ctr"/>
            <a:endParaRPr/>
          </a:p>
        </p:txBody>
      </p:sp>
      <p:sp>
        <p:nvSpPr>
          <p:cNvPr id="5" name="TextBox 4"/>
          <p:cNvSpPr txBox="1"/>
          <p:nvPr/>
        </p:nvSpPr>
        <p:spPr>
          <a:xfrm>
            <a:off x="960120" y="2514600"/>
            <a:ext cx="2875178" cy="1188720"/>
          </a:xfrm>
          <a:prstGeom prst="rect">
            <a:avLst/>
          </a:prstGeom>
          <a:noFill/>
        </p:spPr>
        <p:txBody>
          <a:bodyPr wrap="square" lIns="0" tIns="0" rIns="0" bIns="0" anchor="ctr">
            <a:noAutofit/>
          </a:bodyPr>
          <a:lstStyle/>
          <a:p>
            <a:pPr marL="0" indent="0" algn="ctr">
              <a:lnSpc>
                <a:spcPct val="100000"/>
              </a:lnSpc>
              <a:spcBef>
                <a:spcPts val="0"/>
              </a:spcBef>
              <a:buNone/>
            </a:pPr>
            <a:r>
              <a:rPr lang="en-AU" sz="2400" b="1">
                <a:solidFill>
                  <a:srgbClr val="584099"/>
                </a:solidFill>
                <a:latin typeface="Arial Black"/>
                <a:ea typeface="Arial Black"/>
                <a:cs typeface="Arial Black"/>
              </a:rPr>
              <a:t>Meltdown</a:t>
            </a:r>
          </a:p>
        </p:txBody>
      </p:sp>
      <p:sp>
        <p:nvSpPr>
          <p:cNvPr id="6" name="Rounded Rectangle 5"/>
          <p:cNvSpPr/>
          <p:nvPr/>
        </p:nvSpPr>
        <p:spPr>
          <a:xfrm>
            <a:off x="4383938" y="2514600"/>
            <a:ext cx="3423818" cy="1188720"/>
          </a:xfrm>
          <a:prstGeom prst="roundRect">
            <a:avLst>
              <a:gd name="adj" fmla="val 20000"/>
            </a:avLst>
          </a:prstGeom>
          <a:solidFill>
            <a:srgbClr val="F3F0FA"/>
          </a:solidFill>
          <a:ln>
            <a:noFill/>
          </a:ln>
        </p:spPr>
        <p:txBody>
          <a:bodyPr rtlCol="0" anchor="ctr"/>
          <a:lstStyle/>
          <a:p>
            <a:pPr algn="ctr"/>
            <a:endParaRPr/>
          </a:p>
        </p:txBody>
      </p:sp>
      <p:sp>
        <p:nvSpPr>
          <p:cNvPr id="7" name="TextBox 6"/>
          <p:cNvSpPr txBox="1"/>
          <p:nvPr/>
        </p:nvSpPr>
        <p:spPr>
          <a:xfrm>
            <a:off x="4658258" y="2514600"/>
            <a:ext cx="2875178" cy="1188720"/>
          </a:xfrm>
          <a:prstGeom prst="rect">
            <a:avLst/>
          </a:prstGeom>
          <a:noFill/>
        </p:spPr>
        <p:txBody>
          <a:bodyPr wrap="square" lIns="0" tIns="0" rIns="0" bIns="0" anchor="ctr">
            <a:noAutofit/>
          </a:bodyPr>
          <a:lstStyle/>
          <a:p>
            <a:pPr marL="0" indent="0" algn="ctr">
              <a:lnSpc>
                <a:spcPct val="100000"/>
              </a:lnSpc>
              <a:spcBef>
                <a:spcPts val="0"/>
              </a:spcBef>
              <a:buNone/>
            </a:pPr>
            <a:r>
              <a:rPr lang="en-AU" sz="2400" b="1">
                <a:solidFill>
                  <a:srgbClr val="584099"/>
                </a:solidFill>
                <a:latin typeface="Arial Black"/>
                <a:ea typeface="Arial Black"/>
                <a:cs typeface="Arial Black"/>
              </a:rPr>
              <a:t>Shutdown</a:t>
            </a:r>
          </a:p>
        </p:txBody>
      </p:sp>
      <p:sp>
        <p:nvSpPr>
          <p:cNvPr id="8" name="Rounded Rectangle 7"/>
          <p:cNvSpPr/>
          <p:nvPr/>
        </p:nvSpPr>
        <p:spPr>
          <a:xfrm>
            <a:off x="8082077" y="2514600"/>
            <a:ext cx="3423818" cy="1188720"/>
          </a:xfrm>
          <a:prstGeom prst="roundRect">
            <a:avLst>
              <a:gd name="adj" fmla="val 20000"/>
            </a:avLst>
          </a:prstGeom>
          <a:solidFill>
            <a:srgbClr val="F3F0FA"/>
          </a:solidFill>
          <a:ln>
            <a:noFill/>
          </a:ln>
        </p:spPr>
        <p:txBody>
          <a:bodyPr rtlCol="0" anchor="ctr"/>
          <a:lstStyle/>
          <a:p>
            <a:pPr algn="ctr"/>
            <a:endParaRPr/>
          </a:p>
        </p:txBody>
      </p:sp>
      <p:sp>
        <p:nvSpPr>
          <p:cNvPr id="9" name="TextBox 8"/>
          <p:cNvSpPr txBox="1"/>
          <p:nvPr/>
        </p:nvSpPr>
        <p:spPr>
          <a:xfrm>
            <a:off x="8356397" y="2514600"/>
            <a:ext cx="2875178" cy="1188720"/>
          </a:xfrm>
          <a:prstGeom prst="rect">
            <a:avLst/>
          </a:prstGeom>
          <a:noFill/>
        </p:spPr>
        <p:txBody>
          <a:bodyPr wrap="square" lIns="0" tIns="0" rIns="0" bIns="0" anchor="ctr">
            <a:noAutofit/>
          </a:bodyPr>
          <a:lstStyle/>
          <a:p>
            <a:pPr marL="0" indent="0" algn="ctr">
              <a:lnSpc>
                <a:spcPct val="100000"/>
              </a:lnSpc>
              <a:spcBef>
                <a:spcPts val="0"/>
              </a:spcBef>
              <a:buNone/>
            </a:pPr>
            <a:r>
              <a:rPr lang="en-AU" sz="2400" b="1">
                <a:solidFill>
                  <a:srgbClr val="584099"/>
                </a:solidFill>
                <a:latin typeface="Arial Black"/>
                <a:ea typeface="Arial Black"/>
                <a:cs typeface="Arial Black"/>
              </a:rPr>
              <a:t>School Can’t</a:t>
            </a:r>
          </a:p>
        </p:txBody>
      </p:sp>
      <p:sp>
        <p:nvSpPr>
          <p:cNvPr id="10" name="Rounded Rectangle 9"/>
          <p:cNvSpPr/>
          <p:nvPr/>
        </p:nvSpPr>
        <p:spPr>
          <a:xfrm>
            <a:off x="685800" y="4023360"/>
            <a:ext cx="10820095" cy="1234440"/>
          </a:xfrm>
          <a:prstGeom prst="roundRect">
            <a:avLst>
              <a:gd name="adj" fmla="val 20000"/>
            </a:avLst>
          </a:prstGeom>
          <a:solidFill>
            <a:srgbClr val="FFFFFF"/>
          </a:solidFill>
          <a:ln w="19050">
            <a:solidFill>
              <a:srgbClr val="584099"/>
            </a:solidFill>
          </a:ln>
        </p:spPr>
        <p:txBody>
          <a:bodyPr rtlCol="0" anchor="ctr"/>
          <a:lstStyle/>
          <a:p>
            <a:pPr algn="ctr"/>
            <a:endParaRPr/>
          </a:p>
        </p:txBody>
      </p:sp>
      <p:sp>
        <p:nvSpPr>
          <p:cNvPr id="11" name="TextBox 10"/>
          <p:cNvSpPr txBox="1"/>
          <p:nvPr/>
        </p:nvSpPr>
        <p:spPr>
          <a:xfrm>
            <a:off x="1005840" y="4023360"/>
            <a:ext cx="10149840" cy="1234440"/>
          </a:xfrm>
          <a:prstGeom prst="rect">
            <a:avLst/>
          </a:prstGeom>
          <a:noFill/>
        </p:spPr>
        <p:txBody>
          <a:bodyPr wrap="square" lIns="0" tIns="0" rIns="0" bIns="0" anchor="ctr">
            <a:noAutofit/>
          </a:bodyPr>
          <a:lstStyle/>
          <a:p>
            <a:pPr marL="0" indent="0" algn="l">
              <a:lnSpc>
                <a:spcPct val="105000"/>
              </a:lnSpc>
              <a:spcBef>
                <a:spcPts val="0"/>
              </a:spcBef>
              <a:buNone/>
            </a:pPr>
            <a:r>
              <a:rPr lang="en-AU" sz="1800" b="0">
                <a:solidFill>
                  <a:srgbClr val="3D2A6B"/>
                </a:solidFill>
                <a:latin typeface="Arial"/>
                <a:ea typeface="Arial"/>
                <a:cs typeface="Arial"/>
              </a:rPr>
              <a:t>Focus on safety, what preceded the situation, what supports recovery and what can change in the environment, task or response.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F0BFB307-C748-4190-B8CD-319D0F096407}"/>
              </a:ext>
            </a:extLst>
          </p:cNvPr>
          <p:cNvSpPr txBox="1">
            <a:spLocks/>
          </p:cNvSpPr>
          <p:nvPr/>
        </p:nvSpPr>
        <p:spPr>
          <a:xfrm>
            <a:off x="6309360" y="457200"/>
            <a:ext cx="5196535" cy="777240"/>
          </a:xfrm>
          <a:prstGeom prst="rect">
            <a:avLst/>
          </a:prstGeom>
        </p:spPr>
        <p:txBody>
          <a:bodyPr wrap="square" lIns="0" tIns="0" rIns="0" bIns="0" anchor="t">
            <a:noAutofit/>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indent="0" algn="r">
              <a:lnSpc>
                <a:spcPct val="100000"/>
              </a:lnSpc>
              <a:spcBef>
                <a:spcPts val="0"/>
              </a:spcBef>
              <a:buNone/>
            </a:pPr>
            <a:r>
              <a:rPr lang="en-AU" sz="3600" b="0">
                <a:solidFill>
                  <a:srgbClr val="584099"/>
                </a:solidFill>
                <a:latin typeface="Arial Black"/>
                <a:ea typeface="Arial Black"/>
                <a:cs typeface="Arial Black"/>
              </a:rPr>
              <a:t>Partnership tools</a:t>
            </a:r>
          </a:p>
        </p:txBody>
      </p:sp>
      <p:pic>
        <p:nvPicPr>
          <p:cNvPr id="5" name="Picture 4"/>
          <p:cNvPicPr>
            <a:picLocks noChangeAspect="1"/>
          </p:cNvPicPr>
          <p:nvPr/>
        </p:nvPicPr>
        <p:blipFill rotWithShape="1">
          <a:blip r:embed="rId3"/>
          <a:srcRect l="-2850" t="-3367" r="-2431" b="1"/>
          <a:stretch/>
        </p:blipFill>
        <p:spPr>
          <a:xfrm rot="474070">
            <a:off x="5401381" y="1708714"/>
            <a:ext cx="6048605" cy="3871396"/>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pic>
        <p:nvPicPr>
          <p:cNvPr id="3" name="Picture 2">
            <a:extLst>
              <a:ext uri="{FF2B5EF4-FFF2-40B4-BE49-F238E27FC236}">
                <a16:creationId xmlns:a16="http://schemas.microsoft.com/office/drawing/2014/main" id="{9937E829-43C9-4A63-A885-D69DCA04E947}"/>
              </a:ext>
            </a:extLst>
          </p:cNvPr>
          <p:cNvPicPr>
            <a:picLocks noChangeAspect="1"/>
          </p:cNvPicPr>
          <p:nvPr/>
        </p:nvPicPr>
        <p:blipFill>
          <a:blip r:embed="rId4"/>
          <a:stretch>
            <a:fillRect/>
          </a:stretch>
        </p:blipFill>
        <p:spPr>
          <a:xfrm rot="21295906">
            <a:off x="1264142" y="536121"/>
            <a:ext cx="4069586" cy="578575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958738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C9AB3-31EC-27A9-8206-7C0BE658E8B7}"/>
              </a:ext>
            </a:extLst>
          </p:cNvPr>
          <p:cNvSpPr>
            <a:spLocks noGrp="1"/>
          </p:cNvSpPr>
          <p:nvPr>
            <p:ph type="title"/>
          </p:nvPr>
        </p:nvSpPr>
        <p:spPr>
          <a:xfrm>
            <a:off x="685800" y="457200"/>
            <a:ext cx="10789920" cy="777240"/>
          </a:xfrm>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NCCD Meetings Tool Kit</a:t>
            </a:r>
          </a:p>
        </p:txBody>
      </p:sp>
      <p:pic>
        <p:nvPicPr>
          <p:cNvPr id="4" name="Content Placeholder 3">
            <a:extLst>
              <a:ext uri="{FF2B5EF4-FFF2-40B4-BE49-F238E27FC236}">
                <a16:creationId xmlns:a16="http://schemas.microsoft.com/office/drawing/2014/main" id="{A5C575AF-C7D4-085E-94F7-3A72A52D6DAC}"/>
              </a:ext>
            </a:extLst>
          </p:cNvPr>
          <p:cNvPicPr>
            <a:picLocks noGrp="1" noChangeAspect="1"/>
          </p:cNvPicPr>
          <p:nvPr>
            <p:ph idx="1"/>
          </p:nvPr>
        </p:nvPicPr>
        <p:blipFill>
          <a:blip r:embed="rId3"/>
          <a:stretch>
            <a:fillRect/>
          </a:stretch>
        </p:blipFill>
        <p:spPr>
          <a:xfrm>
            <a:off x="5486400" y="1463040"/>
            <a:ext cx="6019495" cy="3017520"/>
          </a:xfrm>
          <a:prstGeom prst="rect">
            <a:avLst/>
          </a:prstGeom>
          <a:ln w="12700">
            <a:solidFill>
              <a:schemeClr val="tx1"/>
            </a:solidFill>
          </a:ln>
        </p:spPr>
      </p:pic>
      <p:pic>
        <p:nvPicPr>
          <p:cNvPr id="5" name="Picture 4">
            <a:extLst>
              <a:ext uri="{FF2B5EF4-FFF2-40B4-BE49-F238E27FC236}">
                <a16:creationId xmlns:a16="http://schemas.microsoft.com/office/drawing/2014/main" id="{C27A36B8-FF2A-0D74-971A-0E4E85BADCA9}"/>
              </a:ext>
            </a:extLst>
          </p:cNvPr>
          <p:cNvPicPr>
            <a:picLocks noChangeAspect="1"/>
          </p:cNvPicPr>
          <p:nvPr/>
        </p:nvPicPr>
        <p:blipFill>
          <a:blip r:embed="rId4"/>
          <a:stretch>
            <a:fillRect/>
          </a:stretch>
        </p:blipFill>
        <p:spPr>
          <a:xfrm>
            <a:off x="6675120" y="3566160"/>
            <a:ext cx="4830775" cy="2240280"/>
          </a:xfrm>
          <a:prstGeom prst="rect">
            <a:avLst/>
          </a:prstGeom>
          <a:ln w="12700" cap="sq">
            <a:solidFill>
              <a:srgbClr val="000000"/>
            </a:solidFill>
            <a:miter lim="800000"/>
          </a:ln>
          <a:effectLst>
            <a:outerShdw blurRad="57150" dist="50800" dir="2700000" algn="tl" rotWithShape="0">
              <a:srgbClr val="000000">
                <a:alpha val="40000"/>
              </a:srgbClr>
            </a:outerShdw>
          </a:effectLst>
        </p:spPr>
      </p:pic>
      <p:sp>
        <p:nvSpPr>
          <p:cNvPr id="6" name="Rounded Rectangle 5"/>
          <p:cNvSpPr/>
          <p:nvPr/>
        </p:nvSpPr>
        <p:spPr>
          <a:xfrm>
            <a:off x="685800" y="1463040"/>
            <a:ext cx="4480560" cy="4480560"/>
          </a:xfrm>
          <a:prstGeom prst="roundRect">
            <a:avLst>
              <a:gd name="adj" fmla="val 7000"/>
            </a:avLst>
          </a:prstGeom>
          <a:solidFill>
            <a:srgbClr val="F3F0FA"/>
          </a:solidFill>
          <a:ln>
            <a:noFill/>
          </a:ln>
        </p:spPr>
        <p:txBody>
          <a:bodyPr rtlCol="0" anchor="ctr"/>
          <a:lstStyle/>
          <a:p>
            <a:pPr algn="ctr"/>
            <a:endParaRPr/>
          </a:p>
        </p:txBody>
      </p:sp>
      <p:sp>
        <p:nvSpPr>
          <p:cNvPr id="7" name="TextBox 6"/>
          <p:cNvSpPr txBox="1"/>
          <p:nvPr/>
        </p:nvSpPr>
        <p:spPr>
          <a:xfrm>
            <a:off x="1005840" y="1463040"/>
            <a:ext cx="3840480" cy="4480560"/>
          </a:xfrm>
          <a:prstGeom prst="rect">
            <a:avLst/>
          </a:prstGeom>
          <a:noFill/>
        </p:spPr>
        <p:txBody>
          <a:bodyPr wrap="square" lIns="0" tIns="0" rIns="0" bIns="0" anchor="ctr">
            <a:noAutofit/>
          </a:bodyPr>
          <a:lstStyle/>
          <a:p>
            <a:pPr marL="0" indent="0" algn="l">
              <a:lnSpc>
                <a:spcPct val="110000"/>
              </a:lnSpc>
              <a:spcBef>
                <a:spcPts val="0"/>
              </a:spcBef>
              <a:buNone/>
            </a:pPr>
            <a:r>
              <a:rPr lang="en-AU" sz="1800" b="0">
                <a:solidFill>
                  <a:srgbClr val="3D2A6B"/>
                </a:solidFill>
                <a:latin typeface="Arial"/>
                <a:ea typeface="Arial"/>
                <a:cs typeface="Arial"/>
              </a:rPr>
              <a:t>Use the toolkit to make the meeting purpose, consultation process, possible adjustments, evidence and next steps clear. Follow the processes used in your school or system, and explain responsibilities and follow-up.</a:t>
            </a:r>
          </a:p>
        </p:txBody>
      </p:sp>
    </p:spTree>
    <p:extLst>
      <p:ext uri="{BB962C8B-B14F-4D97-AF65-F5344CB8AC3E}">
        <p14:creationId xmlns:p14="http://schemas.microsoft.com/office/powerpoint/2010/main" val="36740336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2AB5F87-071D-404A-980A-F2281B7B03AC}"/>
              </a:ext>
            </a:extLst>
          </p:cNvPr>
          <p:cNvPicPr>
            <a:picLocks noChangeAspect="1"/>
          </p:cNvPicPr>
          <p:nvPr/>
        </p:nvPicPr>
        <p:blipFill>
          <a:blip r:embed="rId4"/>
          <a:stretch>
            <a:fillRect/>
          </a:stretch>
        </p:blipFill>
        <p:spPr>
          <a:xfrm>
            <a:off x="3236087" y="1021709"/>
            <a:ext cx="7316089" cy="3384721"/>
          </a:xfrm>
          <a:prstGeom prst="rect">
            <a:avLst/>
          </a:prstGeom>
        </p:spPr>
      </p:pic>
      <p:sp>
        <p:nvSpPr>
          <p:cNvPr id="9" name="TextBox 1"/>
          <p:cNvSpPr txBox="1">
            <a:spLocks noChangeArrowheads="1"/>
          </p:cNvSpPr>
          <p:nvPr/>
        </p:nvSpPr>
        <p:spPr bwMode="auto">
          <a:xfrm>
            <a:off x="685800" y="457200"/>
            <a:ext cx="3108960" cy="1828800"/>
          </a:xfrm>
          <a:prstGeom prst="rect">
            <a:avLst/>
          </a:prstGeom>
        </p:spPr>
        <p:txBody>
          <a:bodyPr wrap="square" lIns="0" tIns="0" rIns="0" bIns="0" anchor="t">
            <a:noAutofit/>
          </a:bodyPr>
          <a:lstStyle>
            <a:defPPr>
              <a:defRPr lang="en-US"/>
            </a:defPPr>
            <a:lvl1pPr>
              <a:defRPr sz="4400" b="1">
                <a:solidFill>
                  <a:srgbClr val="BBD64A"/>
                </a:solidFill>
                <a:latin typeface="Arial Black" panose="020B0A04020102020204" pitchFamily="34" charset="0"/>
              </a:defRPr>
            </a:lvl1pPr>
          </a:lstStyle>
          <a:p>
            <a:pPr marL="0" indent="0" algn="l">
              <a:lnSpc>
                <a:spcPct val="95000"/>
              </a:lnSpc>
              <a:spcBef>
                <a:spcPts val="0"/>
              </a:spcBef>
              <a:buNone/>
            </a:pPr>
            <a:r>
              <a:rPr lang="en-AU" sz="3200" b="0">
                <a:solidFill>
                  <a:srgbClr val="584099"/>
                </a:solidFill>
                <a:latin typeface="Arial Black"/>
                <a:ea typeface="Arial Black"/>
                <a:cs typeface="Arial Black"/>
              </a:rPr>
              <a:t>Other practical supports</a:t>
            </a:r>
          </a:p>
        </p:txBody>
      </p:sp>
      <p:pic>
        <p:nvPicPr>
          <p:cNvPr id="3" name="Picture 2">
            <a:extLst>
              <a:ext uri="{FF2B5EF4-FFF2-40B4-BE49-F238E27FC236}">
                <a16:creationId xmlns:a16="http://schemas.microsoft.com/office/drawing/2014/main" id="{3DB99A03-8A97-4FE0-A7C3-EE23BB83DC5F}"/>
              </a:ext>
            </a:extLst>
          </p:cNvPr>
          <p:cNvPicPr>
            <a:picLocks noChangeAspect="1"/>
          </p:cNvPicPr>
          <p:nvPr/>
        </p:nvPicPr>
        <p:blipFill>
          <a:blip r:embed="rId5"/>
          <a:stretch>
            <a:fillRect/>
          </a:stretch>
        </p:blipFill>
        <p:spPr>
          <a:xfrm>
            <a:off x="5378125" y="5026533"/>
            <a:ext cx="2686050" cy="1123950"/>
          </a:xfrm>
          <a:prstGeom prst="rect">
            <a:avLst/>
          </a:prstGeom>
        </p:spPr>
      </p:pic>
      <p:pic>
        <p:nvPicPr>
          <p:cNvPr id="4" name="Picture 3">
            <a:extLst>
              <a:ext uri="{FF2B5EF4-FFF2-40B4-BE49-F238E27FC236}">
                <a16:creationId xmlns:a16="http://schemas.microsoft.com/office/drawing/2014/main" id="{FAC9DECC-D55E-40AE-B8AC-04D7790C5A76}"/>
              </a:ext>
            </a:extLst>
          </p:cNvPr>
          <p:cNvPicPr>
            <a:picLocks noChangeAspect="1"/>
          </p:cNvPicPr>
          <p:nvPr/>
        </p:nvPicPr>
        <p:blipFill>
          <a:blip r:embed="rId6"/>
          <a:stretch>
            <a:fillRect/>
          </a:stretch>
        </p:blipFill>
        <p:spPr>
          <a:xfrm>
            <a:off x="7989775" y="4989207"/>
            <a:ext cx="3726997" cy="1437208"/>
          </a:xfrm>
          <a:prstGeom prst="rect">
            <a:avLst/>
          </a:prstGeom>
        </p:spPr>
      </p:pic>
      <p:pic>
        <p:nvPicPr>
          <p:cNvPr id="7" name="Picture 6">
            <a:extLst>
              <a:ext uri="{FF2B5EF4-FFF2-40B4-BE49-F238E27FC236}">
                <a16:creationId xmlns:a16="http://schemas.microsoft.com/office/drawing/2014/main" id="{7C84697F-26B5-4810-B0E5-ED47D75ABCC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14587" y="4914304"/>
            <a:ext cx="3378775" cy="911310"/>
          </a:xfrm>
          <a:prstGeom prst="rect">
            <a:avLst/>
          </a:prstGeom>
        </p:spPr>
      </p:pic>
      <p:pic>
        <p:nvPicPr>
          <p:cNvPr id="11" name="Picture 10">
            <a:extLst>
              <a:ext uri="{FF2B5EF4-FFF2-40B4-BE49-F238E27FC236}">
                <a16:creationId xmlns:a16="http://schemas.microsoft.com/office/drawing/2014/main" id="{8203F3AC-DC1E-46D5-8169-88AF76468301}"/>
              </a:ext>
            </a:extLst>
          </p:cNvPr>
          <p:cNvPicPr>
            <a:picLocks noChangeAspect="1"/>
          </p:cNvPicPr>
          <p:nvPr/>
        </p:nvPicPr>
        <p:blipFill>
          <a:blip r:embed="rId8"/>
          <a:stretch>
            <a:fillRect/>
          </a:stretch>
        </p:blipFill>
        <p:spPr>
          <a:xfrm>
            <a:off x="1579975" y="5752462"/>
            <a:ext cx="3048000" cy="581025"/>
          </a:xfrm>
          <a:prstGeom prst="rect">
            <a:avLst/>
          </a:prstGeom>
        </p:spPr>
      </p:pic>
    </p:spTree>
    <p:custDataLst>
      <p:tags r:id="rId1"/>
    </p:custDataLst>
    <p:extLst>
      <p:ext uri="{BB962C8B-B14F-4D97-AF65-F5344CB8AC3E}">
        <p14:creationId xmlns:p14="http://schemas.microsoft.com/office/powerpoint/2010/main" val="3024513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p:cNvSpPr/>
          <p:nvPr/>
        </p:nvSpPr>
        <p:spPr>
          <a:xfrm>
            <a:off x="8549640" y="3840480"/>
            <a:ext cx="4873752" cy="4873752"/>
          </a:xfrm>
          <a:prstGeom prst="ellipse">
            <a:avLst/>
          </a:prstGeom>
          <a:solidFill>
            <a:srgbClr val="EDE8F8"/>
          </a:solidFill>
          <a:ln>
            <a:noFill/>
          </a:ln>
        </p:spPr>
        <p:txBody>
          <a:bodyPr rtlCol="0" anchor="ctr"/>
          <a:lstStyle/>
          <a:p>
            <a:pPr algn="ctr"/>
            <a:endParaRPr/>
          </a:p>
        </p:txBody>
      </p:sp>
      <p:sp>
        <p:nvSpPr>
          <p:cNvPr id="2" name="Title"/>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Bridge to the next family conversation</a:t>
            </a:r>
          </a:p>
        </p:txBody>
      </p:sp>
      <p:sp>
        <p:nvSpPr>
          <p:cNvPr id="4" name="Rounded Rectangle 3"/>
          <p:cNvSpPr/>
          <p:nvPr/>
        </p:nvSpPr>
        <p:spPr>
          <a:xfrm>
            <a:off x="685800" y="1554480"/>
            <a:ext cx="9509760" cy="3840480"/>
          </a:xfrm>
          <a:prstGeom prst="roundRect">
            <a:avLst>
              <a:gd name="adj" fmla="val 7000"/>
            </a:avLst>
          </a:prstGeom>
          <a:solidFill>
            <a:srgbClr val="F3F0FA"/>
          </a:solidFill>
          <a:ln>
            <a:noFill/>
          </a:ln>
        </p:spPr>
        <p:txBody>
          <a:bodyPr rtlCol="0" anchor="ctr"/>
          <a:lstStyle/>
          <a:p>
            <a:pPr algn="ctr"/>
            <a:endParaRPr/>
          </a:p>
        </p:txBody>
      </p:sp>
      <p:pic>
        <p:nvPicPr>
          <p:cNvPr id="5" name="Discussion icon" descr="Speech bubbles"/>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3000" y="1965960"/>
            <a:ext cx="658368" cy="658368"/>
          </a:xfrm>
          <a:prstGeom prst="rect">
            <a:avLst/>
          </a:prstGeom>
        </p:spPr>
      </p:pic>
      <p:sp>
        <p:nvSpPr>
          <p:cNvPr id="6" name="TextBox 5"/>
          <p:cNvSpPr txBox="1"/>
          <p:nvPr/>
        </p:nvSpPr>
        <p:spPr>
          <a:xfrm>
            <a:off x="2194560" y="1828800"/>
            <a:ext cx="7680960" cy="3383280"/>
          </a:xfrm>
          <a:prstGeom prst="rect">
            <a:avLst/>
          </a:prstGeom>
          <a:noFill/>
        </p:spPr>
        <p:txBody>
          <a:bodyPr wrap="square" lIns="0" tIns="0" rIns="0" bIns="0" anchor="ctr">
            <a:noAutofit/>
          </a:bodyPr>
          <a:lstStyle/>
          <a:p>
            <a:pPr marL="0" indent="0" algn="l">
              <a:lnSpc>
                <a:spcPct val="100000"/>
              </a:lnSpc>
              <a:spcBef>
                <a:spcPts val="0"/>
              </a:spcBef>
              <a:buNone/>
            </a:pPr>
            <a:r>
              <a:rPr lang="en-AU" sz="2400" b="1">
                <a:solidFill>
                  <a:srgbClr val="3D2A6B"/>
                </a:solidFill>
                <a:latin typeface="Arial"/>
                <a:ea typeface="Arial"/>
                <a:cs typeface="Arial"/>
              </a:rPr>
              <a:t>Prepare for one purposeful conversation.</a:t>
            </a:r>
          </a:p>
          <a:p>
            <a:pPr marL="347472" indent="-347472" algn="l">
              <a:lnSpc>
                <a:spcPct val="100000"/>
              </a:lnSpc>
              <a:spcBef>
                <a:spcPts val="1400"/>
              </a:spcBef>
              <a:buClr>
                <a:srgbClr val="584099"/>
              </a:buClr>
              <a:buFont typeface="Arial"/>
              <a:buChar char="•"/>
            </a:pPr>
            <a:r>
              <a:rPr lang="en-AU" sz="2000" b="0">
                <a:solidFill>
                  <a:srgbClr val="3D2A6B"/>
                </a:solidFill>
                <a:latin typeface="Arial"/>
                <a:ea typeface="Arial"/>
                <a:cs typeface="Arial"/>
              </a:rPr>
              <a:t>What needs to be understood?</a:t>
            </a:r>
          </a:p>
          <a:p>
            <a:pPr marL="347472" indent="-347472" algn="l">
              <a:lnSpc>
                <a:spcPct val="100000"/>
              </a:lnSpc>
              <a:spcBef>
                <a:spcPts val="1000"/>
              </a:spcBef>
              <a:buClr>
                <a:srgbClr val="584099"/>
              </a:buClr>
              <a:buFont typeface="Arial"/>
              <a:buChar char="•"/>
            </a:pPr>
            <a:r>
              <a:rPr lang="en-AU" sz="2000" b="0">
                <a:solidFill>
                  <a:srgbClr val="3D2A6B"/>
                </a:solidFill>
                <a:latin typeface="Arial"/>
                <a:ea typeface="Arial"/>
                <a:cs typeface="Arial"/>
              </a:rPr>
              <a:t>What question will open the conversation?</a:t>
            </a:r>
          </a:p>
          <a:p>
            <a:pPr marL="347472" indent="-347472" algn="l">
              <a:lnSpc>
                <a:spcPct val="100000"/>
              </a:lnSpc>
              <a:spcBef>
                <a:spcPts val="1000"/>
              </a:spcBef>
              <a:buClr>
                <a:srgbClr val="584099"/>
              </a:buClr>
              <a:buFont typeface="Arial"/>
              <a:buChar char="•"/>
            </a:pPr>
            <a:r>
              <a:rPr lang="en-AU" sz="2000" b="0">
                <a:solidFill>
                  <a:srgbClr val="3D2A6B"/>
                </a:solidFill>
                <a:latin typeface="Arial"/>
                <a:ea typeface="Arial"/>
                <a:cs typeface="Arial"/>
              </a:rPr>
              <a:t>How will the student's voice be included?</a:t>
            </a:r>
          </a:p>
          <a:p>
            <a:pPr marL="347472" indent="-347472" algn="l">
              <a:lnSpc>
                <a:spcPct val="100000"/>
              </a:lnSpc>
              <a:spcBef>
                <a:spcPts val="1000"/>
              </a:spcBef>
              <a:buClr>
                <a:srgbClr val="584099"/>
              </a:buClr>
              <a:buFont typeface="Arial"/>
              <a:buChar char="•"/>
            </a:pPr>
            <a:r>
              <a:rPr lang="en-AU" sz="2000" b="0">
                <a:solidFill>
                  <a:srgbClr val="3D2A6B"/>
                </a:solidFill>
                <a:latin typeface="Arial"/>
                <a:ea typeface="Arial"/>
                <a:cs typeface="Arial"/>
              </a:rPr>
              <a:t>What can be decided together?</a:t>
            </a:r>
          </a:p>
          <a:p>
            <a:pPr marL="347472" indent="-347472" algn="l">
              <a:lnSpc>
                <a:spcPct val="100000"/>
              </a:lnSpc>
              <a:spcBef>
                <a:spcPts val="1000"/>
              </a:spcBef>
              <a:buClr>
                <a:srgbClr val="584099"/>
              </a:buClr>
              <a:buFont typeface="Arial"/>
              <a:buChar char="•"/>
            </a:pPr>
            <a:r>
              <a:rPr lang="en-AU" sz="2000" b="0">
                <a:solidFill>
                  <a:srgbClr val="3D2A6B"/>
                </a:solidFill>
                <a:latin typeface="Arial"/>
                <a:ea typeface="Arial"/>
                <a:cs typeface="Arial"/>
              </a:rPr>
              <a:t>How and when will the school follow up?</a:t>
            </a:r>
          </a:p>
        </p:txBody>
      </p:sp>
      <p:sp>
        <p:nvSpPr>
          <p:cNvPr id="7" name="Rounded Rectangle 6"/>
          <p:cNvSpPr/>
          <p:nvPr/>
        </p:nvSpPr>
        <p:spPr>
          <a:xfrm>
            <a:off x="685800" y="5623560"/>
            <a:ext cx="9509760" cy="566928"/>
          </a:xfrm>
          <a:prstGeom prst="roundRect">
            <a:avLst>
              <a:gd name="adj" fmla="val 50000"/>
            </a:avLst>
          </a:prstGeom>
          <a:solidFill>
            <a:srgbClr val="FFFFFF"/>
          </a:solidFill>
          <a:ln w="19050">
            <a:solidFill>
              <a:srgbClr val="584099"/>
            </a:solidFill>
          </a:ln>
        </p:spPr>
        <p:txBody>
          <a:bodyPr rtlCol="0" anchor="ctr"/>
          <a:lstStyle/>
          <a:p>
            <a:pPr algn="ctr"/>
            <a:endParaRPr/>
          </a:p>
        </p:txBody>
      </p:sp>
      <p:sp>
        <p:nvSpPr>
          <p:cNvPr id="8" name="TextBox 7"/>
          <p:cNvSpPr txBox="1"/>
          <p:nvPr/>
        </p:nvSpPr>
        <p:spPr>
          <a:xfrm>
            <a:off x="960120" y="5623560"/>
            <a:ext cx="8961120" cy="566928"/>
          </a:xfrm>
          <a:prstGeom prst="rect">
            <a:avLst/>
          </a:prstGeom>
          <a:noFill/>
        </p:spPr>
        <p:txBody>
          <a:bodyPr wrap="square" lIns="0" tIns="0" rIns="0" bIns="0" anchor="ctr">
            <a:noAutofit/>
          </a:bodyPr>
          <a:lstStyle/>
          <a:p>
            <a:pPr marL="0" indent="0" algn="ctr">
              <a:lnSpc>
                <a:spcPct val="100000"/>
              </a:lnSpc>
              <a:spcBef>
                <a:spcPts val="0"/>
              </a:spcBef>
              <a:buNone/>
            </a:pPr>
            <a:r>
              <a:rPr lang="en-AU" sz="1700" b="1">
                <a:solidFill>
                  <a:srgbClr val="584099"/>
                </a:solidFill>
                <a:latin typeface="Arial"/>
                <a:ea typeface="Arial"/>
                <a:cs typeface="Arial"/>
              </a:rPr>
              <a:t>Keep these notes for your conversation plan in Session 6.</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75DF672D9920B44888613C845FEE28C" ma:contentTypeVersion="13" ma:contentTypeDescription="Create a new document." ma:contentTypeScope="" ma:versionID="f74e0793e4bbea6511fcde495954d792">
  <xsd:schema xmlns:xsd="http://www.w3.org/2001/XMLSchema" xmlns:xs="http://www.w3.org/2001/XMLSchema" xmlns:p="http://schemas.microsoft.com/office/2006/metadata/properties" xmlns:ns2="f0bb3e21-4545-485a-b693-7e527aa5b0a1" xmlns:ns3="27f1137f-2ca6-4fef-8072-b9e4ddf9f88d" targetNamespace="http://schemas.microsoft.com/office/2006/metadata/properties" ma:root="true" ma:fieldsID="83fb0c578da1c893ab66577103c670f4" ns2:_="" ns3:_="">
    <xsd:import namespace="f0bb3e21-4545-485a-b693-7e527aa5b0a1"/>
    <xsd:import namespace="27f1137f-2ca6-4fef-8072-b9e4ddf9f88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lcf76f155ced4ddcb4097134ff3c332f" minOccurs="0"/>
                <xsd:element ref="ns3:TaxCatchAll" minOccurs="0"/>
                <xsd:element ref="ns2:MediaServiceOCR" minOccurs="0"/>
                <xsd:element ref="ns2:MediaLengthInSeconds" minOccurs="0"/>
                <xsd:element ref="ns2:MediaServiceBillingMetadata"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bb3e21-4545-485a-b693-7e527aa5b0a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0234d0ea-ced3-483a-ade0-71e1f4ad4276"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MediaLengthInSeconds" ma:hidden="true" ma:internalName="MediaLengthInSeconds" ma:readOnly="true">
      <xsd:simpleType>
        <xsd:restriction base="dms:Unknown"/>
      </xsd:simpleType>
    </xsd:element>
    <xsd:element name="MediaServiceBillingMetadata" ma:index="19" nillable="true" ma:displayName="MediaServiceBillingMetadata" ma:hidden="true" ma:internalName="MediaServiceBillingMetadata" ma:readOnly="true">
      <xsd:simpleType>
        <xsd:restriction base="dms:Note"/>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7f1137f-2ca6-4fef-8072-b9e4ddf9f88d"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25baa329-1694-49a7-99b3-a1d2375b9e3c}" ma:internalName="TaxCatchAll" ma:showField="CatchAllData" ma:web="27f1137f-2ca6-4fef-8072-b9e4ddf9f88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0bb3e21-4545-485a-b693-7e527aa5b0a1">
      <Terms xmlns="http://schemas.microsoft.com/office/infopath/2007/PartnerControls"/>
    </lcf76f155ced4ddcb4097134ff3c332f>
    <TaxCatchAll xmlns="27f1137f-2ca6-4fef-8072-b9e4ddf9f88d" xsi:nil="true"/>
  </documentManagement>
</p:properties>
</file>

<file path=customXml/itemProps1.xml><?xml version="1.0" encoding="utf-8"?>
<ds:datastoreItem xmlns:ds="http://schemas.openxmlformats.org/officeDocument/2006/customXml" ds:itemID="{8F38CC49-5BCA-4AE9-8473-8E73B8C1E934}">
  <ds:schemaRefs>
    <ds:schemaRef ds:uri="27f1137f-2ca6-4fef-8072-b9e4ddf9f88d"/>
    <ds:schemaRef ds:uri="f0bb3e21-4545-485a-b693-7e527aa5b0a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B494170-94B9-4839-8B23-312C5CAD4F7F}">
  <ds:schemaRefs>
    <ds:schemaRef ds:uri="http://schemas.microsoft.com/sharepoint/v3/contenttype/forms"/>
  </ds:schemaRefs>
</ds:datastoreItem>
</file>

<file path=customXml/itemProps3.xml><?xml version="1.0" encoding="utf-8"?>
<ds:datastoreItem xmlns:ds="http://schemas.openxmlformats.org/officeDocument/2006/customXml" ds:itemID="{E21C6D3C-3208-4C9A-BB97-4BF1FDBC9CA8}">
  <ds:schemaRefs>
    <ds:schemaRef ds:uri="27f1137f-2ca6-4fef-8072-b9e4ddf9f88d"/>
    <ds:schemaRef ds:uri="f0bb3e21-4545-485a-b693-7e527aa5b0a1"/>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2</TotalTime>
  <Words>4948</Words>
  <Application>Microsoft Macintosh PowerPoint</Application>
  <PresentationFormat>Widescreen</PresentationFormat>
  <Paragraphs>526</Paragraphs>
  <Slides>17</Slides>
  <Notes>17</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Aptos</vt:lpstr>
      <vt:lpstr>Aptos Display</vt:lpstr>
      <vt:lpstr>Arial</vt:lpstr>
      <vt:lpstr>Arial Black</vt:lpstr>
      <vt:lpstr>Calibri</vt:lpstr>
      <vt:lpstr>Office Theme</vt:lpstr>
      <vt:lpstr>PowerPoint Presentation</vt:lpstr>
      <vt:lpstr>Working in partnerships</vt:lpstr>
      <vt:lpstr>PowerPoint Presentation</vt:lpstr>
      <vt:lpstr>What is effective collaboration?</vt:lpstr>
      <vt:lpstr>PowerPoint Presentation</vt:lpstr>
      <vt:lpstr>PowerPoint Presentation</vt:lpstr>
      <vt:lpstr>PowerPoint Presentation</vt:lpstr>
      <vt:lpstr>Partnership activity</vt:lpstr>
      <vt:lpstr>PowerPoint Presentation</vt:lpstr>
      <vt:lpstr>PowerPoint Presentation</vt:lpstr>
      <vt:lpstr>PowerPoint Presentation</vt:lpstr>
      <vt:lpstr>PowerPoint Presentation</vt:lpstr>
      <vt:lpstr>PowerPoint Presentation</vt:lpstr>
      <vt:lpstr>PowerPoint Presentation</vt:lpstr>
      <vt:lpstr>NCCD Meetings Tool Kit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Jen Cousins</dc:creator>
  <cp:lastModifiedBy>Craig Smith</cp:lastModifiedBy>
  <cp:revision>3</cp:revision>
  <dcterms:created xsi:type="dcterms:W3CDTF">2026-08-24T06:22:15Z</dcterms:created>
  <dcterms:modified xsi:type="dcterms:W3CDTF">2026-09-25T06:44:30Z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0x010100C75DF672D9920B44888613C845FEE28C</vt:lpwstr>
  </property>
  <property fmtid="{D5CDD505-2E9C-101B-9397-08002B2CF9AE}" pid="3" name="MediaServiceImageTags">
    <vt:lpwstr/>
  </property>
</Properties>
</file>