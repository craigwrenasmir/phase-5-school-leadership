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19604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SESSION 4 · LEARNING DESIGN · SCHOOL CHANGE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Our school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772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Trio initials: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064240" y="1078992"/>
            <a:ext cx="350672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48640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Our brief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2 · agree on one school system you all recognise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System: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2532888"/>
            <a:ext cx="51366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8680" y="27432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At the moment, this system asks students to…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3101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68680" y="3547872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For some students and staff, that means…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11480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68680" y="4352544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We could change…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" y="491947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18" name="Rounded Rectangle 17"/>
          <p:cNvSpPr/>
          <p:nvPr/>
        </p:nvSpPr>
        <p:spPr>
          <a:xfrm>
            <a:off x="868680" y="51860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515858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Specific, workable, and free from blame or deficit labels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96962" y="132588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71282" y="158191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1282" y="1581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7082" y="152704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Options we chose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3 · choose one or two that answer your brief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7002" y="239572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762" y="23591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Professional learning and coaching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7002" y="27797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762" y="27432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Predictability as policy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7002" y="316382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762" y="312724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Inclusion team and review cycles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7002" y="354787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762" y="3511296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Documentation that helps staff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7002" y="39319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2762" y="389534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Something else: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91522" y="4187952"/>
            <a:ext cx="435940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017002" y="4343400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Why it fits: which demand in our school does it answer?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17002" y="4983480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8017002" y="5312664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8017002" y="564184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548640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Universal first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4 · run these over your draft design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694166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6905092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students find and understand what they need?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7344004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7307428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take part in more than one way?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774634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7709764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Can they pause, ask for help or recover?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814867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34440" y="8112100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 support available when demand increases?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8551012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8514436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Is there more than one way to access, engage and respond?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8953348"/>
            <a:ext cx="623392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we adjusted: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68680" y="9593428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868680" y="9922612"/>
            <a:ext cx="623392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7696962" y="5871820"/>
            <a:ext cx="6874002" cy="42716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71282" y="6127852"/>
            <a:ext cx="502920" cy="502920"/>
          </a:xfrm>
          <a:prstGeom prst="ellipse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1282" y="61278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7082" y="6072988"/>
            <a:ext cx="568528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Our design</a:t>
            </a:r>
          </a:p>
          <a:p>
            <a:pPr algn="l"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5 · then ask the trio next to you to check it</a:t>
            </a:r>
          </a:p>
        </p:txBody>
      </p:sp>
      <p:sp>
        <p:nvSpPr>
          <p:cNvPr id="60" name="Oval 59"/>
          <p:cNvSpPr/>
          <p:nvPr/>
        </p:nvSpPr>
        <p:spPr>
          <a:xfrm>
            <a:off x="8017002" y="685022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17002" y="685022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28482" y="6822796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This term: a decision that costs little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28482" y="7289140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8017002" y="741715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7002" y="74171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8482" y="7389724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This year: what we will build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28482" y="7856068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8017002" y="798408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17002" y="798408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28482" y="7956652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strategic plan: what makes it last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428482" y="8422996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8017002" y="85510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17002" y="85510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28482" y="8523580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we will observe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428482" y="8989924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8017002" y="91179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17002" y="91179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28482" y="9090508"/>
            <a:ext cx="582244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When we will review it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28482" y="9556852"/>
            <a:ext cx="5822442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0" name="Rounded Rectangle 79"/>
          <p:cNvSpPr/>
          <p:nvPr/>
        </p:nvSpPr>
        <p:spPr>
          <a:xfrm>
            <a:off x="8017002" y="9731959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82762" y="9704527"/>
            <a:ext cx="586816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Checked by another trio: still student-centred and environment-first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10234879"/>
            <a:ext cx="140223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B5670"/>
                </a:solidFill>
                <a:latin typeface="Arial"/>
                <a:ea typeface="Arial"/>
                <a:cs typeface="Arial"/>
              </a:rPr>
              <a:t>Keep students first. Use initials or roles only: no student names or identifying details. This sheet goes on the wall in Stage 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402232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MY STUDENTS CARDS · CUT ALONG THE DASHED LINES · ONE PER PERSON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91640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69164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60" y="2167128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7066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1188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266090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1188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4960" y="315468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914400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09728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This term, I will start: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09560" y="182880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909560" y="21488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909560" y="2377440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will share it with: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3063240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909560" y="3259226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" y="3853586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31" name="TextBox 30"/>
          <p:cNvSpPr txBox="1"/>
          <p:nvPr/>
        </p:nvSpPr>
        <p:spPr>
          <a:xfrm>
            <a:off x="548640" y="4036466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49366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4859426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4859426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8063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1188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94960" y="5334914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7441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1188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394960" y="5828690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6818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1188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0" y="6322466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635240" y="4082186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426506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This term, I will start: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09560" y="499658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909560" y="53166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7909560" y="5545226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will share it with: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09560" y="6231026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7909560" y="6427013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" y="7021373"/>
            <a:ext cx="14662404" cy="0"/>
          </a:xfrm>
          <a:prstGeom prst="line">
            <a:avLst/>
          </a:prstGeom>
          <a:ln w="15875">
            <a:solidFill>
              <a:srgbClr val="B9A7D6"/>
            </a:solidFill>
            <a:prstDash val="dash"/>
          </a:ln>
        </p:spPr>
      </p:cxnSp>
      <p:sp>
        <p:nvSpPr>
          <p:cNvPr id="59" name="TextBox 58"/>
          <p:cNvSpPr txBox="1"/>
          <p:nvPr/>
        </p:nvSpPr>
        <p:spPr>
          <a:xfrm>
            <a:off x="548640" y="7204253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My students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7661453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Private: keep this card to yourself. Stage 6.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82880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Helps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1188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8620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No difference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94960" y="8027213"/>
            <a:ext cx="1691640" cy="411480"/>
          </a:xfrm>
          <a:prstGeom prst="roundRect">
            <a:avLst>
              <a:gd name="adj" fmla="val 30000"/>
            </a:avLst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8027213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Needs something more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8548421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61188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394960" y="8502701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9042197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61188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394960" y="8996477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9535973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Student 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61188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394960" y="9490253"/>
            <a:ext cx="169164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B9A7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635240" y="7249973"/>
            <a:ext cx="6935724" cy="2756306"/>
          </a:xfrm>
          <a:prstGeom prst="roundRect">
            <a:avLst>
              <a:gd name="adj" fmla="val 8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09560" y="743285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This term, I will start: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909560" y="816437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cxnSp>
        <p:nvCxnSpPr>
          <p:cNvPr id="82" name="Connector 81"/>
          <p:cNvCxnSpPr/>
          <p:nvPr/>
        </p:nvCxnSpPr>
        <p:spPr>
          <a:xfrm>
            <a:off x="7909560" y="84844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7909560" y="8713013"/>
            <a:ext cx="6387084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 will share it with: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909560" y="9398813"/>
            <a:ext cx="6387084" cy="0"/>
          </a:xfrm>
          <a:prstGeom prst="line">
            <a:avLst/>
          </a:prstGeom>
          <a:ln w="12700">
            <a:solidFill>
              <a:srgbClr val="B9A7D6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7909560" y="9594799"/>
            <a:ext cx="63870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000" b="0">
                <a:solidFill>
                  <a:srgbClr val="5B5670"/>
                </a:solidFill>
                <a:latin typeface="Arial"/>
                <a:ea typeface="Arial"/>
                <a:cs typeface="Arial"/>
              </a:rPr>
              <a:t>Stage 8 ·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